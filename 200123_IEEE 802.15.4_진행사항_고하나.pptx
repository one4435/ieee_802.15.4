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notesMasterIdLst>
    <p:notesMasterId r:id="rId22"/>
  </p:notesMasterIdLst>
  <p:handoutMasterIdLst>
    <p:handoutMasterId r:id="rId23"/>
  </p:handoutMasterIdLst>
  <p:sldIdLst>
    <p:sldId id="480" r:id="rId2"/>
    <p:sldId id="669" r:id="rId3"/>
    <p:sldId id="662" r:id="rId4"/>
    <p:sldId id="705" r:id="rId5"/>
    <p:sldId id="706" r:id="rId6"/>
    <p:sldId id="707" r:id="rId7"/>
    <p:sldId id="708" r:id="rId8"/>
    <p:sldId id="670" r:id="rId9"/>
    <p:sldId id="681" r:id="rId10"/>
    <p:sldId id="709" r:id="rId11"/>
    <p:sldId id="680" r:id="rId12"/>
    <p:sldId id="682" r:id="rId13"/>
    <p:sldId id="704" r:id="rId14"/>
    <p:sldId id="710" r:id="rId15"/>
    <p:sldId id="679" r:id="rId16"/>
    <p:sldId id="688" r:id="rId17"/>
    <p:sldId id="689" r:id="rId18"/>
    <p:sldId id="690" r:id="rId19"/>
    <p:sldId id="711" r:id="rId20"/>
    <p:sldId id="526" r:id="rId21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185C952-61BE-44DD-B1AD-5B2841022E2C}">
          <p14:sldIdLst>
            <p14:sldId id="480"/>
            <p14:sldId id="669"/>
            <p14:sldId id="662"/>
            <p14:sldId id="705"/>
            <p14:sldId id="706"/>
            <p14:sldId id="707"/>
            <p14:sldId id="708"/>
            <p14:sldId id="670"/>
            <p14:sldId id="681"/>
            <p14:sldId id="709"/>
            <p14:sldId id="680"/>
            <p14:sldId id="682"/>
            <p14:sldId id="704"/>
            <p14:sldId id="710"/>
            <p14:sldId id="679"/>
            <p14:sldId id="688"/>
            <p14:sldId id="689"/>
            <p14:sldId id="690"/>
            <p14:sldId id="711"/>
            <p14:sldId id="526"/>
          </p14:sldIdLst>
        </p14:section>
      </p14:sectionLst>
    </p:ext>
    <p:ext uri="{EFAFB233-063F-42B5-8137-9DF3F51BA10A}">
      <p15:sldGuideLst xmlns:p15="http://schemas.microsoft.com/office/powerpoint/2012/main">
        <p15:guide id="4" pos="3120" userDrawn="1">
          <p15:clr>
            <a:srgbClr val="A4A3A4"/>
          </p15:clr>
        </p15:guide>
        <p15:guide id="5" orient="horz" pos="164" userDrawn="1">
          <p15:clr>
            <a:srgbClr val="A4A3A4"/>
          </p15:clr>
        </p15:guide>
        <p15:guide id="6" pos="776" userDrawn="1">
          <p15:clr>
            <a:srgbClr val="A4A3A4"/>
          </p15:clr>
        </p15:guide>
        <p15:guide id="7" pos="5460" userDrawn="1">
          <p15:clr>
            <a:srgbClr val="A4A3A4"/>
          </p15:clr>
        </p15:guide>
        <p15:guide id="8" orient="horz" pos="2160" userDrawn="1">
          <p15:clr>
            <a:srgbClr val="A4A3A4"/>
          </p15:clr>
        </p15:guide>
        <p15:guide id="9" orient="horz" userDrawn="1">
          <p15:clr>
            <a:srgbClr val="A4A3A4"/>
          </p15:clr>
        </p15:guide>
        <p15:guide id="10" pos="171" userDrawn="1">
          <p15:clr>
            <a:srgbClr val="A4A3A4"/>
          </p15:clr>
        </p15:guide>
        <p15:guide id="11" userDrawn="1">
          <p15:clr>
            <a:srgbClr val="A4A3A4"/>
          </p15:clr>
        </p15:guide>
        <p15:guide id="12" pos="6239" userDrawn="1">
          <p15:clr>
            <a:srgbClr val="A4A3A4"/>
          </p15:clr>
        </p15:guide>
        <p15:guide id="13" pos="606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0000"/>
    <a:srgbClr val="0070C0"/>
    <a:srgbClr val="CBEAC0"/>
    <a:srgbClr val="FFFF00"/>
    <a:srgbClr val="91C6F7"/>
    <a:srgbClr val="00B0F0"/>
    <a:srgbClr val="FF3300"/>
    <a:srgbClr val="009999"/>
    <a:srgbClr val="FF9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37" autoAdjust="0"/>
    <p:restoredTop sz="95082" autoAdjust="0"/>
  </p:normalViewPr>
  <p:slideViewPr>
    <p:cSldViewPr>
      <p:cViewPr varScale="1">
        <p:scale>
          <a:sx n="114" d="100"/>
          <a:sy n="114" d="100"/>
        </p:scale>
        <p:origin x="1440" y="108"/>
      </p:cViewPr>
      <p:guideLst>
        <p:guide pos="3120"/>
        <p:guide orient="horz" pos="164"/>
        <p:guide pos="776"/>
        <p:guide pos="5460"/>
        <p:guide orient="horz" pos="2160"/>
        <p:guide orient="horz"/>
        <p:guide pos="171"/>
        <p:guide/>
        <p:guide pos="6239"/>
        <p:guide pos="6069"/>
      </p:guideLst>
    </p:cSldViewPr>
  </p:slideViewPr>
  <p:outlineViewPr>
    <p:cViewPr>
      <p:scale>
        <a:sx n="33" d="100"/>
        <a:sy n="33" d="100"/>
      </p:scale>
      <p:origin x="54" y="332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howGuides="1">
      <p:cViewPr varScale="1">
        <p:scale>
          <a:sx n="88" d="100"/>
          <a:sy n="88" d="100"/>
        </p:scale>
        <p:origin x="-3786" y="-12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6E13BF-BFFB-42BB-BB59-2242504D84BC}" type="datetimeFigureOut">
              <a:rPr lang="ko-KR" altLang="en-US" smtClean="0"/>
              <a:pPr/>
              <a:t>2020-01-23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D9ECC-A8B4-4BFB-9F52-FEFED605C5D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5308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1254B-8964-4F57-BA27-567E03392278}" type="datetimeFigureOut">
              <a:rPr lang="ko-KR" altLang="en-US" smtClean="0"/>
              <a:pPr/>
              <a:t>2020-01-23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8D633-98C0-43FF-9CFA-EF9A4754A8E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52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8D633-98C0-43FF-9CFA-EF9A4754A8E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324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" r="-340"/>
          <a:stretch/>
        </p:blipFill>
        <p:spPr>
          <a:xfrm>
            <a:off x="4664968" y="3284984"/>
            <a:ext cx="5241032" cy="3024336"/>
          </a:xfrm>
          <a:prstGeom prst="rect">
            <a:avLst/>
          </a:prstGeom>
        </p:spPr>
      </p:pic>
      <p:sp>
        <p:nvSpPr>
          <p:cNvPr id="12" name="텍스트 개체 틀 9"/>
          <p:cNvSpPr>
            <a:spLocks noGrp="1"/>
          </p:cNvSpPr>
          <p:nvPr>
            <p:ph type="body" sz="quarter" idx="16" hasCustomPrompt="1"/>
          </p:nvPr>
        </p:nvSpPr>
        <p:spPr>
          <a:xfrm>
            <a:off x="272481" y="1737611"/>
            <a:ext cx="6396711" cy="67710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altLang="en-US" sz="4400" b="1" dirty="0" smtClean="0">
                <a:ln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8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72481" y="2911891"/>
            <a:ext cx="6396711" cy="1813253"/>
          </a:xfrm>
        </p:spPr>
        <p:txBody>
          <a:bodyPr>
            <a:noAutofit/>
          </a:bodyPr>
          <a:lstStyle>
            <a:lvl1pPr marL="0" indent="0" algn="l">
              <a:buNone/>
              <a:defRPr sz="2000" b="1" baseline="0">
                <a:ln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95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4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6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/>
              <a:t>SUBTITLE</a:t>
            </a:r>
          </a:p>
        </p:txBody>
      </p:sp>
      <p:pic>
        <p:nvPicPr>
          <p:cNvPr id="10" name="Picture 2" descr="C:\Users\Eui-Jik\Pictures\한림대 영문로고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09383" y="102762"/>
            <a:ext cx="1390465" cy="490075"/>
          </a:xfrm>
          <a:prstGeom prst="rect">
            <a:avLst/>
          </a:prstGeom>
          <a:noFill/>
        </p:spPr>
      </p:pic>
      <p:pic>
        <p:nvPicPr>
          <p:cNvPr id="11" name="Picture 3" descr="C:\Users\Eui-Jik\Google 드라이브\개인\CIC LAB\lab_logo.jpg"/>
          <p:cNvPicPr>
            <a:picLocks noChangeAspect="1" noChangeArrowheads="1"/>
          </p:cNvPicPr>
          <p:nvPr userDrawn="1"/>
        </p:nvPicPr>
        <p:blipFill rotWithShape="1">
          <a:blip r:embed="rId4" cstate="print"/>
          <a:srcRect r="50872"/>
          <a:stretch/>
        </p:blipFill>
        <p:spPr bwMode="auto">
          <a:xfrm>
            <a:off x="3941887" y="6044538"/>
            <a:ext cx="2379265" cy="804766"/>
          </a:xfrm>
          <a:prstGeom prst="rect">
            <a:avLst/>
          </a:prstGeom>
          <a:noFill/>
        </p:spPr>
      </p:pic>
      <p:grpSp>
        <p:nvGrpSpPr>
          <p:cNvPr id="25" name="그룹 24"/>
          <p:cNvGrpSpPr/>
          <p:nvPr userDrawn="1"/>
        </p:nvGrpSpPr>
        <p:grpSpPr>
          <a:xfrm flipV="1">
            <a:off x="0" y="2636912"/>
            <a:ext cx="9906000" cy="72008"/>
            <a:chOff x="0" y="6453336"/>
            <a:chExt cx="9906000" cy="46156"/>
          </a:xfrm>
        </p:grpSpPr>
        <p:sp>
          <p:nvSpPr>
            <p:cNvPr id="26" name="직사각형 25"/>
            <p:cNvSpPr/>
            <p:nvPr userDrawn="1"/>
          </p:nvSpPr>
          <p:spPr>
            <a:xfrm>
              <a:off x="1239688" y="6453336"/>
              <a:ext cx="866631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/>
            <p:cNvSpPr/>
            <p:nvPr userDrawn="1"/>
          </p:nvSpPr>
          <p:spPr>
            <a:xfrm>
              <a:off x="0" y="6453773"/>
              <a:ext cx="1818446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434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774">
          <p15:clr>
            <a:srgbClr val="FBAE40"/>
          </p15:clr>
        </p15:guide>
        <p15:guide id="4" pos="54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내용 개체 틀 2"/>
          <p:cNvSpPr>
            <a:spLocks noGrp="1"/>
          </p:cNvSpPr>
          <p:nvPr>
            <p:ph idx="1"/>
          </p:nvPr>
        </p:nvSpPr>
        <p:spPr>
          <a:xfrm>
            <a:off x="144000" y="908720"/>
            <a:ext cx="9601200" cy="5328592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defRPr sz="2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" r="-340"/>
          <a:stretch/>
        </p:blipFill>
        <p:spPr>
          <a:xfrm>
            <a:off x="4664968" y="3284984"/>
            <a:ext cx="5241032" cy="3024336"/>
          </a:xfrm>
          <a:prstGeom prst="rect">
            <a:avLst/>
          </a:prstGeom>
        </p:spPr>
      </p:pic>
      <p:sp>
        <p:nvSpPr>
          <p:cNvPr id="20" name="텍스트 개체 틀 6"/>
          <p:cNvSpPr>
            <a:spLocks noGrp="1"/>
          </p:cNvSpPr>
          <p:nvPr>
            <p:ph type="body" sz="quarter" idx="13" hasCustomPrompt="1"/>
          </p:nvPr>
        </p:nvSpPr>
        <p:spPr>
          <a:xfrm>
            <a:off x="143170" y="144000"/>
            <a:ext cx="6538022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4000" b="1" baseline="0">
                <a:ln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22" name="슬라이드 번호 개체 틀 21"/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>
            <a:lvl1pPr algn="ctr">
              <a:defRPr baseline="0">
                <a:latin typeface="Arial" pitchFamily="34" charset="0"/>
                <a:ea typeface="맑은 고딕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7" name="그룹 26"/>
          <p:cNvGrpSpPr/>
          <p:nvPr userDrawn="1"/>
        </p:nvGrpSpPr>
        <p:grpSpPr>
          <a:xfrm flipV="1">
            <a:off x="0" y="692696"/>
            <a:ext cx="9906000" cy="72008"/>
            <a:chOff x="0" y="6453336"/>
            <a:chExt cx="9906000" cy="46156"/>
          </a:xfrm>
        </p:grpSpPr>
        <p:sp>
          <p:nvSpPr>
            <p:cNvPr id="28" name="직사각형 27"/>
            <p:cNvSpPr/>
            <p:nvPr userDrawn="1"/>
          </p:nvSpPr>
          <p:spPr>
            <a:xfrm>
              <a:off x="1239688" y="6453336"/>
              <a:ext cx="866631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0" y="6453773"/>
              <a:ext cx="1818446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09567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774">
          <p15:clr>
            <a:srgbClr val="FBAE40"/>
          </p15:clr>
        </p15:guide>
        <p15:guide id="4" pos="54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내용 개체 틀 2"/>
          <p:cNvSpPr>
            <a:spLocks noGrp="1"/>
          </p:cNvSpPr>
          <p:nvPr>
            <p:ph idx="1"/>
          </p:nvPr>
        </p:nvSpPr>
        <p:spPr>
          <a:xfrm>
            <a:off x="144000" y="908720"/>
            <a:ext cx="9601200" cy="5328592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defRPr sz="2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7" name="슬라이드 번호 개체 틀 21"/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>
            <a:lvl1pPr algn="ctr">
              <a:defRPr baseline="0">
                <a:latin typeface="Arial" pitchFamily="34" charset="0"/>
                <a:ea typeface="맑은 고딕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텍스트 개체 틀 6"/>
          <p:cNvSpPr>
            <a:spLocks noGrp="1"/>
          </p:cNvSpPr>
          <p:nvPr>
            <p:ph type="body" sz="quarter" idx="13" hasCustomPrompt="1"/>
          </p:nvPr>
        </p:nvSpPr>
        <p:spPr>
          <a:xfrm>
            <a:off x="143170" y="144000"/>
            <a:ext cx="6538022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4000" b="1" baseline="0">
                <a:ln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SLIDE MAIN TITLE</a:t>
            </a:r>
            <a:endParaRPr lang="ko-KR" altLang="en-US" dirty="0"/>
          </a:p>
        </p:txBody>
      </p:sp>
      <p:grpSp>
        <p:nvGrpSpPr>
          <p:cNvPr id="31" name="그룹 30"/>
          <p:cNvGrpSpPr/>
          <p:nvPr userDrawn="1"/>
        </p:nvGrpSpPr>
        <p:grpSpPr>
          <a:xfrm flipV="1">
            <a:off x="0" y="692696"/>
            <a:ext cx="9906000" cy="72008"/>
            <a:chOff x="0" y="6453336"/>
            <a:chExt cx="9906000" cy="46156"/>
          </a:xfrm>
        </p:grpSpPr>
        <p:sp>
          <p:nvSpPr>
            <p:cNvPr id="32" name="직사각형 31"/>
            <p:cNvSpPr/>
            <p:nvPr userDrawn="1"/>
          </p:nvSpPr>
          <p:spPr>
            <a:xfrm>
              <a:off x="1239688" y="6453336"/>
              <a:ext cx="866631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/>
            <p:cNvSpPr/>
            <p:nvPr userDrawn="1"/>
          </p:nvSpPr>
          <p:spPr>
            <a:xfrm>
              <a:off x="0" y="6453773"/>
              <a:ext cx="1818446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46904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774">
          <p15:clr>
            <a:srgbClr val="FBAE40"/>
          </p15:clr>
        </p15:guide>
        <p15:guide id="4" pos="54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참조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/>
              <a:t>Reference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144000" y="908720"/>
            <a:ext cx="9601200" cy="5328592"/>
          </a:xfrm>
        </p:spPr>
        <p:txBody>
          <a:bodyPr>
            <a:normAutofit/>
          </a:bodyPr>
          <a:lstStyle>
            <a:lvl1pPr marL="514350" indent="-51435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Tx/>
              <a:buNone/>
              <a:defRPr sz="20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819150" indent="-4572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Tx/>
              <a:buNone/>
              <a:tabLst>
                <a:tab pos="542925" algn="l"/>
              </a:tabLst>
              <a:defRPr sz="24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1000125" indent="-4572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Tx/>
              <a:buNone/>
              <a:defRPr sz="20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238250" indent="-3429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Tx/>
              <a:buNone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419225" indent="-3429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Tx/>
              <a:buNone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grpSp>
        <p:nvGrpSpPr>
          <p:cNvPr id="5" name="그룹 4"/>
          <p:cNvGrpSpPr/>
          <p:nvPr userDrawn="1"/>
        </p:nvGrpSpPr>
        <p:grpSpPr>
          <a:xfrm flipV="1">
            <a:off x="0" y="692696"/>
            <a:ext cx="9906000" cy="72008"/>
            <a:chOff x="0" y="6453336"/>
            <a:chExt cx="9906000" cy="46156"/>
          </a:xfrm>
        </p:grpSpPr>
        <p:sp>
          <p:nvSpPr>
            <p:cNvPr id="6" name="직사각형 5"/>
            <p:cNvSpPr/>
            <p:nvPr userDrawn="1"/>
          </p:nvSpPr>
          <p:spPr>
            <a:xfrm>
              <a:off x="1239688" y="6453336"/>
              <a:ext cx="866631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 userDrawn="1"/>
          </p:nvSpPr>
          <p:spPr>
            <a:xfrm>
              <a:off x="0" y="6453773"/>
              <a:ext cx="1818446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종료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" r="-340"/>
          <a:stretch/>
        </p:blipFill>
        <p:spPr>
          <a:xfrm>
            <a:off x="4664968" y="3284984"/>
            <a:ext cx="5241032" cy="3024336"/>
          </a:xfrm>
          <a:prstGeom prst="rect">
            <a:avLst/>
          </a:prstGeom>
        </p:spPr>
      </p:pic>
      <p:pic>
        <p:nvPicPr>
          <p:cNvPr id="7" name="Picture 2" descr="C:\Users\Eui-Jik\Pictures\한림대 영문로고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09383" y="102762"/>
            <a:ext cx="1390465" cy="490075"/>
          </a:xfrm>
          <a:prstGeom prst="rect">
            <a:avLst/>
          </a:prstGeom>
          <a:noFill/>
        </p:spPr>
      </p:pic>
      <p:pic>
        <p:nvPicPr>
          <p:cNvPr id="8" name="Picture 3" descr="C:\Users\Eui-Jik\Google 드라이브\개인\CIC LAB\lab_logo.jpg"/>
          <p:cNvPicPr>
            <a:picLocks noChangeAspect="1" noChangeArrowheads="1"/>
          </p:cNvPicPr>
          <p:nvPr userDrawn="1"/>
        </p:nvPicPr>
        <p:blipFill rotWithShape="1">
          <a:blip r:embed="rId4" cstate="print"/>
          <a:srcRect r="50872"/>
          <a:stretch/>
        </p:blipFill>
        <p:spPr bwMode="auto">
          <a:xfrm>
            <a:off x="3447371" y="5877272"/>
            <a:ext cx="2873782" cy="972032"/>
          </a:xfrm>
          <a:prstGeom prst="rect">
            <a:avLst/>
          </a:prstGeom>
          <a:noFill/>
        </p:spPr>
      </p:pic>
      <p:grpSp>
        <p:nvGrpSpPr>
          <p:cNvPr id="16" name="그룹 15"/>
          <p:cNvGrpSpPr/>
          <p:nvPr userDrawn="1"/>
        </p:nvGrpSpPr>
        <p:grpSpPr>
          <a:xfrm>
            <a:off x="3129424" y="2780928"/>
            <a:ext cx="3647152" cy="1008112"/>
            <a:chOff x="3129424" y="2708920"/>
            <a:chExt cx="3647152" cy="1008112"/>
          </a:xfrm>
        </p:grpSpPr>
        <p:sp>
          <p:nvSpPr>
            <p:cNvPr id="2" name="TextBox 1"/>
            <p:cNvSpPr txBox="1"/>
            <p:nvPr userDrawn="1"/>
          </p:nvSpPr>
          <p:spPr>
            <a:xfrm>
              <a:off x="3129424" y="2708920"/>
              <a:ext cx="364715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400" b="1" dirty="0">
                  <a:ln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Thank you</a:t>
              </a:r>
              <a:endParaRPr lang="ko-KR" altLang="en-US" sz="5400" b="1" dirty="0">
                <a:ln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9" name="그룹 8"/>
            <p:cNvGrpSpPr/>
            <p:nvPr userDrawn="1"/>
          </p:nvGrpSpPr>
          <p:grpSpPr>
            <a:xfrm flipV="1">
              <a:off x="3188804" y="3645024"/>
              <a:ext cx="3528392" cy="72008"/>
              <a:chOff x="0" y="6453336"/>
              <a:chExt cx="9906000" cy="46156"/>
            </a:xfrm>
          </p:grpSpPr>
          <p:sp>
            <p:nvSpPr>
              <p:cNvPr id="10" name="직사각형 9"/>
              <p:cNvSpPr/>
              <p:nvPr userDrawn="1"/>
            </p:nvSpPr>
            <p:spPr>
              <a:xfrm>
                <a:off x="1239688" y="6453336"/>
                <a:ext cx="8666312" cy="4571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/>
              <p:cNvSpPr/>
              <p:nvPr userDrawn="1"/>
            </p:nvSpPr>
            <p:spPr>
              <a:xfrm>
                <a:off x="0" y="6453773"/>
                <a:ext cx="1818446" cy="45719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53157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774">
          <p15:clr>
            <a:srgbClr val="FBAE40"/>
          </p15:clr>
        </p15:guide>
        <p15:guide id="4" pos="54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000" y="144000"/>
            <a:ext cx="6537600" cy="554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lv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000" y="907200"/>
            <a:ext cx="9601200" cy="532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38575" y="6520259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ln>
                  <a:solidFill>
                    <a:schemeClr val="bg1">
                      <a:lumMod val="65000"/>
                      <a:alpha val="5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68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3" r:id="rId4"/>
    <p:sldLayoutId id="2147483782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altLang="ko-KR" sz="4000" b="1" kern="1200" baseline="0" dirty="0">
          <a:ln>
            <a:solidFill>
              <a:schemeClr val="tx1">
                <a:lumMod val="75000"/>
                <a:lumOff val="25000"/>
                <a:alpha val="50000"/>
              </a:schemeClr>
            </a:solidFill>
          </a:ln>
          <a:solidFill>
            <a:schemeClr val="tx1">
              <a:lumMod val="75000"/>
              <a:lumOff val="25000"/>
            </a:schemeClr>
          </a:solidFill>
          <a:effectLst/>
          <a:latin typeface="Arial" pitchFamily="34" charset="0"/>
          <a:ea typeface="맑은 고딕" pitchFamily="50" charset="-127"/>
          <a:cs typeface="Arial" pitchFamily="34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ln>
            <a:solidFill>
              <a:schemeClr val="tx1">
                <a:alpha val="50000"/>
              </a:schemeClr>
            </a:solidFill>
          </a:ln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ln>
            <a:solidFill>
              <a:schemeClr val="tx1">
                <a:alpha val="50000"/>
              </a:schemeClr>
            </a:solidFill>
          </a:ln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ln>
            <a:solidFill>
              <a:schemeClr val="tx1">
                <a:alpha val="50000"/>
              </a:schemeClr>
            </a:solidFill>
          </a:ln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ln>
            <a:solidFill>
              <a:schemeClr val="tx1">
                <a:alpha val="50000"/>
              </a:schemeClr>
            </a:solidFill>
          </a:ln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ln>
            <a:solidFill>
              <a:schemeClr val="tx1">
                <a:alpha val="50000"/>
              </a:schemeClr>
            </a:solidFill>
          </a:ln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6"/>
          </p:nvPr>
        </p:nvSpPr>
        <p:spPr>
          <a:xfrm>
            <a:off x="272481" y="2066209"/>
            <a:ext cx="9361039" cy="56650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chemeClr val="tx1"/>
                </a:solidFill>
              </a:rPr>
              <a:t>IEEE 802.15.4 Study</a:t>
            </a:r>
          </a:p>
        </p:txBody>
      </p:sp>
      <p:sp>
        <p:nvSpPr>
          <p:cNvPr id="7" name="부제목 6"/>
          <p:cNvSpPr>
            <a:spLocks noGrp="1"/>
          </p:cNvSpPr>
          <p:nvPr>
            <p:ph type="subTitle" idx="1"/>
          </p:nvPr>
        </p:nvSpPr>
        <p:spPr>
          <a:xfrm>
            <a:off x="272481" y="2911891"/>
            <a:ext cx="6396711" cy="1741245"/>
          </a:xfrm>
        </p:spPr>
        <p:txBody>
          <a:bodyPr/>
          <a:lstStyle/>
          <a:p>
            <a:r>
              <a:rPr lang="en-US" altLang="ko-KR" sz="2000" dirty="0">
                <a:solidFill>
                  <a:schemeClr val="bg2">
                    <a:lumMod val="10000"/>
                  </a:schemeClr>
                </a:solidFill>
              </a:rPr>
              <a:t>2020</a:t>
            </a:r>
            <a:r>
              <a:rPr lang="ko-KR" altLang="en-US" sz="2000" dirty="0">
                <a:solidFill>
                  <a:schemeClr val="bg2">
                    <a:lumMod val="10000"/>
                  </a:schemeClr>
                </a:solidFill>
              </a:rPr>
              <a:t>년 </a:t>
            </a:r>
            <a:r>
              <a:rPr lang="en-US" altLang="ko-KR" sz="2000" dirty="0">
                <a:solidFill>
                  <a:schemeClr val="bg2">
                    <a:lumMod val="10000"/>
                  </a:schemeClr>
                </a:solidFill>
              </a:rPr>
              <a:t>01</a:t>
            </a:r>
            <a:r>
              <a:rPr lang="ko-KR" altLang="en-US" sz="2000" dirty="0">
                <a:solidFill>
                  <a:schemeClr val="bg2">
                    <a:lumMod val="10000"/>
                  </a:schemeClr>
                </a:solidFill>
              </a:rPr>
              <a:t>월 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23</a:t>
            </a:r>
            <a:r>
              <a:rPr lang="ko-KR" altLang="en-US" dirty="0">
                <a:solidFill>
                  <a:schemeClr val="bg2">
                    <a:lumMod val="10000"/>
                  </a:schemeClr>
                </a:solidFill>
              </a:rPr>
              <a:t>일</a:t>
            </a:r>
            <a:endParaRPr lang="en-US" altLang="ko-KR" sz="2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altLang="ko-KR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Go, Ha-Na</a:t>
            </a:r>
          </a:p>
          <a:p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20175301@hallym.ac.kr</a:t>
            </a:r>
          </a:p>
        </p:txBody>
      </p:sp>
    </p:spTree>
    <p:extLst>
      <p:ext uri="{BB962C8B-B14F-4D97-AF65-F5344CB8AC3E}">
        <p14:creationId xmlns:p14="http://schemas.microsoft.com/office/powerpoint/2010/main" val="2943523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idx="1"/>
          </p:nvPr>
        </p:nvSpPr>
        <p:spPr>
          <a:xfrm>
            <a:off x="152400" y="836712"/>
            <a:ext cx="9601200" cy="53285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IEEE 802.15.4 Study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진행 사항</a:t>
            </a:r>
            <a:endParaRPr lang="en-US" altLang="ko-KR" sz="2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Introduction</a:t>
            </a:r>
          </a:p>
          <a:p>
            <a:pPr lvl="2">
              <a:lnSpc>
                <a:spcPct val="150000"/>
              </a:lnSpc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IEEE 802.15.4</a:t>
            </a:r>
          </a:p>
          <a:p>
            <a:pPr lvl="2">
              <a:lnSpc>
                <a:spcPct val="150000"/>
              </a:lnSpc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Device Type</a:t>
            </a:r>
          </a:p>
          <a:p>
            <a:pPr lvl="2">
              <a:lnSpc>
                <a:spcPct val="150000"/>
              </a:lnSpc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Topology</a:t>
            </a:r>
          </a:p>
          <a:p>
            <a:pPr lvl="1"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IEEE 802.15.4 MAC</a:t>
            </a:r>
          </a:p>
          <a:p>
            <a:pPr>
              <a:lnSpc>
                <a:spcPct val="150000"/>
              </a:lnSpc>
            </a:pPr>
            <a:r>
              <a:rPr lang="en-US" altLang="ko-KR" sz="2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Future Work</a:t>
            </a:r>
          </a:p>
          <a:p>
            <a:pPr marL="0" indent="0">
              <a:lnSpc>
                <a:spcPct val="150000"/>
              </a:lnSpc>
              <a:buNone/>
            </a:pPr>
            <a:endParaRPr lang="ko-KR" alt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88FB660-CAAA-403E-A2EA-0F19776BEC08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861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4AB6FB1-07BD-4C91-BADC-BD1A3A6899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solidFill>
                    <a:prstClr val="white">
                      <a:lumMod val="65000"/>
                      <a:alpha val="50000"/>
                    </a:prstClr>
                  </a:solidFill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solidFill>
                  <a:prstClr val="white">
                    <a:lumMod val="65000"/>
                    <a:alpha val="50000"/>
                  </a:prstClr>
                </a:solidFill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맑은 고딕" pitchFamily="50" charset="-127"/>
              <a:cs typeface="+mn-cs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348006-BD7D-49B9-9E95-2D4DDBEBC3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" y="149697"/>
            <a:ext cx="6538022" cy="498598"/>
          </a:xfrm>
        </p:spPr>
        <p:txBody>
          <a:bodyPr/>
          <a:lstStyle/>
          <a:p>
            <a:r>
              <a:rPr lang="en-US" altLang="ko-KR" sz="3600" dirty="0"/>
              <a:t>Introduction</a:t>
            </a:r>
            <a:endParaRPr lang="ko-KR" altLang="en-US" sz="3600" dirty="0"/>
          </a:p>
        </p:txBody>
      </p:sp>
      <p:sp>
        <p:nvSpPr>
          <p:cNvPr id="21" name="내용 개체 틀 6">
            <a:extLst>
              <a:ext uri="{FF2B5EF4-FFF2-40B4-BE49-F238E27FC236}">
                <a16:creationId xmlns:a16="http://schemas.microsoft.com/office/drawing/2014/main" id="{B42B2885-7CF8-4B4B-B3B1-246F7CE320B9}"/>
              </a:ext>
            </a:extLst>
          </p:cNvPr>
          <p:cNvSpPr txBox="1">
            <a:spLocks/>
          </p:cNvSpPr>
          <p:nvPr/>
        </p:nvSpPr>
        <p:spPr>
          <a:xfrm>
            <a:off x="152400" y="784945"/>
            <a:ext cx="97536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IEEE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802.15.4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A standard for the MAC and physical layer protocol of wireless networks </a:t>
            </a:r>
            <a:r>
              <a:rPr lang="ko-KR" altLang="en-US" sz="800" dirty="0"/>
              <a:t>무선네트워크의 </a:t>
            </a:r>
            <a:r>
              <a:rPr lang="en-US" altLang="ko-KR" sz="800" dirty="0"/>
              <a:t>MAC</a:t>
            </a:r>
            <a:r>
              <a:rPr lang="ko-KR" altLang="en-US" sz="800" dirty="0"/>
              <a:t>과 물리 계층을 정의하는 표준</a:t>
            </a:r>
            <a:endParaRPr lang="en-US" altLang="ko-KR" sz="1800" dirty="0"/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For the low-rate wireless PAN (LR-WPAN) </a:t>
            </a:r>
            <a:r>
              <a:rPr lang="ko-KR" altLang="en-US" sz="800" dirty="0"/>
              <a:t>저속 무선 개인 통신망을 위함</a:t>
            </a:r>
            <a:endParaRPr lang="en-US" altLang="ko-KR" sz="900" dirty="0"/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For low power consumption and low cost  communication network</a:t>
            </a:r>
            <a:r>
              <a:rPr lang="ko-KR" altLang="en-US" sz="1600" dirty="0"/>
              <a:t> </a:t>
            </a:r>
            <a:r>
              <a:rPr lang="ko-KR" altLang="en-US" sz="800" dirty="0"/>
              <a:t>저전력 소비</a:t>
            </a:r>
            <a:r>
              <a:rPr lang="en-US" altLang="ko-KR" sz="800" dirty="0"/>
              <a:t>, </a:t>
            </a:r>
            <a:r>
              <a:rPr lang="ko-KR" altLang="en-US" sz="800" dirty="0"/>
              <a:t>저비용 통신</a:t>
            </a:r>
            <a:endParaRPr lang="en-US" altLang="ko-KR" sz="800" dirty="0"/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대표적으로 </a:t>
            </a:r>
            <a:r>
              <a:rPr lang="en-US" altLang="ko-KR" sz="1600" dirty="0"/>
              <a:t>‘ZigBee’</a:t>
            </a:r>
            <a:r>
              <a:rPr lang="ko-KR" altLang="en-US" sz="1600" dirty="0"/>
              <a:t> 라 불림</a:t>
            </a:r>
            <a:endParaRPr lang="en-US" altLang="ko-KR" sz="1600" dirty="0"/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Uses CSMA-CA medium access mechanism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Supports star topology and</a:t>
            </a:r>
            <a:r>
              <a:rPr lang="ko-KR" altLang="en-US" sz="1600" dirty="0"/>
              <a:t> </a:t>
            </a:r>
            <a:r>
              <a:rPr lang="en-US" altLang="ko-KR" sz="1600" dirty="0"/>
              <a:t>peer-to-peer topology 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두가지 종류의 </a:t>
            </a:r>
            <a:r>
              <a:rPr lang="en-US" altLang="ko-KR" sz="1600" dirty="0"/>
              <a:t>device types</a:t>
            </a:r>
          </a:p>
          <a:p>
            <a:pPr marL="948929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FFD (Full-Function Device)</a:t>
            </a:r>
          </a:p>
          <a:p>
            <a:pPr marL="948929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RFD (Reduced-Function Device)</a:t>
            </a:r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</p:txBody>
      </p:sp>
      <p:pic>
        <p:nvPicPr>
          <p:cNvPr id="41" name="Picture 4" descr="http://kocoafab.cc/data/141118022241.png">
            <a:extLst>
              <a:ext uri="{FF2B5EF4-FFF2-40B4-BE49-F238E27FC236}">
                <a16:creationId xmlns:a16="http://schemas.microsoft.com/office/drawing/2014/main" id="{9D91A09B-2180-44D5-A718-31C37CDC0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208" y="5542725"/>
            <a:ext cx="2578100" cy="956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6255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4AB6FB1-07BD-4C91-BADC-BD1A3A6899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solidFill>
                    <a:prstClr val="white">
                      <a:lumMod val="65000"/>
                      <a:alpha val="50000"/>
                    </a:prstClr>
                  </a:solidFill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solidFill>
                  <a:prstClr val="white">
                    <a:lumMod val="65000"/>
                    <a:alpha val="50000"/>
                  </a:prstClr>
                </a:solidFill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맑은 고딕" pitchFamily="50" charset="-127"/>
              <a:cs typeface="+mn-cs"/>
            </a:endParaRPr>
          </a:p>
        </p:txBody>
      </p:sp>
      <p:sp>
        <p:nvSpPr>
          <p:cNvPr id="21" name="내용 개체 틀 6">
            <a:extLst>
              <a:ext uri="{FF2B5EF4-FFF2-40B4-BE49-F238E27FC236}">
                <a16:creationId xmlns:a16="http://schemas.microsoft.com/office/drawing/2014/main" id="{B42B2885-7CF8-4B4B-B3B1-246F7CE320B9}"/>
              </a:ext>
            </a:extLst>
          </p:cNvPr>
          <p:cNvSpPr txBox="1">
            <a:spLocks/>
          </p:cNvSpPr>
          <p:nvPr/>
        </p:nvSpPr>
        <p:spPr>
          <a:xfrm>
            <a:off x="152400" y="764704"/>
            <a:ext cx="96012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Device Type</a:t>
            </a:r>
          </a:p>
          <a:p>
            <a:pPr lvl="1">
              <a:lnSpc>
                <a:spcPct val="150000"/>
              </a:lnSpc>
            </a:pPr>
            <a:r>
              <a:rPr lang="ko-KR" altLang="en-US" sz="1800" dirty="0"/>
              <a:t>저전력</a:t>
            </a:r>
            <a:r>
              <a:rPr lang="en-US" altLang="ko-KR" sz="1800" dirty="0"/>
              <a:t>, </a:t>
            </a:r>
            <a:r>
              <a:rPr lang="ko-KR" altLang="en-US" sz="1800" dirty="0"/>
              <a:t>저소비 네트워크 구성을 위해 </a:t>
            </a:r>
            <a:r>
              <a:rPr lang="en-US" altLang="ko-KR" sz="1800" dirty="0"/>
              <a:t>FFD, RFD </a:t>
            </a:r>
            <a:r>
              <a:rPr lang="ko-KR" altLang="en-US" sz="1800" dirty="0"/>
              <a:t>두가지로 나뉨</a:t>
            </a:r>
            <a:endParaRPr lang="en-US" altLang="ko-KR" sz="1800" dirty="0"/>
          </a:p>
          <a:p>
            <a:pPr marL="361950" lvl="1" indent="0">
              <a:lnSpc>
                <a:spcPct val="150000"/>
              </a:lnSpc>
              <a:buNone/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altLang="ko-KR" sz="18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F4DDF5F-1452-4F16-A0E2-F87C46D0C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572689"/>
              </p:ext>
            </p:extLst>
          </p:nvPr>
        </p:nvGraphicFramePr>
        <p:xfrm>
          <a:off x="758534" y="2492896"/>
          <a:ext cx="8388932" cy="229689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94466">
                  <a:extLst>
                    <a:ext uri="{9D8B030D-6E8A-4147-A177-3AD203B41FA5}">
                      <a16:colId xmlns:a16="http://schemas.microsoft.com/office/drawing/2014/main" val="914479733"/>
                    </a:ext>
                  </a:extLst>
                </a:gridCol>
                <a:gridCol w="4194466">
                  <a:extLst>
                    <a:ext uri="{9D8B030D-6E8A-4147-A177-3AD203B41FA5}">
                      <a16:colId xmlns:a16="http://schemas.microsoft.com/office/drawing/2014/main" val="1881564425"/>
                    </a:ext>
                  </a:extLst>
                </a:gridCol>
              </a:tblGrid>
              <a:tr h="729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FFD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(Full-Function Device)</a:t>
                      </a:r>
                      <a:endParaRPr lang="en-US" altLang="ko-KR" sz="1400" b="1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108000" marB="108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 RFD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(Reduced-Function Device)</a:t>
                      </a:r>
                      <a:endParaRPr lang="en-US" altLang="ko-KR" sz="1200" b="1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108000" marB="108000"/>
                </a:tc>
                <a:extLst>
                  <a:ext uri="{0D108BD9-81ED-4DB2-BD59-A6C34878D82A}">
                    <a16:rowId xmlns:a16="http://schemas.microsoft.com/office/drawing/2014/main" val="3459442409"/>
                  </a:ext>
                </a:extLst>
              </a:tr>
              <a:tr h="1215135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PAN coordinator, coordinator, device</a:t>
                      </a:r>
                      <a:r>
                        <a:rPr lang="ko-KR" altLang="en-US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로써 역할 수행 가능</a:t>
                      </a:r>
                      <a:endParaRPr lang="en-US" altLang="ko-KR" sz="1100" dirty="0">
                        <a:ln>
                          <a:solidFill>
                            <a:schemeClr val="tx1">
                              <a:alpha val="5000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RFD, FFD</a:t>
                      </a:r>
                      <a:r>
                        <a:rPr lang="ko-KR" altLang="en-US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 모두와 통신 가능 </a:t>
                      </a:r>
                      <a:r>
                        <a:rPr lang="en-US" altLang="ko-KR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(Routing)</a:t>
                      </a: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n>
                          <a:solidFill>
                            <a:schemeClr val="tx1">
                              <a:alpha val="50000"/>
                            </a:schemeClr>
                          </a:solidFill>
                        </a:ln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End device</a:t>
                      </a:r>
                      <a:r>
                        <a:rPr lang="ko-KR" altLang="en-US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로써 역할 수행 가능</a:t>
                      </a:r>
                      <a:endParaRPr lang="en-US" altLang="ko-KR" sz="1100" dirty="0">
                        <a:ln>
                          <a:solidFill>
                            <a:schemeClr val="tx1">
                              <a:alpha val="5000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Coordinator, Router</a:t>
                      </a:r>
                      <a:r>
                        <a:rPr lang="ko-KR" altLang="en-US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에 붙어있는 간단한 기능의 </a:t>
                      </a:r>
                      <a:endParaRPr lang="en-US" altLang="ko-KR" sz="1100" dirty="0">
                        <a:ln>
                          <a:solidFill>
                            <a:schemeClr val="tx1">
                              <a:alpha val="5000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제한된 </a:t>
                      </a:r>
                      <a:r>
                        <a:rPr lang="en-US" altLang="ko-KR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Protocol</a:t>
                      </a:r>
                      <a:r>
                        <a:rPr lang="ko-KR" altLang="en-US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저전력 장치를 지칭</a:t>
                      </a:r>
                      <a:endParaRPr lang="en-US" altLang="ko-KR" sz="1100" dirty="0">
                        <a:ln>
                          <a:solidFill>
                            <a:schemeClr val="tx1">
                              <a:alpha val="5000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오직 </a:t>
                      </a:r>
                      <a:r>
                        <a:rPr lang="en-US" altLang="ko-KR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FFD</a:t>
                      </a:r>
                      <a:r>
                        <a:rPr lang="ko-KR" altLang="en-US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와 통신 가능 </a:t>
                      </a:r>
                      <a:r>
                        <a:rPr lang="en-US" altLang="ko-KR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(RFD</a:t>
                      </a:r>
                      <a:r>
                        <a:rPr lang="ko-KR" altLang="en-US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간 </a:t>
                      </a:r>
                      <a:r>
                        <a:rPr lang="en-US" altLang="ko-KR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X)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메모리가 적게 들고 전력소비가 적어 </a:t>
                      </a:r>
                      <a:r>
                        <a:rPr lang="en-US" altLang="ko-KR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FFD</a:t>
                      </a:r>
                      <a:r>
                        <a:rPr lang="ko-KR" altLang="en-US" sz="1100" dirty="0">
                          <a:ln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보다 가격이 저렴</a:t>
                      </a:r>
                      <a:endParaRPr lang="en-US" altLang="ko-KR" sz="1100" dirty="0">
                        <a:ln>
                          <a:solidFill>
                            <a:schemeClr val="tx1">
                              <a:alpha val="5000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n>
                          <a:solidFill>
                            <a:schemeClr val="tx1">
                              <a:alpha val="50000"/>
                            </a:schemeClr>
                          </a:solidFill>
                        </a:ln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896210"/>
                  </a:ext>
                </a:extLst>
              </a:tr>
            </a:tbl>
          </a:graphicData>
        </a:graphic>
      </p:graphicFrame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766AA426-9792-4CFE-B634-96A4272BC4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" y="149697"/>
            <a:ext cx="6538022" cy="498598"/>
          </a:xfrm>
        </p:spPr>
        <p:txBody>
          <a:bodyPr/>
          <a:lstStyle/>
          <a:p>
            <a:r>
              <a:rPr lang="en-US" altLang="ko-KR" sz="3600" dirty="0"/>
              <a:t>Introduction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590358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4AB6FB1-07BD-4C91-BADC-BD1A3A6899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solidFill>
                    <a:prstClr val="white">
                      <a:lumMod val="65000"/>
                      <a:alpha val="50000"/>
                    </a:prstClr>
                  </a:solidFill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solidFill>
                  <a:prstClr val="white">
                    <a:lumMod val="65000"/>
                    <a:alpha val="50000"/>
                  </a:prstClr>
                </a:solidFill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맑은 고딕" pitchFamily="50" charset="-127"/>
              <a:cs typeface="+mn-cs"/>
            </a:endParaRPr>
          </a:p>
        </p:txBody>
      </p:sp>
      <p:sp>
        <p:nvSpPr>
          <p:cNvPr id="21" name="내용 개체 틀 6">
            <a:extLst>
              <a:ext uri="{FF2B5EF4-FFF2-40B4-BE49-F238E27FC236}">
                <a16:creationId xmlns:a16="http://schemas.microsoft.com/office/drawing/2014/main" id="{B42B2885-7CF8-4B4B-B3B1-246F7CE320B9}"/>
              </a:ext>
            </a:extLst>
          </p:cNvPr>
          <p:cNvSpPr txBox="1">
            <a:spLocks/>
          </p:cNvSpPr>
          <p:nvPr/>
        </p:nvSpPr>
        <p:spPr>
          <a:xfrm>
            <a:off x="152400" y="784945"/>
            <a:ext cx="9601200" cy="5735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Topology 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네트워크의 물리적 연결 형태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ko-KR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chemeClr val="accent1"/>
                </a:solidFill>
              </a:rPr>
              <a:t>Star topology</a:t>
            </a:r>
          </a:p>
          <a:p>
            <a:pPr lvl="2">
              <a:lnSpc>
                <a:spcPct val="150000"/>
              </a:lnSpc>
            </a:pPr>
            <a:r>
              <a:rPr lang="en-US" altLang="ko-KR" sz="1600" dirty="0"/>
              <a:t>Single central controller (PAN coordinator)</a:t>
            </a:r>
            <a:r>
              <a:rPr lang="ko-KR" altLang="en-US" sz="1600" dirty="0"/>
              <a:t>와</a:t>
            </a:r>
            <a:r>
              <a:rPr lang="en-US" altLang="ko-KR" sz="1600" dirty="0"/>
              <a:t> devices</a:t>
            </a:r>
            <a:r>
              <a:rPr lang="ko-KR" altLang="en-US" sz="1600" dirty="0"/>
              <a:t> 간 통신</a:t>
            </a:r>
            <a:endParaRPr lang="en-US" altLang="ko-KR" sz="1600" dirty="0"/>
          </a:p>
          <a:p>
            <a:pPr lvl="2">
              <a:lnSpc>
                <a:spcPct val="150000"/>
              </a:lnSpc>
            </a:pPr>
            <a:r>
              <a:rPr lang="en-US" altLang="ko-KR" sz="1600" dirty="0">
                <a:sym typeface="Wingdings" panose="05000000000000000000" pitchFamily="2" charset="2"/>
              </a:rPr>
              <a:t>FFD</a:t>
            </a:r>
            <a:r>
              <a:rPr lang="ko-KR" altLang="en-US" sz="1600" dirty="0">
                <a:sym typeface="Wingdings" panose="05000000000000000000" pitchFamily="2" charset="2"/>
              </a:rPr>
              <a:t>와 </a:t>
            </a:r>
            <a:r>
              <a:rPr lang="en-US" altLang="ko-KR" sz="1600" dirty="0">
                <a:sym typeface="Wingdings" panose="05000000000000000000" pitchFamily="2" charset="2"/>
              </a:rPr>
              <a:t>RFD</a:t>
            </a:r>
            <a:r>
              <a:rPr lang="ko-KR" altLang="en-US" sz="1600" dirty="0">
                <a:sym typeface="Wingdings" panose="05000000000000000000" pitchFamily="2" charset="2"/>
              </a:rPr>
              <a:t>의 접속을 제어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pPr lvl="2">
              <a:lnSpc>
                <a:spcPct val="150000"/>
              </a:lnSpc>
            </a:pPr>
            <a:r>
              <a:rPr lang="ko-KR" altLang="en-US" sz="1600" dirty="0"/>
              <a:t>한 개의 </a:t>
            </a:r>
            <a:r>
              <a:rPr lang="en-US" altLang="ko-KR" sz="1600" dirty="0"/>
              <a:t>PAN coordinator </a:t>
            </a:r>
            <a:r>
              <a:rPr lang="ko-KR" altLang="en-US" sz="1600" dirty="0"/>
              <a:t>존재</a:t>
            </a:r>
            <a:endParaRPr lang="en-US" altLang="ko-KR" sz="1600" dirty="0"/>
          </a:p>
          <a:p>
            <a:pPr lvl="2">
              <a:lnSpc>
                <a:spcPct val="150000"/>
              </a:lnSpc>
            </a:pPr>
            <a:endParaRPr lang="en-US" altLang="ko-KR" sz="1600" dirty="0"/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chemeClr val="accent1"/>
                </a:solidFill>
              </a:rPr>
              <a:t>Peer-to-peer topology</a:t>
            </a:r>
          </a:p>
          <a:p>
            <a:pPr lvl="2">
              <a:lnSpc>
                <a:spcPct val="150000"/>
              </a:lnSpc>
            </a:pPr>
            <a:r>
              <a:rPr lang="ko-KR" altLang="en-US" sz="1600" dirty="0"/>
              <a:t>범위 안의 어떤 </a:t>
            </a:r>
            <a:r>
              <a:rPr lang="en-US" altLang="ko-KR" sz="1600" dirty="0"/>
              <a:t>devices </a:t>
            </a:r>
            <a:r>
              <a:rPr lang="ko-KR" altLang="en-US" sz="1600" dirty="0"/>
              <a:t>간에도 통신 가능</a:t>
            </a:r>
            <a:endParaRPr lang="en-US" altLang="ko-KR" sz="1600" dirty="0"/>
          </a:p>
          <a:p>
            <a:pPr lvl="2">
              <a:lnSpc>
                <a:spcPct val="150000"/>
              </a:lnSpc>
            </a:pPr>
            <a:r>
              <a:rPr lang="ko-KR" altLang="en-US" sz="1600" dirty="0"/>
              <a:t>다수의 </a:t>
            </a:r>
            <a:r>
              <a:rPr lang="en-US" altLang="ko-KR" sz="1600" dirty="0"/>
              <a:t>coordinator </a:t>
            </a:r>
            <a:r>
              <a:rPr lang="ko-KR" altLang="en-US" sz="1600" dirty="0"/>
              <a:t>존재</a:t>
            </a:r>
            <a:endParaRPr lang="en-US" altLang="ko-KR" sz="1600" dirty="0"/>
          </a:p>
          <a:p>
            <a:pPr lvl="1">
              <a:lnSpc>
                <a:spcPct val="150000"/>
              </a:lnSpc>
            </a:pPr>
            <a:endParaRPr lang="en-US" altLang="ko-KR" sz="2000" b="1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E53463DE-7B58-4E3C-BDA4-C92F6BAF0C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4438" b="8711"/>
          <a:stretch/>
        </p:blipFill>
        <p:spPr>
          <a:xfrm>
            <a:off x="6913128" y="1433170"/>
            <a:ext cx="2111044" cy="1966651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B149CC32-0794-4447-921F-B64C40FC98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055" r="3708" b="24208"/>
          <a:stretch/>
        </p:blipFill>
        <p:spPr>
          <a:xfrm>
            <a:off x="6766674" y="3787417"/>
            <a:ext cx="2403952" cy="1686321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8A482E08-8839-409C-B5D5-9DFD9F2E62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28" t="74378" r="17110"/>
          <a:stretch/>
        </p:blipFill>
        <p:spPr>
          <a:xfrm>
            <a:off x="6579465" y="5767717"/>
            <a:ext cx="2778369" cy="663822"/>
          </a:xfrm>
          <a:prstGeom prst="rect">
            <a:avLst/>
          </a:prstGeom>
        </p:spPr>
      </p:pic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53E5293D-3DD5-4B7B-8529-ADCD263665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" y="149697"/>
            <a:ext cx="6538022" cy="498598"/>
          </a:xfrm>
        </p:spPr>
        <p:txBody>
          <a:bodyPr/>
          <a:lstStyle/>
          <a:p>
            <a:r>
              <a:rPr lang="en-US" altLang="ko-KR" sz="3600" dirty="0"/>
              <a:t>Introduction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693746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4AB6FB1-07BD-4C91-BADC-BD1A3A6899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solidFill>
                    <a:prstClr val="white">
                      <a:lumMod val="65000"/>
                      <a:alpha val="50000"/>
                    </a:prstClr>
                  </a:solidFill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solidFill>
                  <a:prstClr val="white">
                    <a:lumMod val="65000"/>
                    <a:alpha val="50000"/>
                  </a:prstClr>
                </a:solidFill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맑은 고딕" pitchFamily="50" charset="-127"/>
              <a:cs typeface="+mn-cs"/>
            </a:endParaRPr>
          </a:p>
        </p:txBody>
      </p:sp>
      <p:sp>
        <p:nvSpPr>
          <p:cNvPr id="21" name="내용 개체 틀 6">
            <a:extLst>
              <a:ext uri="{FF2B5EF4-FFF2-40B4-BE49-F238E27FC236}">
                <a16:creationId xmlns:a16="http://schemas.microsoft.com/office/drawing/2014/main" id="{B42B2885-7CF8-4B4B-B3B1-246F7CE320B9}"/>
              </a:ext>
            </a:extLst>
          </p:cNvPr>
          <p:cNvSpPr txBox="1">
            <a:spLocks/>
          </p:cNvSpPr>
          <p:nvPr/>
        </p:nvSpPr>
        <p:spPr>
          <a:xfrm>
            <a:off x="143170" y="774803"/>
            <a:ext cx="96012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Topology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  <a:sym typeface="Wingdings" panose="05000000000000000000" pitchFamily="2" charset="2"/>
              </a:rPr>
              <a:t>Cluster tree 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>
                <a:sym typeface="Wingdings" panose="05000000000000000000" pitchFamily="2" charset="2"/>
              </a:rPr>
              <a:t>Peer to peer network</a:t>
            </a:r>
            <a:r>
              <a:rPr lang="ko-KR" altLang="en-US" sz="1800" dirty="0">
                <a:sym typeface="Wingdings" panose="05000000000000000000" pitchFamily="2" charset="2"/>
              </a:rPr>
              <a:t>의 한 종류</a:t>
            </a:r>
            <a:endParaRPr lang="en-US" altLang="ko-KR" sz="1800" dirty="0">
              <a:sym typeface="Wingdings" panose="05000000000000000000" pitchFamily="2" charset="2"/>
            </a:endParaRP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sym typeface="Wingdings" panose="05000000000000000000" pitchFamily="2" charset="2"/>
              </a:rPr>
              <a:t>대부분의 </a:t>
            </a:r>
            <a:r>
              <a:rPr lang="en-US" altLang="ko-KR" sz="1800" dirty="0">
                <a:sym typeface="Wingdings" panose="05000000000000000000" pitchFamily="2" charset="2"/>
              </a:rPr>
              <a:t>Device</a:t>
            </a:r>
            <a:r>
              <a:rPr lang="ko-KR" altLang="en-US" sz="1800" dirty="0">
                <a:sym typeface="Wingdings" panose="05000000000000000000" pitchFamily="2" charset="2"/>
              </a:rPr>
              <a:t>가 </a:t>
            </a:r>
            <a:r>
              <a:rPr lang="en-US" altLang="ko-KR" sz="1800" dirty="0">
                <a:sym typeface="Wingdings" panose="05000000000000000000" pitchFamily="2" charset="2"/>
              </a:rPr>
              <a:t>Cluster tree network</a:t>
            </a:r>
            <a:r>
              <a:rPr lang="ko-KR" altLang="en-US" sz="1800" dirty="0">
                <a:sym typeface="Wingdings" panose="05000000000000000000" pitchFamily="2" charset="2"/>
              </a:rPr>
              <a:t>의 </a:t>
            </a:r>
            <a:r>
              <a:rPr lang="en-US" altLang="ko-KR" sz="1800" dirty="0">
                <a:sym typeface="Wingdings" panose="05000000000000000000" pitchFamily="2" charset="2"/>
              </a:rPr>
              <a:t>FFD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>
                <a:sym typeface="Wingdings" panose="05000000000000000000" pitchFamily="2" charset="2"/>
              </a:rPr>
              <a:t>RFD</a:t>
            </a:r>
            <a:r>
              <a:rPr lang="ko-KR" altLang="en-US" sz="1800" dirty="0">
                <a:sym typeface="Wingdings" panose="05000000000000000000" pitchFamily="2" charset="2"/>
              </a:rPr>
              <a:t>는</a:t>
            </a:r>
            <a:r>
              <a:rPr lang="en-US" altLang="ko-KR" sz="1800" dirty="0">
                <a:sym typeface="Wingdings" panose="05000000000000000000" pitchFamily="2" charset="2"/>
              </a:rPr>
              <a:t> leaf device </a:t>
            </a:r>
            <a:r>
              <a:rPr lang="ko-KR" altLang="en-US" sz="1800" dirty="0">
                <a:sym typeface="Wingdings" panose="05000000000000000000" pitchFamily="2" charset="2"/>
              </a:rPr>
              <a:t>로서 네트워크의 끝 단에서 접속하게 됨</a:t>
            </a:r>
            <a:endParaRPr lang="en-US" altLang="ko-KR" sz="1800" dirty="0">
              <a:sym typeface="Wingdings" panose="05000000000000000000" pitchFamily="2" charset="2"/>
            </a:endParaRPr>
          </a:p>
          <a:p>
            <a:pPr marL="361950" lvl="1" indent="0">
              <a:lnSpc>
                <a:spcPct val="150000"/>
              </a:lnSpc>
              <a:buNone/>
            </a:pPr>
            <a:endParaRPr lang="en-US" altLang="ko-KR" sz="200" b="1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B8E64CD-0351-4B12-881E-6795D2203411}"/>
              </a:ext>
            </a:extLst>
          </p:cNvPr>
          <p:cNvGrpSpPr/>
          <p:nvPr/>
        </p:nvGrpSpPr>
        <p:grpSpPr>
          <a:xfrm>
            <a:off x="5417655" y="3569723"/>
            <a:ext cx="3927833" cy="2942229"/>
            <a:chOff x="5241032" y="3430183"/>
            <a:chExt cx="4357307" cy="334687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145A65B-BA95-4B3A-AA04-386F3D3ED3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151" r="1"/>
            <a:stretch/>
          </p:blipFill>
          <p:spPr>
            <a:xfrm>
              <a:off x="7041884" y="6512636"/>
              <a:ext cx="1176035" cy="264424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8993073-CF12-43FB-911C-5E96D1734C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874"/>
            <a:stretch/>
          </p:blipFill>
          <p:spPr>
            <a:xfrm>
              <a:off x="5241032" y="3430183"/>
              <a:ext cx="4357307" cy="3122864"/>
            </a:xfrm>
            <a:prstGeom prst="rect">
              <a:avLst/>
            </a:prstGeom>
          </p:spPr>
        </p:pic>
      </p:grp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783513F4-688A-47DE-AA65-BFCF5D3BDF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2875" y="144463"/>
            <a:ext cx="6538913" cy="554037"/>
          </a:xfrm>
        </p:spPr>
        <p:txBody>
          <a:bodyPr/>
          <a:lstStyle/>
          <a:p>
            <a:r>
              <a:rPr lang="en-US" altLang="ko-KR" sz="3600" dirty="0"/>
              <a:t>Introduction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76837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4AB6FB1-07BD-4C91-BADC-BD1A3A6899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solidFill>
                    <a:prstClr val="white">
                      <a:lumMod val="65000"/>
                      <a:alpha val="50000"/>
                    </a:prstClr>
                  </a:solidFill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solidFill>
                  <a:prstClr val="white">
                    <a:lumMod val="65000"/>
                    <a:alpha val="50000"/>
                  </a:prstClr>
                </a:solidFill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맑은 고딕" pitchFamily="50" charset="-127"/>
              <a:cs typeface="+mn-cs"/>
            </a:endParaRPr>
          </a:p>
        </p:txBody>
      </p:sp>
      <p:sp>
        <p:nvSpPr>
          <p:cNvPr id="21" name="내용 개체 틀 6">
            <a:extLst>
              <a:ext uri="{FF2B5EF4-FFF2-40B4-BE49-F238E27FC236}">
                <a16:creationId xmlns:a16="http://schemas.microsoft.com/office/drawing/2014/main" id="{B42B2885-7CF8-4B4B-B3B1-246F7CE320B9}"/>
              </a:ext>
            </a:extLst>
          </p:cNvPr>
          <p:cNvSpPr txBox="1">
            <a:spLocks/>
          </p:cNvSpPr>
          <p:nvPr/>
        </p:nvSpPr>
        <p:spPr>
          <a:xfrm>
            <a:off x="152400" y="784945"/>
            <a:ext cx="96012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Superframe structure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0485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2000" dirty="0"/>
              <a:t>Active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period</a:t>
            </a:r>
            <a:endParaRPr lang="ko-KR" altLang="en-US" sz="2000" dirty="0"/>
          </a:p>
          <a:p>
            <a:pPr marL="704850" lvl="1" indent="-342900">
              <a:lnSpc>
                <a:spcPct val="150000"/>
              </a:lnSpc>
              <a:buFont typeface="+mj-ea"/>
              <a:buAutoNum type="arabicParenR"/>
            </a:pPr>
            <a:r>
              <a:rPr lang="en-US" altLang="ko-KR" sz="2000" dirty="0"/>
              <a:t>Inactive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period</a:t>
            </a:r>
            <a:r>
              <a:rPr lang="ko-KR" altLang="en-US" sz="2000" dirty="0"/>
              <a:t> </a:t>
            </a:r>
            <a:r>
              <a:rPr lang="en-US" altLang="ko-KR" sz="1600" dirty="0"/>
              <a:t>(</a:t>
            </a:r>
            <a:r>
              <a:rPr lang="en-US" altLang="ko-KR" sz="1600" dirty="0">
                <a:sym typeface="Wingdings" panose="05000000000000000000" pitchFamily="2" charset="2"/>
              </a:rPr>
              <a:t>Coordinator </a:t>
            </a:r>
            <a:r>
              <a:rPr lang="ko-KR" altLang="en-US" sz="1600" dirty="0">
                <a:sym typeface="Wingdings" panose="05000000000000000000" pitchFamily="2" charset="2"/>
              </a:rPr>
              <a:t>→ </a:t>
            </a:r>
            <a:r>
              <a:rPr lang="en-US" altLang="ko-KR" sz="1600" dirty="0"/>
              <a:t>Low-power mode)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2000" b="1" dirty="0"/>
          </a:p>
          <a:p>
            <a:pPr lvl="1">
              <a:lnSpc>
                <a:spcPct val="150000"/>
              </a:lnSpc>
            </a:pPr>
            <a:endParaRPr lang="en-US" altLang="ko-KR" sz="1100" dirty="0"/>
          </a:p>
        </p:txBody>
      </p:sp>
      <p:sp>
        <p:nvSpPr>
          <p:cNvPr id="13" name="텍스트 개체 틀 3">
            <a:extLst>
              <a:ext uri="{FF2B5EF4-FFF2-40B4-BE49-F238E27FC236}">
                <a16:creationId xmlns:a16="http://schemas.microsoft.com/office/drawing/2014/main" id="{3FB29778-1D36-4CCD-86A8-920A76E041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" y="-96537"/>
            <a:ext cx="6538913" cy="94951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 dirty="0"/>
              <a:t>IEEE 802.15.4 MAC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A3EFF6D-F415-4E37-ADA1-1C5DC61BC31C}"/>
              </a:ext>
            </a:extLst>
          </p:cNvPr>
          <p:cNvGrpSpPr/>
          <p:nvPr/>
        </p:nvGrpSpPr>
        <p:grpSpPr>
          <a:xfrm>
            <a:off x="1873225" y="2924944"/>
            <a:ext cx="6159550" cy="3168352"/>
            <a:chOff x="3867149" y="3160849"/>
            <a:chExt cx="6038851" cy="3363789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AF543A95-F9BD-43B7-8120-EDCC335CB1EE}"/>
                </a:ext>
              </a:extLst>
            </p:cNvPr>
            <p:cNvGrpSpPr/>
            <p:nvPr/>
          </p:nvGrpSpPr>
          <p:grpSpPr>
            <a:xfrm>
              <a:off x="3867149" y="3226052"/>
              <a:ext cx="6038851" cy="3298586"/>
              <a:chOff x="1933574" y="3221673"/>
              <a:chExt cx="6038851" cy="3298586"/>
            </a:xfrm>
          </p:grpSpPr>
          <p:pic>
            <p:nvPicPr>
              <p:cNvPr id="18" name="Picture 3">
                <a:extLst>
                  <a:ext uri="{FF2B5EF4-FFF2-40B4-BE49-F238E27FC236}">
                    <a16:creationId xmlns:a16="http://schemas.microsoft.com/office/drawing/2014/main" id="{6574552B-71C2-4808-B17B-2AD983103F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33574" y="3815513"/>
                <a:ext cx="6038851" cy="27047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" name="왼쪽 중괄호 18">
                <a:extLst>
                  <a:ext uri="{FF2B5EF4-FFF2-40B4-BE49-F238E27FC236}">
                    <a16:creationId xmlns:a16="http://schemas.microsoft.com/office/drawing/2014/main" id="{A32467FB-77DF-4B9E-A6FF-9138507FABAD}"/>
                  </a:ext>
                </a:extLst>
              </p:cNvPr>
              <p:cNvSpPr/>
              <p:nvPr/>
            </p:nvSpPr>
            <p:spPr>
              <a:xfrm rot="5400000">
                <a:off x="3551792" y="2553576"/>
                <a:ext cx="147456" cy="2615201"/>
              </a:xfrm>
              <a:prstGeom prst="leftBrac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왼쪽 중괄호 19">
                <a:extLst>
                  <a:ext uri="{FF2B5EF4-FFF2-40B4-BE49-F238E27FC236}">
                    <a16:creationId xmlns:a16="http://schemas.microsoft.com/office/drawing/2014/main" id="{9B14FFC6-164A-4336-8C7E-DEF6C95E3BAC}"/>
                  </a:ext>
                </a:extLst>
              </p:cNvPr>
              <p:cNvSpPr/>
              <p:nvPr/>
            </p:nvSpPr>
            <p:spPr>
              <a:xfrm rot="5400000">
                <a:off x="6245262" y="2548600"/>
                <a:ext cx="147455" cy="2615200"/>
              </a:xfrm>
              <a:prstGeom prst="leftBrac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8E2293F-9A0D-4B10-B79A-14DC37A83910}"/>
                  </a:ext>
                </a:extLst>
              </p:cNvPr>
              <p:cNvSpPr txBox="1"/>
              <p:nvPr/>
            </p:nvSpPr>
            <p:spPr>
              <a:xfrm>
                <a:off x="2911101" y="3221867"/>
                <a:ext cx="1676868" cy="410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Active period</a:t>
                </a:r>
                <a:endParaRPr lang="ko-KR" altLang="en-US" sz="1600" dirty="0" err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F6E21D9-CCF4-41EF-B6E1-6DE0C4F9E252}"/>
                  </a:ext>
                </a:extLst>
              </p:cNvPr>
              <p:cNvSpPr txBox="1"/>
              <p:nvPr/>
            </p:nvSpPr>
            <p:spPr>
              <a:xfrm>
                <a:off x="5488725" y="3221673"/>
                <a:ext cx="1913774" cy="410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Inactive </a:t>
                </a:r>
                <a:r>
                  <a:rPr lang="en-US" altLang="ko-K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period</a:t>
                </a:r>
                <a:endParaRPr lang="ko-KR" altLang="en-US" sz="1600" dirty="0" err="1">
                  <a:latin typeface="Arial" panose="020B0604020202020204" pitchFamily="34" charset="0"/>
                  <a:ea typeface="+mj-ea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A5827B9E-BD80-4AEC-AE08-9E4C0DA5957A}"/>
                </a:ext>
              </a:extLst>
            </p:cNvPr>
            <p:cNvCxnSpPr>
              <a:cxnSpLocks/>
            </p:cNvCxnSpPr>
            <p:nvPr/>
          </p:nvCxnSpPr>
          <p:spPr>
            <a:xfrm>
              <a:off x="6895269" y="3160849"/>
              <a:ext cx="0" cy="2664913"/>
            </a:xfrm>
            <a:prstGeom prst="line">
              <a:avLst/>
            </a:prstGeom>
            <a:ln w="285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0519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4AB6FB1-07BD-4C91-BADC-BD1A3A6899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solidFill>
                    <a:prstClr val="white">
                      <a:lumMod val="65000"/>
                      <a:alpha val="50000"/>
                    </a:prstClr>
                  </a:solidFill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solidFill>
                  <a:prstClr val="white">
                    <a:lumMod val="65000"/>
                    <a:alpha val="50000"/>
                  </a:prstClr>
                </a:solidFill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맑은 고딕" pitchFamily="50" charset="-127"/>
              <a:cs typeface="+mn-cs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348006-BD7D-49B9-9E95-2D4DDBEBC3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605" y="-39634"/>
            <a:ext cx="6538022" cy="72834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 dirty="0"/>
              <a:t>IEEE 802.15.4 MAC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내용 개체 틀 6">
                <a:extLst>
                  <a:ext uri="{FF2B5EF4-FFF2-40B4-BE49-F238E27FC236}">
                    <a16:creationId xmlns:a16="http://schemas.microsoft.com/office/drawing/2014/main" id="{B42B2885-7CF8-4B4B-B3B1-246F7CE320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9238" y="767001"/>
                <a:ext cx="9601200" cy="53285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66700" indent="-26670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Arial" panose="020B0604020202020204" pitchFamily="34" charset="0"/>
                  <a:buChar char="•"/>
                  <a:defRPr sz="28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1pPr>
                <a:lvl2pPr marL="622300" indent="-26035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함초롬돋움" panose="020B0504000101010101" pitchFamily="50" charset="-127"/>
                  <a:buChar char="—"/>
                  <a:tabLst>
                    <a:tab pos="542925" algn="l"/>
                  </a:tabLst>
                  <a:defRPr sz="24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2pPr>
                <a:lvl3pPr marL="812800" indent="-269875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ü"/>
                  <a:defRPr sz="20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3pPr>
                <a:lvl4pPr marL="1168400" indent="-27305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§"/>
                  <a:defRPr sz="18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4pPr>
                <a:lvl5pPr marL="1346200" indent="-269875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함초롬돋움" panose="020B0504000101010101" pitchFamily="50" charset="-127"/>
                  <a:buChar char="»"/>
                  <a:defRPr sz="18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ko-KR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Superframe structure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2000" dirty="0">
                    <a:solidFill>
                      <a:schemeClr val="accent1"/>
                    </a:solidFill>
                  </a:rPr>
                  <a:t>Duty Cycle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/>
                  <a:t>전체 구간에서의 </a:t>
                </a:r>
                <a:r>
                  <a:rPr lang="en-US" altLang="ko-KR" sz="1600" dirty="0"/>
                  <a:t>Active </a:t>
                </a:r>
                <a:r>
                  <a:rPr lang="ko-KR" altLang="en-US" sz="1600" dirty="0"/>
                  <a:t>구간의 비율을 말함</a:t>
                </a:r>
                <a:endParaRPr lang="en-US" altLang="ko-KR" sz="1600" dirty="0"/>
              </a:p>
              <a:p>
                <a:pPr lvl="2">
                  <a:lnSpc>
                    <a:spcPct val="2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1" i="1">
                            <a:latin typeface="Cambria Math" panose="02040503050406030204" pitchFamily="18" charset="0"/>
                            <a:ea typeface="나눔바른펜" panose="020B0503000000000000" pitchFamily="50" charset="-127"/>
                          </a:rPr>
                        </m:ctrlPr>
                      </m:sSupPr>
                      <m:e>
                        <m:r>
                          <a:rPr lang="en-US" altLang="ko-KR" sz="1600" b="1" i="1">
                            <a:latin typeface="Cambria Math"/>
                            <a:ea typeface="나눔바른펜" panose="020B0503000000000000" pitchFamily="50" charset="-127"/>
                          </a:rPr>
                          <m:t>𝟐</m:t>
                        </m:r>
                      </m:e>
                      <m:sup>
                        <m:r>
                          <a:rPr lang="en-US" altLang="ko-KR" sz="1600" b="1" i="1">
                            <a:latin typeface="Cambria Math"/>
                            <a:ea typeface="나눔바른펜" panose="020B0503000000000000" pitchFamily="50" charset="-127"/>
                          </a:rPr>
                          <m:t>−(</m:t>
                        </m:r>
                        <m:r>
                          <a:rPr lang="en-US" altLang="ko-KR" sz="1600" b="1" i="1">
                            <a:latin typeface="Cambria Math"/>
                            <a:ea typeface="나눔바른펜" panose="020B0503000000000000" pitchFamily="50" charset="-127"/>
                          </a:rPr>
                          <m:t>𝑩𝑶</m:t>
                        </m:r>
                        <m:r>
                          <a:rPr lang="en-US" altLang="ko-KR" sz="1600" b="1" i="1">
                            <a:latin typeface="Cambria Math"/>
                            <a:ea typeface="나눔바른펜" panose="020B0503000000000000" pitchFamily="50" charset="-127"/>
                          </a:rPr>
                          <m:t>−</m:t>
                        </m:r>
                        <m:r>
                          <a:rPr lang="en-US" altLang="ko-KR" sz="1600" b="1" i="1">
                            <a:latin typeface="Cambria Math"/>
                            <a:ea typeface="나눔바른펜" panose="020B0503000000000000" pitchFamily="50" charset="-127"/>
                          </a:rPr>
                          <m:t>𝑺𝑶</m:t>
                        </m:r>
                        <m:r>
                          <a:rPr lang="en-US" altLang="ko-KR" sz="1600" b="1" i="1">
                            <a:latin typeface="Cambria Math"/>
                            <a:ea typeface="나눔바른펜" panose="020B0503000000000000" pitchFamily="50" charset="-127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ko-KR" sz="1600" b="1" dirty="0">
                    <a:ea typeface="나눔바른펜" panose="020B0503000000000000" pitchFamily="50" charset="-127"/>
                  </a:rPr>
                  <a:t> = </a:t>
                </a:r>
              </a:p>
              <a:p>
                <a:pPr lvl="2">
                  <a:lnSpc>
                    <a:spcPct val="150000"/>
                  </a:lnSpc>
                </a:pPr>
                <a:endParaRPr lang="en-US" altLang="ko-KR" sz="1400" dirty="0">
                  <a:solidFill>
                    <a:srgbClr val="495434"/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endParaRPr lang="en-US" altLang="ko-KR" sz="1000" dirty="0"/>
              </a:p>
              <a:p>
                <a:pPr lvl="1">
                  <a:lnSpc>
                    <a:spcPct val="150000"/>
                  </a:lnSpc>
                </a:pPr>
                <a:endParaRPr lang="en-US" altLang="ko-KR" sz="1400" dirty="0"/>
              </a:p>
            </p:txBody>
          </p:sp>
        </mc:Choice>
        <mc:Fallback xmlns="">
          <p:sp>
            <p:nvSpPr>
              <p:cNvPr id="21" name="내용 개체 틀 6">
                <a:extLst>
                  <a:ext uri="{FF2B5EF4-FFF2-40B4-BE49-F238E27FC236}">
                    <a16:creationId xmlns:a16="http://schemas.microsoft.com/office/drawing/2014/main" id="{B42B2885-7CF8-4B4B-B3B1-246F7CE32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" y="767001"/>
                <a:ext cx="9601200" cy="53285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>
            <a:extLst>
              <a:ext uri="{FF2B5EF4-FFF2-40B4-BE49-F238E27FC236}">
                <a16:creationId xmlns:a16="http://schemas.microsoft.com/office/drawing/2014/main" id="{1743448A-7B26-4AB1-B093-E2A611870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696" y="2330613"/>
            <a:ext cx="3958661" cy="778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A5E627E3-0AB2-42F9-882D-9AF93D1CA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536" y="3261828"/>
            <a:ext cx="6408712" cy="944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FF64057A-5353-4C7F-9274-2101C62CA95B}"/>
              </a:ext>
            </a:extLst>
          </p:cNvPr>
          <p:cNvGrpSpPr/>
          <p:nvPr/>
        </p:nvGrpSpPr>
        <p:grpSpPr>
          <a:xfrm>
            <a:off x="2272888" y="4232570"/>
            <a:ext cx="5373899" cy="2183377"/>
            <a:chOff x="2266050" y="4225624"/>
            <a:chExt cx="5373899" cy="2183377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D793FBDA-69A8-43FB-ABD1-57038035B49A}"/>
                </a:ext>
              </a:extLst>
            </p:cNvPr>
            <p:cNvGrpSpPr/>
            <p:nvPr/>
          </p:nvGrpSpPr>
          <p:grpSpPr>
            <a:xfrm>
              <a:off x="2266050" y="4225624"/>
              <a:ext cx="5373899" cy="2183377"/>
              <a:chOff x="5199255" y="4533777"/>
              <a:chExt cx="4536504" cy="1986482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EF41A1A1-8FB2-47FF-8EF5-0E689EA228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99255" y="4533777"/>
                <a:ext cx="4536504" cy="1986482"/>
              </a:xfrm>
              <a:prstGeom prst="rect">
                <a:avLst/>
              </a:prstGeom>
            </p:spPr>
          </p:pic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1369F4CB-A27B-46CA-9401-F5D516B59D90}"/>
                  </a:ext>
                </a:extLst>
              </p:cNvPr>
              <p:cNvSpPr/>
              <p:nvPr/>
            </p:nvSpPr>
            <p:spPr>
              <a:xfrm>
                <a:off x="5456830" y="5665670"/>
                <a:ext cx="1984129" cy="313588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10" name="사각형: 둥근 모서리 9">
                <a:extLst>
                  <a:ext uri="{FF2B5EF4-FFF2-40B4-BE49-F238E27FC236}">
                    <a16:creationId xmlns:a16="http://schemas.microsoft.com/office/drawing/2014/main" id="{01629EEC-4F16-4229-A12A-6BE14AA2B609}"/>
                  </a:ext>
                </a:extLst>
              </p:cNvPr>
              <p:cNvSpPr/>
              <p:nvPr/>
            </p:nvSpPr>
            <p:spPr>
              <a:xfrm>
                <a:off x="5448637" y="5982511"/>
                <a:ext cx="3984802" cy="313588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8CC9F9B-EE37-4E02-AFE9-BF0EBB44B1BE}"/>
                </a:ext>
              </a:extLst>
            </p:cNvPr>
            <p:cNvSpPr txBox="1"/>
            <p:nvPr/>
          </p:nvSpPr>
          <p:spPr>
            <a:xfrm>
              <a:off x="3305773" y="4789448"/>
              <a:ext cx="8623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Active</a:t>
              </a:r>
              <a:endParaRPr lang="ko-KR" altLang="en-US" dirty="0" err="1">
                <a:latin typeface="Abadi" panose="020B0604020104020204" pitchFamily="34" charset="0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B5BAF05-C779-43AC-9D1D-9E88F4EAD3A5}"/>
                </a:ext>
              </a:extLst>
            </p:cNvPr>
            <p:cNvSpPr/>
            <p:nvPr/>
          </p:nvSpPr>
          <p:spPr>
            <a:xfrm>
              <a:off x="2571632" y="4809526"/>
              <a:ext cx="2367245" cy="409799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rgbClr val="324D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5344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4AB6FB1-07BD-4C91-BADC-BD1A3A6899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solidFill>
                    <a:prstClr val="white">
                      <a:lumMod val="65000"/>
                      <a:alpha val="50000"/>
                    </a:prstClr>
                  </a:solidFill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solidFill>
                  <a:prstClr val="white">
                    <a:lumMod val="65000"/>
                    <a:alpha val="50000"/>
                  </a:prstClr>
                </a:solidFill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맑은 고딕" pitchFamily="50" charset="-127"/>
              <a:cs typeface="+mn-cs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348006-BD7D-49B9-9E95-2D4DDBEBC3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" y="-44888"/>
            <a:ext cx="6538022" cy="72834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 dirty="0"/>
              <a:t>IEEE 802.15.4 MAC</a:t>
            </a:r>
          </a:p>
        </p:txBody>
      </p:sp>
      <p:sp>
        <p:nvSpPr>
          <p:cNvPr id="21" name="내용 개체 틀 6">
            <a:extLst>
              <a:ext uri="{FF2B5EF4-FFF2-40B4-BE49-F238E27FC236}">
                <a16:creationId xmlns:a16="http://schemas.microsoft.com/office/drawing/2014/main" id="{B42B2885-7CF8-4B4B-B3B1-246F7CE320B9}"/>
              </a:ext>
            </a:extLst>
          </p:cNvPr>
          <p:cNvSpPr txBox="1">
            <a:spLocks/>
          </p:cNvSpPr>
          <p:nvPr/>
        </p:nvSpPr>
        <p:spPr>
          <a:xfrm>
            <a:off x="152400" y="784945"/>
            <a:ext cx="96012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Superframe structure</a:t>
            </a:r>
          </a:p>
          <a:p>
            <a:pPr marL="81915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2000" b="1" dirty="0"/>
              <a:t>Active period</a:t>
            </a:r>
          </a:p>
          <a:p>
            <a:pPr lvl="2">
              <a:lnSpc>
                <a:spcPct val="150000"/>
              </a:lnSpc>
            </a:pPr>
            <a:r>
              <a:rPr lang="en-US" altLang="ko-KR" sz="1600" dirty="0"/>
              <a:t>Active period</a:t>
            </a:r>
            <a:r>
              <a:rPr lang="ko-KR" altLang="en-US" sz="1600" dirty="0"/>
              <a:t>는 같은 </a:t>
            </a:r>
            <a:r>
              <a:rPr lang="en-US" altLang="ko-KR" sz="1600" dirty="0"/>
              <a:t>size</a:t>
            </a:r>
            <a:r>
              <a:rPr lang="ko-KR" altLang="en-US" sz="1600" dirty="0"/>
              <a:t>의 </a:t>
            </a:r>
            <a:r>
              <a:rPr lang="en-US" altLang="ko-KR" sz="1600" dirty="0"/>
              <a:t>16</a:t>
            </a:r>
            <a:r>
              <a:rPr lang="ko-KR" altLang="en-US" sz="1600" dirty="0"/>
              <a:t>개 </a:t>
            </a:r>
            <a:r>
              <a:rPr lang="en-US" altLang="ko-KR" sz="1600" dirty="0"/>
              <a:t>slot</a:t>
            </a:r>
            <a:r>
              <a:rPr lang="ko-KR" altLang="en-US" sz="1600" dirty="0"/>
              <a:t>으로 나뉨</a:t>
            </a:r>
            <a:endParaRPr lang="en-US" altLang="ko-KR" sz="1600" dirty="0"/>
          </a:p>
          <a:p>
            <a:pPr lvl="2">
              <a:lnSpc>
                <a:spcPct val="150000"/>
              </a:lnSpc>
            </a:pPr>
            <a:r>
              <a:rPr lang="en-US" altLang="ko-KR" sz="1600" dirty="0"/>
              <a:t>Active period</a:t>
            </a:r>
            <a:r>
              <a:rPr lang="ko-KR" altLang="en-US" sz="1600" dirty="0"/>
              <a:t>는 </a:t>
            </a:r>
            <a:r>
              <a:rPr lang="en-US" altLang="ko-KR" sz="1600" dirty="0"/>
              <a:t>3</a:t>
            </a:r>
            <a:r>
              <a:rPr lang="ko-KR" altLang="en-US" sz="1600" dirty="0"/>
              <a:t>가지 </a:t>
            </a:r>
            <a:r>
              <a:rPr lang="en-US" altLang="ko-KR" sz="1600" dirty="0"/>
              <a:t>part</a:t>
            </a:r>
            <a:r>
              <a:rPr lang="ko-KR" altLang="en-US" sz="1600" dirty="0"/>
              <a:t>로 나뉨</a:t>
            </a:r>
            <a:endParaRPr lang="en-US" altLang="ko-KR" sz="1600" dirty="0"/>
          </a:p>
          <a:p>
            <a:pPr lvl="3">
              <a:lnSpc>
                <a:spcPct val="150000"/>
              </a:lnSpc>
            </a:pPr>
            <a:r>
              <a:rPr lang="en-US" altLang="ko-KR" sz="1400" dirty="0"/>
              <a:t>Beacon</a:t>
            </a:r>
            <a:endParaRPr lang="ko-KR" altLang="en-US" sz="1400" dirty="0"/>
          </a:p>
          <a:p>
            <a:pPr lvl="3">
              <a:lnSpc>
                <a:spcPct val="150000"/>
              </a:lnSpc>
            </a:pPr>
            <a:r>
              <a:rPr lang="en-US" altLang="ko-KR" sz="1400" dirty="0"/>
              <a:t>Contention Access period (CAP)</a:t>
            </a:r>
          </a:p>
          <a:p>
            <a:pPr lvl="3">
              <a:lnSpc>
                <a:spcPct val="150000"/>
              </a:lnSpc>
            </a:pPr>
            <a:r>
              <a:rPr lang="en-US" altLang="ko-KR" sz="1400" dirty="0"/>
              <a:t>Contention Free period (CFP)</a:t>
            </a:r>
          </a:p>
          <a:p>
            <a:pPr lvl="2">
              <a:lnSpc>
                <a:spcPct val="150000"/>
              </a:lnSpc>
            </a:pPr>
            <a:endParaRPr lang="en-US" altLang="ko-KR" sz="1600" b="1" dirty="0"/>
          </a:p>
          <a:p>
            <a:pPr lvl="2">
              <a:lnSpc>
                <a:spcPct val="150000"/>
              </a:lnSpc>
            </a:pP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61950" lvl="1" indent="0">
              <a:lnSpc>
                <a:spcPct val="150000"/>
              </a:lnSpc>
              <a:buNone/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altLang="ko-KR" sz="1800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2000" b="1" dirty="0"/>
          </a:p>
          <a:p>
            <a:pPr lvl="1">
              <a:lnSpc>
                <a:spcPct val="150000"/>
              </a:lnSpc>
            </a:pPr>
            <a:endParaRPr lang="en-US" altLang="ko-KR" sz="11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F497CD4-95B6-427B-A464-C9D730BC5D8D}"/>
              </a:ext>
            </a:extLst>
          </p:cNvPr>
          <p:cNvGrpSpPr/>
          <p:nvPr/>
        </p:nvGrpSpPr>
        <p:grpSpPr>
          <a:xfrm>
            <a:off x="3987256" y="3645024"/>
            <a:ext cx="5406331" cy="2773743"/>
            <a:chOff x="3867149" y="3160849"/>
            <a:chExt cx="6038851" cy="3363789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8BED8AC3-BE9B-47C1-9E72-540EC6C10AA1}"/>
                </a:ext>
              </a:extLst>
            </p:cNvPr>
            <p:cNvGrpSpPr/>
            <p:nvPr/>
          </p:nvGrpSpPr>
          <p:grpSpPr>
            <a:xfrm>
              <a:off x="3867149" y="3226052"/>
              <a:ext cx="6038851" cy="3298586"/>
              <a:chOff x="1933574" y="3221673"/>
              <a:chExt cx="6038851" cy="3298586"/>
            </a:xfrm>
          </p:grpSpPr>
          <p:pic>
            <p:nvPicPr>
              <p:cNvPr id="15" name="Picture 3">
                <a:extLst>
                  <a:ext uri="{FF2B5EF4-FFF2-40B4-BE49-F238E27FC236}">
                    <a16:creationId xmlns:a16="http://schemas.microsoft.com/office/drawing/2014/main" id="{4950A6CD-F939-4283-99B9-304383F2E9F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33574" y="3815513"/>
                <a:ext cx="6038851" cy="27047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" name="왼쪽 중괄호 5">
                <a:extLst>
                  <a:ext uri="{FF2B5EF4-FFF2-40B4-BE49-F238E27FC236}">
                    <a16:creationId xmlns:a16="http://schemas.microsoft.com/office/drawing/2014/main" id="{FA3AB0B9-B8D5-4B6F-93B5-7E862EF1C4AA}"/>
                  </a:ext>
                </a:extLst>
              </p:cNvPr>
              <p:cNvSpPr/>
              <p:nvPr/>
            </p:nvSpPr>
            <p:spPr>
              <a:xfrm rot="5400000">
                <a:off x="3551792" y="2553576"/>
                <a:ext cx="147456" cy="2615201"/>
              </a:xfrm>
              <a:prstGeom prst="leftBrac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왼쪽 중괄호 8">
                <a:extLst>
                  <a:ext uri="{FF2B5EF4-FFF2-40B4-BE49-F238E27FC236}">
                    <a16:creationId xmlns:a16="http://schemas.microsoft.com/office/drawing/2014/main" id="{0D354CD0-F389-4534-A979-78D3DA94B828}"/>
                  </a:ext>
                </a:extLst>
              </p:cNvPr>
              <p:cNvSpPr/>
              <p:nvPr/>
            </p:nvSpPr>
            <p:spPr>
              <a:xfrm rot="5400000">
                <a:off x="6245262" y="2548600"/>
                <a:ext cx="147455" cy="2615200"/>
              </a:xfrm>
              <a:prstGeom prst="leftBrac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4B4910-B2F9-46C7-99A6-F82C0E66ABE6}"/>
                  </a:ext>
                </a:extLst>
              </p:cNvPr>
              <p:cNvSpPr txBox="1"/>
              <p:nvPr/>
            </p:nvSpPr>
            <p:spPr>
              <a:xfrm>
                <a:off x="2911101" y="3221867"/>
                <a:ext cx="1676868" cy="410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Active period</a:t>
                </a:r>
                <a:endParaRPr lang="ko-KR" altLang="en-US" sz="1600" dirty="0" err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88F8600-E03D-461E-BB7E-E1BF74D229A5}"/>
                  </a:ext>
                </a:extLst>
              </p:cNvPr>
              <p:cNvSpPr txBox="1"/>
              <p:nvPr/>
            </p:nvSpPr>
            <p:spPr>
              <a:xfrm>
                <a:off x="5488725" y="3221673"/>
                <a:ext cx="1913774" cy="410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Inactive </a:t>
                </a:r>
                <a:r>
                  <a:rPr lang="en-US" altLang="ko-KR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period</a:t>
                </a:r>
                <a:endParaRPr lang="ko-KR" altLang="en-US" sz="1600" dirty="0" err="1">
                  <a:latin typeface="Arial" panose="020B0604020202020204" pitchFamily="34" charset="0"/>
                  <a:ea typeface="+mj-ea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FBDF2E6C-7866-40EA-9AD4-C23DAEA29AE8}"/>
                </a:ext>
              </a:extLst>
            </p:cNvPr>
            <p:cNvCxnSpPr>
              <a:cxnSpLocks/>
            </p:cNvCxnSpPr>
            <p:nvPr/>
          </p:nvCxnSpPr>
          <p:spPr>
            <a:xfrm>
              <a:off x="6895269" y="3160849"/>
              <a:ext cx="0" cy="2664913"/>
            </a:xfrm>
            <a:prstGeom prst="line">
              <a:avLst/>
            </a:prstGeom>
            <a:ln w="285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2543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4AB6FB1-07BD-4C91-BADC-BD1A3A6899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solidFill>
                    <a:prstClr val="white">
                      <a:lumMod val="65000"/>
                      <a:alpha val="50000"/>
                    </a:prstClr>
                  </a:solidFill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solidFill>
                  <a:prstClr val="white">
                    <a:lumMod val="65000"/>
                    <a:alpha val="50000"/>
                  </a:prstClr>
                </a:solidFill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맑은 고딕" pitchFamily="50" charset="-127"/>
              <a:cs typeface="+mn-cs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348006-BD7D-49B9-9E95-2D4DDBEBC3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" y="-79591"/>
            <a:ext cx="6538022" cy="72834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 dirty="0"/>
              <a:t>IEEE 802.15.4 MAC</a:t>
            </a:r>
          </a:p>
        </p:txBody>
      </p:sp>
      <p:sp>
        <p:nvSpPr>
          <p:cNvPr id="21" name="내용 개체 틀 6">
            <a:extLst>
              <a:ext uri="{FF2B5EF4-FFF2-40B4-BE49-F238E27FC236}">
                <a16:creationId xmlns:a16="http://schemas.microsoft.com/office/drawing/2014/main" id="{B42B2885-7CF8-4B4B-B3B1-246F7CE320B9}"/>
              </a:ext>
            </a:extLst>
          </p:cNvPr>
          <p:cNvSpPr txBox="1">
            <a:spLocks/>
          </p:cNvSpPr>
          <p:nvPr/>
        </p:nvSpPr>
        <p:spPr>
          <a:xfrm>
            <a:off x="56456" y="784945"/>
            <a:ext cx="9849544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Superframe Structure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chemeClr val="accent1"/>
                </a:solidFill>
              </a:rPr>
              <a:t>Beacon</a:t>
            </a:r>
            <a:endParaRPr lang="en-US" altLang="ko-KR" sz="2000" b="1" dirty="0"/>
          </a:p>
          <a:p>
            <a:pPr lvl="2">
              <a:lnSpc>
                <a:spcPct val="150000"/>
              </a:lnSpc>
            </a:pPr>
            <a:r>
              <a:rPr lang="ko-KR" altLang="en-US" sz="1200" dirty="0"/>
              <a:t>각 </a:t>
            </a:r>
            <a:r>
              <a:rPr lang="en-US" altLang="ko-KR" sz="1200" dirty="0"/>
              <a:t>Superframe</a:t>
            </a:r>
            <a:r>
              <a:rPr lang="ko-KR" altLang="en-US" sz="1200" dirty="0"/>
              <a:t>의 첫 번째 </a:t>
            </a:r>
            <a:r>
              <a:rPr lang="en-US" altLang="ko-KR" sz="1200" dirty="0"/>
              <a:t>slot</a:t>
            </a:r>
            <a:r>
              <a:rPr lang="ko-KR" altLang="en-US" sz="1200" dirty="0"/>
              <a:t>에서 전송됨 </a:t>
            </a:r>
            <a:r>
              <a:rPr lang="en-US" altLang="ko-KR" sz="1200" dirty="0"/>
              <a:t>(Superframe</a:t>
            </a:r>
            <a:r>
              <a:rPr lang="ko-KR" altLang="en-US" sz="1200" dirty="0"/>
              <a:t>을 시작할 때 사용</a:t>
            </a:r>
            <a:r>
              <a:rPr lang="en-US" altLang="ko-KR" sz="1200" dirty="0"/>
              <a:t>)</a:t>
            </a:r>
          </a:p>
          <a:p>
            <a:pPr lvl="2">
              <a:lnSpc>
                <a:spcPct val="150000"/>
              </a:lnSpc>
            </a:pPr>
            <a:r>
              <a:rPr lang="ko-KR" altLang="en-US" sz="1200" dirty="0"/>
              <a:t>네트워크 안의 다른 </a:t>
            </a:r>
            <a:r>
              <a:rPr lang="en-US" altLang="ko-KR" sz="1200" dirty="0"/>
              <a:t>device</a:t>
            </a:r>
            <a:r>
              <a:rPr lang="ko-KR" altLang="en-US" sz="1200" dirty="0"/>
              <a:t>와 동기화를 위해 사용</a:t>
            </a:r>
            <a:endParaRPr lang="en-US" altLang="ko-KR" sz="1200" dirty="0"/>
          </a:p>
          <a:p>
            <a:pPr lvl="2">
              <a:lnSpc>
                <a:spcPct val="150000"/>
              </a:lnSpc>
            </a:pPr>
            <a:r>
              <a:rPr lang="en-GB" altLang="ko-KR" sz="1200" dirty="0"/>
              <a:t>PAN coordinator</a:t>
            </a:r>
            <a:r>
              <a:rPr lang="ko-KR" altLang="en-US" sz="1200" dirty="0"/>
              <a:t>가 전송</a:t>
            </a:r>
            <a:endParaRPr lang="en-US" altLang="ko-KR" sz="1200" dirty="0"/>
          </a:p>
          <a:p>
            <a:pPr lvl="2">
              <a:lnSpc>
                <a:spcPct val="150000"/>
              </a:lnSpc>
            </a:pPr>
            <a:r>
              <a:rPr lang="ko-KR" altLang="en-US" sz="1200" dirty="0"/>
              <a:t>네트워크 정보 포함</a:t>
            </a:r>
            <a:r>
              <a:rPr lang="en-US" altLang="ko-KR" sz="1200" dirty="0"/>
              <a:t>, </a:t>
            </a:r>
            <a:r>
              <a:rPr lang="ko-KR" altLang="en-US" sz="1200" dirty="0"/>
              <a:t>프레임 구조 및 보류중인 노드 메시지 알림</a:t>
            </a:r>
            <a:endParaRPr lang="en-US" altLang="ko-KR" sz="1200" dirty="0"/>
          </a:p>
          <a:p>
            <a:pPr lvl="2">
              <a:lnSpc>
                <a:spcPct val="150000"/>
              </a:lnSpc>
            </a:pPr>
            <a:r>
              <a:rPr lang="en-US" altLang="ko-KR" sz="1200" dirty="0"/>
              <a:t>Beacon</a:t>
            </a:r>
            <a:r>
              <a:rPr lang="ko-KR" altLang="en-US" sz="1200" dirty="0"/>
              <a:t>이 수신되면 </a:t>
            </a:r>
            <a:r>
              <a:rPr lang="en-US" altLang="ko-KR" sz="1200" dirty="0"/>
              <a:t>device</a:t>
            </a:r>
            <a:r>
              <a:rPr lang="ko-KR" altLang="en-US" sz="1200" dirty="0"/>
              <a:t>는 </a:t>
            </a:r>
            <a:r>
              <a:rPr lang="en-US" altLang="ko-KR" sz="1200" dirty="0"/>
              <a:t>Superframe </a:t>
            </a:r>
            <a:r>
              <a:rPr lang="ko-KR" altLang="en-US" sz="1200" dirty="0"/>
              <a:t>구조로 동기화하고</a:t>
            </a:r>
            <a:r>
              <a:rPr lang="en-US" altLang="ko-KR" sz="1200" dirty="0"/>
              <a:t>, </a:t>
            </a:r>
            <a:r>
              <a:rPr lang="ko-KR" altLang="en-US" sz="1200" dirty="0"/>
              <a:t>적절한 시점에 </a:t>
            </a:r>
            <a:r>
              <a:rPr lang="en-US" altLang="ko-KR" sz="1200" dirty="0"/>
              <a:t>device</a:t>
            </a:r>
            <a:r>
              <a:rPr lang="ko-KR" altLang="en-US" sz="1200" dirty="0"/>
              <a:t>는 </a:t>
            </a:r>
            <a:r>
              <a:rPr lang="en-US" altLang="ko-KR" sz="1200" dirty="0"/>
              <a:t>slotted CSMA-CA</a:t>
            </a:r>
            <a:r>
              <a:rPr lang="ko-KR" altLang="en-US" sz="1200" dirty="0"/>
              <a:t>를 사용하여 </a:t>
            </a:r>
            <a:r>
              <a:rPr lang="en-GB" altLang="ko-KR" sz="1200" dirty="0"/>
              <a:t>coordinator</a:t>
            </a:r>
            <a:r>
              <a:rPr lang="ko-KR" altLang="en-US" sz="1200" dirty="0"/>
              <a:t>로 </a:t>
            </a:r>
            <a:r>
              <a:rPr lang="en-US" altLang="ko-KR" sz="1200" dirty="0"/>
              <a:t>data frame</a:t>
            </a:r>
            <a:r>
              <a:rPr lang="ko-KR" altLang="en-US" sz="1200" dirty="0"/>
              <a:t> 전송</a:t>
            </a:r>
            <a:endParaRPr lang="en-US" altLang="ko-KR" sz="1200" dirty="0"/>
          </a:p>
          <a:p>
            <a:pPr lvl="2">
              <a:lnSpc>
                <a:spcPct val="150000"/>
              </a:lnSpc>
            </a:pPr>
            <a:endParaRPr lang="ko-KR" altLang="en-US" sz="12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5183295-7B80-40BE-951C-453BC3E03518}"/>
              </a:ext>
            </a:extLst>
          </p:cNvPr>
          <p:cNvGrpSpPr/>
          <p:nvPr/>
        </p:nvGrpSpPr>
        <p:grpSpPr>
          <a:xfrm>
            <a:off x="1842373" y="3861048"/>
            <a:ext cx="6221254" cy="2786443"/>
            <a:chOff x="1928664" y="3305941"/>
            <a:chExt cx="6221254" cy="2786443"/>
          </a:xfrm>
        </p:grpSpPr>
        <p:pic>
          <p:nvPicPr>
            <p:cNvPr id="6" name="Picture 3">
              <a:extLst>
                <a:ext uri="{FF2B5EF4-FFF2-40B4-BE49-F238E27FC236}">
                  <a16:creationId xmlns:a16="http://schemas.microsoft.com/office/drawing/2014/main" id="{E019C424-6B2B-4EA5-88A8-F360003F67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8664" y="3305941"/>
              <a:ext cx="6221254" cy="2786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94FAAF1A-08CF-4E5C-B127-32BC32E51649}"/>
                </a:ext>
              </a:extLst>
            </p:cNvPr>
            <p:cNvSpPr/>
            <p:nvPr/>
          </p:nvSpPr>
          <p:spPr>
            <a:xfrm>
              <a:off x="2142193" y="3398192"/>
              <a:ext cx="459281" cy="195185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4378A4B1-DA19-4880-BC85-080BE1457A9F}"/>
                </a:ext>
              </a:extLst>
            </p:cNvPr>
            <p:cNvSpPr/>
            <p:nvPr/>
          </p:nvSpPr>
          <p:spPr>
            <a:xfrm>
              <a:off x="7529026" y="3420509"/>
              <a:ext cx="459279" cy="195186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8562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4AB6FB1-07BD-4C91-BADC-BD1A3A6899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solidFill>
                    <a:prstClr val="white">
                      <a:lumMod val="65000"/>
                      <a:alpha val="50000"/>
                    </a:prstClr>
                  </a:solidFill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solidFill>
                  <a:prstClr val="white">
                    <a:lumMod val="65000"/>
                    <a:alpha val="50000"/>
                  </a:prstClr>
                </a:solidFill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맑은 고딕" pitchFamily="50" charset="-127"/>
              <a:cs typeface="+mn-cs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348006-BD7D-49B9-9E95-2D4DDBEBC3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" y="-55446"/>
            <a:ext cx="6538022" cy="73562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 dirty="0"/>
              <a:t>IEEE 802.15.4 MAC</a:t>
            </a:r>
          </a:p>
        </p:txBody>
      </p:sp>
      <p:sp>
        <p:nvSpPr>
          <p:cNvPr id="21" name="내용 개체 틀 6">
            <a:extLst>
              <a:ext uri="{FF2B5EF4-FFF2-40B4-BE49-F238E27FC236}">
                <a16:creationId xmlns:a16="http://schemas.microsoft.com/office/drawing/2014/main" id="{B42B2885-7CF8-4B4B-B3B1-246F7CE320B9}"/>
              </a:ext>
            </a:extLst>
          </p:cNvPr>
          <p:cNvSpPr txBox="1">
            <a:spLocks/>
          </p:cNvSpPr>
          <p:nvPr/>
        </p:nvSpPr>
        <p:spPr>
          <a:xfrm>
            <a:off x="152400" y="784945"/>
            <a:ext cx="9601200" cy="5735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Active period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chemeClr val="accent1"/>
                </a:solidFill>
              </a:rPr>
              <a:t>CAP </a:t>
            </a:r>
            <a:r>
              <a:rPr lang="en-US" altLang="ko-KR" sz="1800" dirty="0">
                <a:solidFill>
                  <a:schemeClr val="accent1"/>
                </a:solidFill>
              </a:rPr>
              <a:t>(Contention Access Period)</a:t>
            </a:r>
          </a:p>
          <a:p>
            <a:pPr lvl="2">
              <a:lnSpc>
                <a:spcPct val="150000"/>
              </a:lnSpc>
            </a:pPr>
            <a:r>
              <a:rPr lang="en-US" altLang="ko-KR" sz="1400" dirty="0"/>
              <a:t>Beacon </a:t>
            </a:r>
            <a:r>
              <a:rPr lang="ko-KR" altLang="en-US" sz="1400" dirty="0"/>
              <a:t>다음으로 시작하며 </a:t>
            </a:r>
            <a:r>
              <a:rPr lang="en-US" altLang="ko-KR" sz="1400" dirty="0"/>
              <a:t>device</a:t>
            </a:r>
            <a:r>
              <a:rPr lang="ko-KR" altLang="en-US" sz="1400" dirty="0"/>
              <a:t>가 통신을 원하는 구간 </a:t>
            </a:r>
            <a:r>
              <a:rPr lang="en-US" altLang="ko-KR" sz="1400" dirty="0"/>
              <a:t>(Device </a:t>
            </a:r>
            <a:r>
              <a:rPr lang="ko-KR" altLang="en-US" sz="1400" dirty="0"/>
              <a:t>간의 경쟁 구간</a:t>
            </a:r>
            <a:r>
              <a:rPr lang="en-US" altLang="ko-KR" sz="1400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sz="1400" dirty="0"/>
              <a:t>Slotted CSMA-CA mechanism</a:t>
            </a:r>
            <a:r>
              <a:rPr lang="ko-KR" altLang="en-US" sz="1400" dirty="0"/>
              <a:t>으로 동작</a:t>
            </a:r>
            <a:endParaRPr lang="en-US" altLang="ko-KR" sz="1400" dirty="0"/>
          </a:p>
          <a:p>
            <a:pPr lvl="3">
              <a:lnSpc>
                <a:spcPct val="150000"/>
              </a:lnSpc>
            </a:pPr>
            <a:endParaRPr lang="en-US" altLang="ko-KR" sz="1200" dirty="0"/>
          </a:p>
          <a:p>
            <a:pPr lvl="2">
              <a:lnSpc>
                <a:spcPct val="150000"/>
              </a:lnSpc>
            </a:pPr>
            <a:endParaRPr lang="en-US" altLang="ko-KR" sz="1400" dirty="0">
              <a:solidFill>
                <a:srgbClr val="495434"/>
              </a:solidFill>
            </a:endParaRPr>
          </a:p>
          <a:p>
            <a:pPr lvl="1">
              <a:lnSpc>
                <a:spcPct val="150000"/>
              </a:lnSpc>
            </a:pPr>
            <a:endParaRPr lang="en-US" altLang="ko-KR" sz="1800" b="1" dirty="0"/>
          </a:p>
          <a:p>
            <a:pPr lvl="1">
              <a:lnSpc>
                <a:spcPct val="150000"/>
              </a:lnSpc>
            </a:pPr>
            <a:endParaRPr lang="en-US" altLang="ko-KR" sz="1200" dirty="0"/>
          </a:p>
          <a:p>
            <a:pPr lvl="1">
              <a:lnSpc>
                <a:spcPct val="150000"/>
              </a:lnSpc>
            </a:pPr>
            <a:endParaRPr lang="en-US" altLang="ko-KR" sz="120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6D7ED7E-EBFB-43F2-B944-05B4DC5C8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544" y="3539305"/>
            <a:ext cx="3826159" cy="277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8834CCC2-26FF-4BEB-99A9-55ECE57FF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4787" y="4620250"/>
            <a:ext cx="3672408" cy="1690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8390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4AB6FB1-07BD-4C91-BADC-BD1A3A6899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solidFill>
                    <a:prstClr val="white">
                      <a:lumMod val="65000"/>
                      <a:alpha val="50000"/>
                    </a:prstClr>
                  </a:solidFill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solidFill>
                  <a:prstClr val="white">
                    <a:lumMod val="65000"/>
                    <a:alpha val="50000"/>
                  </a:prstClr>
                </a:solidFill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맑은 고딕" pitchFamily="50" charset="-127"/>
              <a:cs typeface="+mn-cs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348006-BD7D-49B9-9E95-2D4DDBEBC3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" y="-35645"/>
            <a:ext cx="6538022" cy="72834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 dirty="0"/>
              <a:t>IEEE 802.15.4 MAC</a:t>
            </a:r>
          </a:p>
        </p:txBody>
      </p:sp>
      <p:sp>
        <p:nvSpPr>
          <p:cNvPr id="21" name="내용 개체 틀 6">
            <a:extLst>
              <a:ext uri="{FF2B5EF4-FFF2-40B4-BE49-F238E27FC236}">
                <a16:creationId xmlns:a16="http://schemas.microsoft.com/office/drawing/2014/main" id="{B42B2885-7CF8-4B4B-B3B1-246F7CE320B9}"/>
              </a:ext>
            </a:extLst>
          </p:cNvPr>
          <p:cNvSpPr txBox="1">
            <a:spLocks/>
          </p:cNvSpPr>
          <p:nvPr/>
        </p:nvSpPr>
        <p:spPr>
          <a:xfrm>
            <a:off x="152400" y="784945"/>
            <a:ext cx="9601200" cy="5735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Active period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chemeClr val="accent1"/>
                </a:solidFill>
              </a:rPr>
              <a:t>CFP </a:t>
            </a:r>
            <a:r>
              <a:rPr lang="en-US" altLang="ko-KR" sz="1800" dirty="0">
                <a:solidFill>
                  <a:schemeClr val="accent1"/>
                </a:solidFill>
              </a:rPr>
              <a:t>(Contention Free Period)</a:t>
            </a:r>
          </a:p>
          <a:p>
            <a:pPr lvl="2">
              <a:lnSpc>
                <a:spcPct val="150000"/>
              </a:lnSpc>
            </a:pPr>
            <a:r>
              <a:rPr lang="en-US" altLang="ko-KR" sz="1400" dirty="0"/>
              <a:t>Optional </a:t>
            </a:r>
            <a:r>
              <a:rPr lang="ko-KR" altLang="en-US" sz="1400" dirty="0"/>
              <a:t>구간 </a:t>
            </a:r>
            <a:r>
              <a:rPr lang="en-US" altLang="ko-KR" sz="1200" dirty="0"/>
              <a:t>(CAP</a:t>
            </a:r>
            <a:r>
              <a:rPr lang="ko-KR" altLang="en-US" sz="1200" dirty="0"/>
              <a:t>의 상황에 따라 </a:t>
            </a:r>
            <a:r>
              <a:rPr lang="en-US" altLang="ko-KR" sz="1200" dirty="0"/>
              <a:t>GTS</a:t>
            </a:r>
            <a:r>
              <a:rPr lang="ko-KR" altLang="en-US" sz="1200" dirty="0"/>
              <a:t> 할당이 이루어지지 않을 수도 있음 </a:t>
            </a:r>
            <a:r>
              <a:rPr lang="en-US" altLang="ko-KR" sz="1200" dirty="0"/>
              <a:t>= Option</a:t>
            </a:r>
            <a:r>
              <a:rPr lang="ko-KR" altLang="en-US" sz="1200" dirty="0"/>
              <a:t>임</a:t>
            </a:r>
            <a:r>
              <a:rPr lang="en-US" altLang="ko-KR" sz="1200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sz="1400" dirty="0"/>
              <a:t>Station</a:t>
            </a:r>
            <a:r>
              <a:rPr lang="ko-KR" altLang="en-US" sz="1400" dirty="0"/>
              <a:t>에게 </a:t>
            </a:r>
            <a:r>
              <a:rPr lang="en-US" altLang="ko-KR" sz="1400" dirty="0"/>
              <a:t>GTS (guaranteed time slot)</a:t>
            </a:r>
            <a:r>
              <a:rPr lang="ko-KR" altLang="en-US" sz="1400" dirty="0"/>
              <a:t>를 할당하여 비경쟁적으로 동작</a:t>
            </a:r>
            <a:endParaRPr lang="en-US" altLang="ko-KR" sz="1400" dirty="0"/>
          </a:p>
          <a:p>
            <a:pPr lvl="2">
              <a:lnSpc>
                <a:spcPct val="150000"/>
              </a:lnSpc>
            </a:pPr>
            <a:r>
              <a:rPr lang="en-US" altLang="ko-KR" sz="1400" dirty="0"/>
              <a:t>GTS</a:t>
            </a:r>
            <a:r>
              <a:rPr lang="ko-KR" altLang="en-US" sz="1400" dirty="0"/>
              <a:t>는 최대 </a:t>
            </a:r>
            <a:r>
              <a:rPr lang="en-US" altLang="ko-KR" sz="1400" dirty="0"/>
              <a:t>7</a:t>
            </a:r>
            <a:r>
              <a:rPr lang="ko-KR" altLang="en-US" sz="1400" dirty="0"/>
              <a:t>개까지 할당이 가능하며</a:t>
            </a:r>
            <a:r>
              <a:rPr lang="en-US" altLang="ko-KR" sz="1400" dirty="0"/>
              <a:t>,  </a:t>
            </a:r>
            <a:r>
              <a:rPr lang="ko-KR" altLang="en-US" sz="1400" dirty="0"/>
              <a:t>한 개 이상의 </a:t>
            </a:r>
            <a:r>
              <a:rPr lang="en-US" altLang="ko-KR" sz="1400" dirty="0"/>
              <a:t>slot</a:t>
            </a:r>
            <a:r>
              <a:rPr lang="ko-KR" altLang="en-US" sz="1400" dirty="0"/>
              <a:t>을 가짐</a:t>
            </a:r>
            <a:endParaRPr lang="en-US" altLang="ko-KR" sz="1400" dirty="0"/>
          </a:p>
          <a:p>
            <a:pPr lvl="2">
              <a:lnSpc>
                <a:spcPct val="150000"/>
              </a:lnSpc>
            </a:pPr>
            <a:endParaRPr lang="en-US" altLang="ko-KR" sz="1400" dirty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800" dirty="0">
                <a:solidFill>
                  <a:schemeClr val="accent1"/>
                </a:solidFill>
              </a:rPr>
              <a:t> GTS </a:t>
            </a:r>
            <a:r>
              <a:rPr lang="en-US" altLang="ko-KR" sz="1600" dirty="0">
                <a:solidFill>
                  <a:schemeClr val="accent1"/>
                </a:solidFill>
              </a:rPr>
              <a:t>(Guaranteed time slots)</a:t>
            </a:r>
          </a:p>
          <a:p>
            <a:pPr lvl="3">
              <a:lnSpc>
                <a:spcPct val="150000"/>
              </a:lnSpc>
            </a:pPr>
            <a:r>
              <a:rPr lang="en-US" altLang="ko-KR" sz="1100" dirty="0"/>
              <a:t>PAN coordinator</a:t>
            </a:r>
            <a:r>
              <a:rPr lang="ko-KR" altLang="en-US" sz="1100" dirty="0"/>
              <a:t>가 최대 </a:t>
            </a:r>
            <a:r>
              <a:rPr lang="en-US" altLang="ko-KR" sz="1100" dirty="0"/>
              <a:t>7</a:t>
            </a:r>
            <a:r>
              <a:rPr lang="ko-KR" altLang="en-US" sz="1100" dirty="0"/>
              <a:t>개의 </a:t>
            </a:r>
            <a:r>
              <a:rPr lang="en-US" altLang="ko-KR" sz="1100" dirty="0"/>
              <a:t>GTS </a:t>
            </a:r>
            <a:r>
              <a:rPr lang="ko-KR" altLang="en-US" sz="1100" dirty="0"/>
              <a:t>할당 가능</a:t>
            </a:r>
            <a:endParaRPr lang="en-US" altLang="ko-KR" sz="1100" dirty="0"/>
          </a:p>
          <a:p>
            <a:pPr lvl="3">
              <a:lnSpc>
                <a:spcPct val="150000"/>
              </a:lnSpc>
            </a:pPr>
            <a:r>
              <a:rPr lang="ko-KR" altLang="en-US" sz="1100" dirty="0"/>
              <a:t>한 개 이상의 </a:t>
            </a:r>
            <a:r>
              <a:rPr lang="en-US" altLang="ko-KR" sz="1100" dirty="0"/>
              <a:t>slot</a:t>
            </a:r>
            <a:r>
              <a:rPr lang="ko-KR" altLang="en-US" sz="1100" dirty="0"/>
              <a:t>을 가짐</a:t>
            </a:r>
            <a:endParaRPr lang="en-US" altLang="ko-KR" sz="1100" dirty="0"/>
          </a:p>
          <a:p>
            <a:pPr lvl="3">
              <a:lnSpc>
                <a:spcPct val="150000"/>
              </a:lnSpc>
            </a:pPr>
            <a:r>
              <a:rPr lang="en-US" altLang="ko-KR" sz="1100" dirty="0"/>
              <a:t>CAP</a:t>
            </a:r>
            <a:r>
              <a:rPr lang="ko-KR" altLang="en-US" sz="1100" dirty="0"/>
              <a:t>의 뒤</a:t>
            </a:r>
            <a:r>
              <a:rPr lang="en-US" altLang="ko-KR" sz="1100" dirty="0"/>
              <a:t>, active period</a:t>
            </a:r>
            <a:r>
              <a:rPr lang="ko-KR" altLang="en-US" sz="1100" dirty="0"/>
              <a:t>의 끝에 할당</a:t>
            </a:r>
            <a:endParaRPr lang="en-US" altLang="ko-KR" sz="1100" dirty="0"/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 lvl="2">
              <a:lnSpc>
                <a:spcPct val="150000"/>
              </a:lnSpc>
            </a:pPr>
            <a:endParaRPr lang="en-US" altLang="ko-KR" sz="1400" dirty="0"/>
          </a:p>
          <a:p>
            <a:pPr lvl="2">
              <a:lnSpc>
                <a:spcPct val="150000"/>
              </a:lnSpc>
            </a:pPr>
            <a:endParaRPr lang="en-US" altLang="ko-KR" sz="1400" dirty="0">
              <a:solidFill>
                <a:srgbClr val="495434"/>
              </a:solidFill>
            </a:endParaRPr>
          </a:p>
          <a:p>
            <a:pPr lvl="1">
              <a:lnSpc>
                <a:spcPct val="150000"/>
              </a:lnSpc>
            </a:pPr>
            <a:endParaRPr lang="en-US" altLang="ko-KR" sz="1800" b="1" dirty="0"/>
          </a:p>
          <a:p>
            <a:pPr lvl="1">
              <a:lnSpc>
                <a:spcPct val="150000"/>
              </a:lnSpc>
            </a:pPr>
            <a:endParaRPr lang="en-US" altLang="ko-KR" sz="1200" dirty="0"/>
          </a:p>
          <a:p>
            <a:pPr lvl="1">
              <a:lnSpc>
                <a:spcPct val="150000"/>
              </a:lnSpc>
            </a:pPr>
            <a:endParaRPr lang="en-US" altLang="ko-KR" sz="1200" dirty="0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8834CCC2-26FF-4BEB-99A9-55ECE57FF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4768" y="4869160"/>
            <a:ext cx="3145835" cy="1448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A6D7ED7E-EBFB-43F2-B944-05B4DC5C8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7425" y="4282488"/>
            <a:ext cx="3494087" cy="253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4411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4AB6FB1-07BD-4C91-BADC-BD1A3A6899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solidFill>
                    <a:prstClr val="white">
                      <a:lumMod val="65000"/>
                      <a:alpha val="50000"/>
                    </a:prstClr>
                  </a:solidFill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solidFill>
                  <a:prstClr val="white">
                    <a:lumMod val="65000"/>
                    <a:alpha val="50000"/>
                  </a:prstClr>
                </a:solidFill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맑은 고딕" pitchFamily="50" charset="-127"/>
              <a:cs typeface="+mn-cs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348006-BD7D-49B9-9E95-2D4DDBEBC3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" y="-68247"/>
            <a:ext cx="6538022" cy="72834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 dirty="0"/>
              <a:t>IEEE 802.15.4 MAC</a:t>
            </a:r>
          </a:p>
        </p:txBody>
      </p:sp>
      <p:sp>
        <p:nvSpPr>
          <p:cNvPr id="21" name="내용 개체 틀 6">
            <a:extLst>
              <a:ext uri="{FF2B5EF4-FFF2-40B4-BE49-F238E27FC236}">
                <a16:creationId xmlns:a16="http://schemas.microsoft.com/office/drawing/2014/main" id="{B42B2885-7CF8-4B4B-B3B1-246F7CE320B9}"/>
              </a:ext>
            </a:extLst>
          </p:cNvPr>
          <p:cNvSpPr txBox="1">
            <a:spLocks/>
          </p:cNvSpPr>
          <p:nvPr/>
        </p:nvSpPr>
        <p:spPr>
          <a:xfrm>
            <a:off x="152400" y="784945"/>
            <a:ext cx="9601200" cy="5735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Superframe Structure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endParaRPr lang="en-US" altLang="ko-KR" sz="1400" dirty="0"/>
          </a:p>
          <a:p>
            <a:pPr lvl="2">
              <a:lnSpc>
                <a:spcPct val="150000"/>
              </a:lnSpc>
            </a:pPr>
            <a:endParaRPr lang="en-US" altLang="ko-KR" sz="1400" dirty="0">
              <a:solidFill>
                <a:srgbClr val="495434"/>
              </a:solidFill>
            </a:endParaRPr>
          </a:p>
          <a:p>
            <a:pPr lvl="1">
              <a:lnSpc>
                <a:spcPct val="150000"/>
              </a:lnSpc>
            </a:pPr>
            <a:endParaRPr lang="en-US" altLang="ko-KR" sz="1800" b="1" dirty="0"/>
          </a:p>
          <a:p>
            <a:pPr lvl="1">
              <a:lnSpc>
                <a:spcPct val="150000"/>
              </a:lnSpc>
            </a:pPr>
            <a:endParaRPr lang="en-US" altLang="ko-KR" sz="1200" dirty="0"/>
          </a:p>
          <a:p>
            <a:pPr lvl="1">
              <a:lnSpc>
                <a:spcPct val="150000"/>
              </a:lnSpc>
            </a:pPr>
            <a:endParaRPr lang="en-US" altLang="ko-KR" sz="1200" dirty="0"/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6DDCFA20-5675-447A-A70D-ADC7BDF40A65}"/>
              </a:ext>
            </a:extLst>
          </p:cNvPr>
          <p:cNvGrpSpPr/>
          <p:nvPr/>
        </p:nvGrpSpPr>
        <p:grpSpPr>
          <a:xfrm>
            <a:off x="898480" y="1714177"/>
            <a:ext cx="8109039" cy="3875064"/>
            <a:chOff x="1433936" y="1180517"/>
            <a:chExt cx="8109039" cy="3884739"/>
          </a:xfrm>
        </p:grpSpPr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9EA9A94F-6ACC-40E8-BEE9-4160A06F6605}"/>
                </a:ext>
              </a:extLst>
            </p:cNvPr>
            <p:cNvGrpSpPr/>
            <p:nvPr/>
          </p:nvGrpSpPr>
          <p:grpSpPr>
            <a:xfrm>
              <a:off x="1433936" y="1180517"/>
              <a:ext cx="8109039" cy="3360659"/>
              <a:chOff x="1433936" y="1180517"/>
              <a:chExt cx="8109039" cy="3360659"/>
            </a:xfrm>
          </p:grpSpPr>
          <p:pic>
            <p:nvPicPr>
              <p:cNvPr id="94" name="그림 93">
                <a:extLst>
                  <a:ext uri="{FF2B5EF4-FFF2-40B4-BE49-F238E27FC236}">
                    <a16:creationId xmlns:a16="http://schemas.microsoft.com/office/drawing/2014/main" id="{0C338839-7D11-4311-8841-0034A352BB0A}"/>
                  </a:ext>
                </a:extLst>
              </p:cNvPr>
              <p:cNvPicPr/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33936" y="1625605"/>
                <a:ext cx="7699786" cy="2915571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95" name="연결선: 꺾임 94">
                <a:extLst>
                  <a:ext uri="{FF2B5EF4-FFF2-40B4-BE49-F238E27FC236}">
                    <a16:creationId xmlns:a16="http://schemas.microsoft.com/office/drawing/2014/main" id="{2B6F1959-B661-45AD-8506-9CA6C5C558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27275" y="1356438"/>
                <a:ext cx="476347" cy="345822"/>
              </a:xfrm>
              <a:prstGeom prst="bentConnector3">
                <a:avLst>
                  <a:gd name="adj1" fmla="val -2941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D7B39A2-2581-4BD7-8D04-AA09C3A33294}"/>
                  </a:ext>
                </a:extLst>
              </p:cNvPr>
              <p:cNvSpPr txBox="1"/>
              <p:nvPr/>
            </p:nvSpPr>
            <p:spPr>
              <a:xfrm>
                <a:off x="2503622" y="1180517"/>
                <a:ext cx="309252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rial" panose="020B0604020202020204" pitchFamily="34" charset="0"/>
                  </a:rPr>
                  <a:t>PAN coordinator</a:t>
                </a:r>
                <a:r>
                  <a:rPr lang="ko-KR" altLang="en-US" sz="11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rial" panose="020B0604020202020204" pitchFamily="34" charset="0"/>
                  </a:rPr>
                  <a:t>가 전송</a:t>
                </a:r>
                <a:r>
                  <a:rPr lang="en-US" altLang="ko-KR" sz="11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rial" panose="020B0604020202020204" pitchFamily="34" charset="0"/>
                  </a:rPr>
                  <a:t>, </a:t>
                </a:r>
                <a:r>
                  <a:rPr lang="ko-KR" altLang="en-US" sz="11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rial" panose="020B0604020202020204" pitchFamily="34" charset="0"/>
                  </a:rPr>
                  <a:t>네트워크 정보 포함</a:t>
                </a:r>
                <a:r>
                  <a:rPr lang="en-US" altLang="ko-KR" sz="11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rial" panose="020B0604020202020204" pitchFamily="34" charset="0"/>
                  </a:rPr>
                  <a:t>, </a:t>
                </a:r>
                <a:r>
                  <a:rPr lang="ko-KR" altLang="en-US" sz="11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rial" panose="020B0604020202020204" pitchFamily="34" charset="0"/>
                  </a:rPr>
                  <a:t>프레임 구조</a:t>
                </a:r>
                <a:r>
                  <a:rPr lang="en-US" altLang="ko-KR" sz="11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rial" panose="020B0604020202020204" pitchFamily="34" charset="0"/>
                  </a:rPr>
                  <a:t> </a:t>
                </a:r>
                <a:r>
                  <a:rPr lang="ko-KR" altLang="en-US" sz="11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rial" panose="020B0604020202020204" pitchFamily="34" charset="0"/>
                  </a:rPr>
                  <a:t>및 보류중인 노드 메시지 알림</a:t>
                </a:r>
              </a:p>
            </p:txBody>
          </p:sp>
          <p:cxnSp>
            <p:nvCxnSpPr>
              <p:cNvPr id="97" name="연결선: 꺾임 96">
                <a:extLst>
                  <a:ext uri="{FF2B5EF4-FFF2-40B4-BE49-F238E27FC236}">
                    <a16:creationId xmlns:a16="http://schemas.microsoft.com/office/drawing/2014/main" id="{791AFA56-22C3-4D4C-8EA5-6ABFB0437E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06891" y="2125939"/>
                <a:ext cx="523982" cy="741299"/>
              </a:xfrm>
              <a:prstGeom prst="bentConnector3">
                <a:avLst>
                  <a:gd name="adj1" fmla="val 2942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3E8EBCE-A7B7-4081-B838-0833334CD4D2}"/>
                  </a:ext>
                </a:extLst>
              </p:cNvPr>
              <p:cNvSpPr txBox="1"/>
              <p:nvPr/>
            </p:nvSpPr>
            <p:spPr>
              <a:xfrm>
                <a:off x="3030874" y="1824978"/>
                <a:ext cx="2061516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 u="sng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rial" panose="020B0604020202020204" pitchFamily="34" charset="0"/>
                  </a:rPr>
                  <a:t>노드들 간의 경쟁구간</a:t>
                </a:r>
                <a:endParaRPr lang="en-US" altLang="ko-KR" sz="1100" u="sng" dirty="0">
                  <a:latin typeface="나눔스퀘어_ac" panose="020B0600000101010101" pitchFamily="50" charset="-127"/>
                  <a:ea typeface="나눔스퀘어_ac" panose="020B0600000101010101" pitchFamily="50" charset="-127"/>
                  <a:cs typeface="Arial" panose="020B0604020202020204" pitchFamily="34" charset="0"/>
                </a:endParaRPr>
              </a:p>
              <a:p>
                <a:r>
                  <a:rPr lang="en-US" altLang="ko-KR" sz="11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rial" panose="020B0604020202020204" pitchFamily="34" charset="0"/>
                  </a:rPr>
                  <a:t>GTS </a:t>
                </a:r>
                <a:r>
                  <a:rPr lang="ko-KR" altLang="en-US" sz="11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rial" panose="020B0604020202020204" pitchFamily="34" charset="0"/>
                  </a:rPr>
                  <a:t>할당을 위해 패킷이 쓰임</a:t>
                </a:r>
                <a:endParaRPr lang="en-US" altLang="ko-KR" sz="1100" dirty="0">
                  <a:latin typeface="나눔스퀘어_ac" panose="020B0600000101010101" pitchFamily="50" charset="-127"/>
                  <a:ea typeface="나눔스퀘어_ac" panose="020B0600000101010101" pitchFamily="50" charset="-127"/>
                  <a:cs typeface="Arial" panose="020B0604020202020204" pitchFamily="34" charset="0"/>
                </a:endParaRPr>
              </a:p>
              <a:p>
                <a:r>
                  <a:rPr lang="en-US" altLang="ko-KR" sz="11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rial" panose="020B0604020202020204" pitchFamily="34" charset="0"/>
                  </a:rPr>
                  <a:t>CSMA backoff </a:t>
                </a:r>
                <a:r>
                  <a:rPr lang="ko-KR" altLang="en-US" sz="11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rial" panose="020B0604020202020204" pitchFamily="34" charset="0"/>
                  </a:rPr>
                  <a:t>과정 수행</a:t>
                </a:r>
              </a:p>
            </p:txBody>
          </p:sp>
          <p:cxnSp>
            <p:nvCxnSpPr>
              <p:cNvPr id="99" name="연결선: 꺾임 98">
                <a:extLst>
                  <a:ext uri="{FF2B5EF4-FFF2-40B4-BE49-F238E27FC236}">
                    <a16:creationId xmlns:a16="http://schemas.microsoft.com/office/drawing/2014/main" id="{A6314970-9BB9-4BE2-894C-DEE26FD5C5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1087" y="2096164"/>
                <a:ext cx="357886" cy="741299"/>
              </a:xfrm>
              <a:prstGeom prst="bentConnector3">
                <a:avLst>
                  <a:gd name="adj1" fmla="val 2942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F02855FD-AA94-4C20-88A0-57B65C0F212E}"/>
                  </a:ext>
                </a:extLst>
              </p:cNvPr>
              <p:cNvSpPr txBox="1"/>
              <p:nvPr/>
            </p:nvSpPr>
            <p:spPr>
              <a:xfrm>
                <a:off x="5478611" y="1880720"/>
                <a:ext cx="249236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 u="sng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rial" panose="020B0604020202020204" pitchFamily="34" charset="0"/>
                  </a:rPr>
                  <a:t>실제 통신이 이뤄지는 구간</a:t>
                </a:r>
                <a:endParaRPr lang="en-US" altLang="ko-KR" sz="1100" u="sng" dirty="0">
                  <a:latin typeface="나눔스퀘어_ac" panose="020B0600000101010101" pitchFamily="50" charset="-127"/>
                  <a:ea typeface="나눔스퀘어_ac" panose="020B0600000101010101" pitchFamily="50" charset="-127"/>
                  <a:cs typeface="Arial" panose="020B0604020202020204" pitchFamily="34" charset="0"/>
                </a:endParaRPr>
              </a:p>
              <a:p>
                <a:r>
                  <a:rPr lang="ko-KR" altLang="en-US" sz="11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rial" panose="020B0604020202020204" pitchFamily="34" charset="0"/>
                  </a:rPr>
                  <a:t>슬롯 할당 후 데이터 송수신이 이뤄짐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BA78E9E8-6383-4802-A289-50874AACFB61}"/>
                  </a:ext>
                </a:extLst>
              </p:cNvPr>
              <p:cNvSpPr txBox="1"/>
              <p:nvPr/>
            </p:nvSpPr>
            <p:spPr>
              <a:xfrm>
                <a:off x="3356889" y="3588075"/>
                <a:ext cx="203428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rial" panose="020B0604020202020204" pitchFamily="34" charset="0"/>
                  </a:rPr>
                  <a:t>16</a:t>
                </a:r>
                <a:r>
                  <a:rPr lang="ko-KR" altLang="en-US" sz="11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rial" panose="020B0604020202020204" pitchFamily="34" charset="0"/>
                  </a:rPr>
                  <a:t>개의 </a:t>
                </a:r>
                <a:r>
                  <a:rPr lang="en-US" altLang="ko-KR" sz="11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rial" panose="020B0604020202020204" pitchFamily="34" charset="0"/>
                  </a:rPr>
                  <a:t>Slot</a:t>
                </a:r>
                <a:endParaRPr lang="ko-KR" altLang="en-US" sz="1100" dirty="0">
                  <a:latin typeface="나눔스퀘어_ac" panose="020B0600000101010101" pitchFamily="50" charset="-127"/>
                  <a:ea typeface="나눔스퀘어_ac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4598F3E7-E444-4B3D-8404-E0D1756930F8}"/>
                  </a:ext>
                </a:extLst>
              </p:cNvPr>
              <p:cNvSpPr txBox="1"/>
              <p:nvPr/>
            </p:nvSpPr>
            <p:spPr>
              <a:xfrm>
                <a:off x="7508692" y="3350580"/>
                <a:ext cx="20342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rial" panose="020B0604020202020204" pitchFamily="34" charset="0"/>
                  </a:rPr>
                  <a:t>low-power mode (sleep)</a:t>
                </a:r>
                <a:endParaRPr lang="ko-KR" altLang="en-US" sz="1200" dirty="0">
                  <a:latin typeface="나눔스퀘어_ac" panose="020B0600000101010101" pitchFamily="50" charset="-127"/>
                  <a:ea typeface="나눔스퀘어_ac" panose="020B0600000101010101" pitchFamily="50" charset="-127"/>
                  <a:cs typeface="Arial" panose="020B0604020202020204" pitchFamily="34" charset="0"/>
                </a:endParaRPr>
              </a:p>
            </p:txBody>
          </p:sp>
          <p:cxnSp>
            <p:nvCxnSpPr>
              <p:cNvPr id="103" name="연결선: 꺾임 102">
                <a:extLst>
                  <a:ext uri="{FF2B5EF4-FFF2-40B4-BE49-F238E27FC236}">
                    <a16:creationId xmlns:a16="http://schemas.microsoft.com/office/drawing/2014/main" id="{1C32133F-B40B-40DA-ADBA-597779BF6D5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318466" y="3324480"/>
                <a:ext cx="150062" cy="230390"/>
              </a:xfrm>
              <a:prstGeom prst="bentConnector3">
                <a:avLst>
                  <a:gd name="adj1" fmla="val 100482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7" name="연결선: 꺾임 86">
              <a:extLst>
                <a:ext uri="{FF2B5EF4-FFF2-40B4-BE49-F238E27FC236}">
                  <a16:creationId xmlns:a16="http://schemas.microsoft.com/office/drawing/2014/main" id="{5D22732A-9AAA-4426-A058-482ADD60B822}"/>
                </a:ext>
              </a:extLst>
            </p:cNvPr>
            <p:cNvCxnSpPr/>
            <p:nvPr/>
          </p:nvCxnSpPr>
          <p:spPr>
            <a:xfrm rot="16200000" flipH="1">
              <a:off x="2461304" y="4205431"/>
              <a:ext cx="848730" cy="409253"/>
            </a:xfrm>
            <a:prstGeom prst="bentConnector3">
              <a:avLst>
                <a:gd name="adj1" fmla="val 99057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 Box 1068">
              <a:extLst>
                <a:ext uri="{FF2B5EF4-FFF2-40B4-BE49-F238E27FC236}">
                  <a16:creationId xmlns:a16="http://schemas.microsoft.com/office/drawing/2014/main" id="{0B767D4F-A643-43DE-AC6E-5B28CA4BC1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4501" y="4591558"/>
              <a:ext cx="2017889" cy="4616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algn="just" eaLnBrk="1" hangingPunct="1"/>
              <a:r>
                <a:rPr lang="en-GB" altLang="ko-KR" sz="1200" dirty="0">
                  <a:latin typeface="나눔스퀘어_ac" panose="020B0600000101010101" pitchFamily="50" charset="-127"/>
                  <a:ea typeface="나눔스퀘어_ac" panose="020B0600000101010101" pitchFamily="50" charset="-127"/>
                  <a:cs typeface="Arial" panose="020B0604020202020204" pitchFamily="34" charset="0"/>
                </a:rPr>
                <a:t>15ms * 2</a:t>
              </a:r>
              <a:r>
                <a:rPr lang="en-GB" altLang="ko-KR" sz="1200" baseline="30000" dirty="0">
                  <a:latin typeface="나눔스퀘어_ac" panose="020B0600000101010101" pitchFamily="50" charset="-127"/>
                  <a:ea typeface="나눔스퀘어_ac" panose="020B0600000101010101" pitchFamily="50" charset="-127"/>
                  <a:cs typeface="Arial" panose="020B0604020202020204" pitchFamily="34" charset="0"/>
                </a:rPr>
                <a:t>SO</a:t>
              </a:r>
              <a:endParaRPr lang="en-GB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Arial" panose="020B0604020202020204" pitchFamily="34" charset="0"/>
              </a:endParaRPr>
            </a:p>
            <a:p>
              <a:pPr algn="just" eaLnBrk="1" hangingPunct="1"/>
              <a:r>
                <a:rPr lang="en-GB" altLang="ko-KR" sz="1200" dirty="0">
                  <a:latin typeface="나눔스퀘어_ac" panose="020B0600000101010101" pitchFamily="50" charset="-127"/>
                  <a:ea typeface="나눔스퀘어_ac" panose="020B0600000101010101" pitchFamily="50" charset="-127"/>
                  <a:cs typeface="Arial" panose="020B0604020202020204" pitchFamily="34" charset="0"/>
                </a:rPr>
                <a:t>where 0 </a:t>
              </a:r>
              <a:r>
                <a:rPr lang="en-GB" altLang="ko-KR" sz="1200" dirty="0">
                  <a:latin typeface="나눔스퀘어_ac" panose="020B0600000101010101" pitchFamily="50" charset="-127"/>
                  <a:ea typeface="나눔스퀘어_ac" panose="020B0600000101010101" pitchFamily="50" charset="-127"/>
                  <a:cs typeface="Arial" panose="020B0604020202020204" pitchFamily="34" charset="0"/>
                  <a:sym typeface="Symbol" panose="05050102010706020507" pitchFamily="18" charset="2"/>
                </a:rPr>
                <a:t> SO  14</a:t>
              </a:r>
              <a:endParaRPr lang="en-GB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92" name="Text Box 1065">
              <a:extLst>
                <a:ext uri="{FF2B5EF4-FFF2-40B4-BE49-F238E27FC236}">
                  <a16:creationId xmlns:a16="http://schemas.microsoft.com/office/drawing/2014/main" id="{BAA94287-69A5-4720-9AC8-630845EA98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0662" y="4603591"/>
              <a:ext cx="2155825" cy="4616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algn="just" eaLnBrk="1" hangingPunct="1"/>
              <a:r>
                <a:rPr lang="en-GB" altLang="ko-KR" sz="1200" dirty="0">
                  <a:latin typeface="나눔스퀘어_ac" panose="020B0600000101010101" pitchFamily="50" charset="-127"/>
                  <a:ea typeface="나눔스퀘어_ac" panose="020B0600000101010101" pitchFamily="50" charset="-127"/>
                  <a:cs typeface="Arial" panose="020B0604020202020204" pitchFamily="34" charset="0"/>
                </a:rPr>
                <a:t>15ms * 2</a:t>
              </a:r>
              <a:r>
                <a:rPr lang="en-GB" altLang="ko-KR" sz="1200" baseline="30000" dirty="0">
                  <a:latin typeface="나눔스퀘어_ac" panose="020B0600000101010101" pitchFamily="50" charset="-127"/>
                  <a:ea typeface="나눔스퀘어_ac" panose="020B0600000101010101" pitchFamily="50" charset="-127"/>
                  <a:cs typeface="Arial" panose="020B0604020202020204" pitchFamily="34" charset="0"/>
                </a:rPr>
                <a:t>BO</a:t>
              </a:r>
              <a:endParaRPr lang="en-GB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Arial" panose="020B0604020202020204" pitchFamily="34" charset="0"/>
              </a:endParaRPr>
            </a:p>
            <a:p>
              <a:pPr algn="just" eaLnBrk="1" hangingPunct="1"/>
              <a:r>
                <a:rPr lang="en-GB" altLang="ko-KR" sz="1200" dirty="0">
                  <a:latin typeface="나눔스퀘어_ac" panose="020B0600000101010101" pitchFamily="50" charset="-127"/>
                  <a:ea typeface="나눔스퀘어_ac" panose="020B0600000101010101" pitchFamily="50" charset="-127"/>
                  <a:cs typeface="Arial" panose="020B0604020202020204" pitchFamily="34" charset="0"/>
                </a:rPr>
                <a:t>where SO </a:t>
              </a:r>
              <a:r>
                <a:rPr lang="en-GB" altLang="ko-KR" sz="1200" dirty="0">
                  <a:latin typeface="나눔스퀘어_ac" panose="020B0600000101010101" pitchFamily="50" charset="-127"/>
                  <a:ea typeface="나눔스퀘어_ac" panose="020B0600000101010101" pitchFamily="50" charset="-127"/>
                  <a:cs typeface="Arial" panose="020B0604020202020204" pitchFamily="34" charset="0"/>
                  <a:sym typeface="Symbol" panose="05050102010706020507" pitchFamily="18" charset="2"/>
                </a:rPr>
                <a:t> BO  14</a:t>
              </a:r>
              <a:endParaRPr lang="en-GB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Arial" panose="020B0604020202020204" pitchFamily="34" charset="0"/>
              </a:endParaRPr>
            </a:p>
          </p:txBody>
        </p:sp>
        <p:cxnSp>
          <p:nvCxnSpPr>
            <p:cNvPr id="93" name="연결선: 꺾임 92">
              <a:extLst>
                <a:ext uri="{FF2B5EF4-FFF2-40B4-BE49-F238E27FC236}">
                  <a16:creationId xmlns:a16="http://schemas.microsoft.com/office/drawing/2014/main" id="{5865D09F-3CF3-4F2E-998E-16DAE6E9989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026188" y="4341191"/>
              <a:ext cx="579695" cy="409253"/>
            </a:xfrm>
            <a:prstGeom prst="bentConnector3">
              <a:avLst>
                <a:gd name="adj1" fmla="val 99057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01974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4AB6FB1-07BD-4C91-BADC-BD1A3A6899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solidFill>
                    <a:prstClr val="white">
                      <a:lumMod val="65000"/>
                      <a:alpha val="50000"/>
                    </a:prstClr>
                  </a:solidFill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solidFill>
                  <a:prstClr val="white">
                    <a:lumMod val="65000"/>
                    <a:alpha val="50000"/>
                  </a:prstClr>
                </a:solidFill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맑은 고딕" pitchFamily="50" charset="-127"/>
              <a:cs typeface="+mn-cs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348006-BD7D-49B9-9E95-2D4DDBEBC3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" y="-28575"/>
            <a:ext cx="6538022" cy="72834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 dirty="0"/>
              <a:t>IEEE 802.15.4 MAC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내용 개체 틀 6">
                <a:extLst>
                  <a:ext uri="{FF2B5EF4-FFF2-40B4-BE49-F238E27FC236}">
                    <a16:creationId xmlns:a16="http://schemas.microsoft.com/office/drawing/2014/main" id="{B42B2885-7CF8-4B4B-B3B1-246F7CE320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2400" y="739488"/>
                <a:ext cx="9601200" cy="590660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66700" indent="-26670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Arial" panose="020B0604020202020204" pitchFamily="34" charset="0"/>
                  <a:buChar char="•"/>
                  <a:defRPr sz="28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1pPr>
                <a:lvl2pPr marL="622300" indent="-26035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함초롬돋움" panose="020B0504000101010101" pitchFamily="50" charset="-127"/>
                  <a:buChar char="—"/>
                  <a:tabLst>
                    <a:tab pos="542925" algn="l"/>
                  </a:tabLst>
                  <a:defRPr sz="24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2pPr>
                <a:lvl3pPr marL="812800" indent="-269875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ü"/>
                  <a:defRPr sz="20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3pPr>
                <a:lvl4pPr marL="1168400" indent="-27305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§"/>
                  <a:defRPr sz="18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4pPr>
                <a:lvl5pPr marL="1346200" indent="-269875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함초롬돋움" panose="020B0504000101010101" pitchFamily="50" charset="-127"/>
                  <a:buChar char="»"/>
                  <a:defRPr sz="18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ko-KR" sz="2400" b="1" dirty="0"/>
                  <a:t>Superframe</a:t>
                </a:r>
                <a:r>
                  <a:rPr lang="en-US" altLang="ko-KR" b="1" dirty="0"/>
                  <a:t>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800" dirty="0">
                    <a:solidFill>
                      <a:schemeClr val="accent1"/>
                    </a:solidFill>
                  </a:rPr>
                  <a:t>SD </a:t>
                </a:r>
                <a:r>
                  <a:rPr lang="en-US" altLang="ko-KR" sz="1400" dirty="0">
                    <a:solidFill>
                      <a:schemeClr val="accent1"/>
                    </a:solidFill>
                  </a:rPr>
                  <a:t>(Superframe Duration)</a:t>
                </a:r>
                <a:r>
                  <a:rPr lang="en-US" altLang="ko-KR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: Superframe</a:t>
                </a:r>
                <a:r>
                  <a: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의 </a:t>
                </a:r>
                <a:r>
                  <a:rPr lang="en-US" altLang="ko-KR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</a:t>
                </a:r>
                <a:r>
                  <a:rPr lang="en-US" altLang="ko-KR" sz="1400" dirty="0"/>
                  <a:t>ctive portion</a:t>
                </a:r>
                <a:r>
                  <a:rPr lang="ko-KR" altLang="en-US" sz="1400" dirty="0"/>
                  <a:t>의 길이</a:t>
                </a:r>
                <a:endParaRPr lang="en-US" altLang="ko-KR" sz="1800" dirty="0"/>
              </a:p>
              <a:p>
                <a:pPr lvl="2">
                  <a:lnSpc>
                    <a:spcPct val="150000"/>
                  </a:lnSpc>
                </a:pPr>
                <a:r>
                  <a:rPr lang="en-US" altLang="ko-KR" sz="1400" dirty="0"/>
                  <a:t>SD = </a:t>
                </a:r>
                <a:r>
                  <a:rPr lang="en-US" altLang="ko-KR" sz="1400" i="1" dirty="0"/>
                  <a:t>aBaseSuperframeDuration</a:t>
                </a:r>
                <a:r>
                  <a:rPr lang="en-US" altLang="ko-KR" sz="1400" dirty="0"/>
                  <a:t>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1" i="1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altLang="ko-KR" sz="1400" b="1" i="1">
                            <a:latin typeface="Cambria Math"/>
                          </a:rPr>
                          <m:t>𝑺𝑶</m:t>
                        </m:r>
                      </m:sup>
                    </m:sSup>
                  </m:oMath>
                </a14:m>
                <a:r>
                  <a:rPr lang="en-US" altLang="ko-KR" sz="1400" dirty="0"/>
                  <a:t>symbols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800" dirty="0">
                    <a:solidFill>
                      <a:schemeClr val="accent1"/>
                    </a:solidFill>
                  </a:rPr>
                  <a:t>BI </a:t>
                </a:r>
                <a:r>
                  <a:rPr lang="en-US" altLang="ko-KR" sz="1400" dirty="0">
                    <a:solidFill>
                      <a:schemeClr val="accent1"/>
                    </a:solidFill>
                  </a:rPr>
                  <a:t>(Beacon Interval) </a:t>
                </a:r>
                <a:r>
                  <a:rPr lang="en-US" altLang="ko-KR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: Beacon frame</a:t>
                </a:r>
                <a:r>
                  <a: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간 간격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en-US" altLang="ko-KR" sz="1400" dirty="0"/>
                  <a:t>BI = </a:t>
                </a:r>
                <a:r>
                  <a:rPr lang="en-US" altLang="ko-KR" sz="1400" i="1" dirty="0"/>
                  <a:t>aBaseSuperframeDuration</a:t>
                </a:r>
                <a:r>
                  <a:rPr lang="en-US" altLang="ko-KR" sz="1400" dirty="0"/>
                  <a:t>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1" i="1"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altLang="ko-KR" sz="1400" b="1" i="1">
                            <a:latin typeface="Cambria Math"/>
                          </a:rPr>
                          <m:t>𝑩𝑶</m:t>
                        </m:r>
                      </m:sup>
                    </m:sSup>
                  </m:oMath>
                </a14:m>
                <a:r>
                  <a:rPr lang="en-US" altLang="ko-KR" sz="1400" dirty="0"/>
                  <a:t>symbols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800" dirty="0">
                    <a:solidFill>
                      <a:schemeClr val="accent1"/>
                    </a:solidFill>
                  </a:rPr>
                  <a:t>BO </a:t>
                </a:r>
                <a:r>
                  <a:rPr lang="en-US" altLang="ko-KR" sz="1400" dirty="0">
                    <a:solidFill>
                      <a:schemeClr val="accent1"/>
                    </a:solidFill>
                  </a:rPr>
                  <a:t>(Beacon Order) </a:t>
                </a:r>
                <a:r>
                  <a:rPr lang="en-US" altLang="ko-KR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: S</a:t>
                </a:r>
                <a:r>
                  <a:rPr lang="en-US" altLang="ko-KR" sz="1400" dirty="0"/>
                  <a:t>uperframe</a:t>
                </a:r>
                <a:r>
                  <a:rPr lang="ko-KR" altLang="en-US" sz="1400" dirty="0"/>
                  <a:t>의 길이 결정</a:t>
                </a:r>
                <a:endParaRPr lang="en-US" altLang="ko-KR" sz="1400" dirty="0"/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0≤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𝐵𝑂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≤14</m:t>
                    </m:r>
                  </m:oMath>
                </a14:m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800" dirty="0">
                    <a:solidFill>
                      <a:schemeClr val="accent1"/>
                    </a:solidFill>
                  </a:rPr>
                  <a:t>SO </a:t>
                </a:r>
                <a:r>
                  <a:rPr lang="en-US" altLang="ko-KR" sz="1400" dirty="0">
                    <a:solidFill>
                      <a:schemeClr val="accent1"/>
                    </a:solidFill>
                  </a:rPr>
                  <a:t>(Superframe Order)</a:t>
                </a:r>
                <a:r>
                  <a:rPr lang="en-US" altLang="ko-KR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: Superframe</a:t>
                </a:r>
                <a:r>
                  <a: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에서 </a:t>
                </a:r>
                <a:r>
                  <a:rPr lang="en-US" altLang="ko-KR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</a:t>
                </a:r>
                <a:r>
                  <a:rPr lang="en-US" altLang="ko-KR" sz="1400" dirty="0"/>
                  <a:t>ctive </a:t>
                </a:r>
                <a:r>
                  <a:rPr lang="ko-KR" altLang="en-US" sz="1400" dirty="0"/>
                  <a:t>구간의 길이 결정</a:t>
                </a:r>
                <a:endParaRPr lang="en-US" altLang="ko-KR" sz="1400" dirty="0"/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0≤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𝑆𝑂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𝐵𝑂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≤14</m:t>
                    </m:r>
                  </m:oMath>
                </a14:m>
                <a:endParaRPr lang="en-US" altLang="ko-KR" sz="1400" dirty="0"/>
              </a:p>
              <a:p>
                <a:pPr lvl="2">
                  <a:lnSpc>
                    <a:spcPct val="150000"/>
                  </a:lnSpc>
                </a:pPr>
                <a:endParaRPr lang="en-US" altLang="ko-KR" sz="1400" dirty="0"/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100" dirty="0"/>
                  <a:t>만약</a:t>
                </a:r>
                <a:r>
                  <a:rPr lang="en-US" altLang="ko-KR" sz="1100" dirty="0"/>
                  <a:t>,</a:t>
                </a:r>
                <a:r>
                  <a:rPr lang="ko-KR" altLang="en-US" sz="1100" dirty="0"/>
                  <a:t> </a:t>
                </a:r>
                <a:r>
                  <a:rPr lang="en-US" altLang="ko-KR" sz="1100" dirty="0"/>
                  <a:t>BO</a:t>
                </a:r>
                <a:r>
                  <a:rPr lang="ko-KR" altLang="en-US" sz="1100" dirty="0"/>
                  <a:t>가 </a:t>
                </a:r>
                <a:r>
                  <a:rPr lang="en-US" altLang="ko-KR" sz="1100" dirty="0"/>
                  <a:t>15</a:t>
                </a:r>
                <a:r>
                  <a:rPr lang="ko-KR" altLang="en-US" sz="1100" dirty="0"/>
                  <a:t>이면 </a:t>
                </a:r>
                <a:r>
                  <a:rPr lang="en-US" altLang="ko-KR" sz="1100" dirty="0"/>
                  <a:t>Superframe</a:t>
                </a:r>
                <a:r>
                  <a:rPr lang="ko-KR" altLang="en-US" sz="1100" dirty="0"/>
                  <a:t>에서 </a:t>
                </a:r>
                <a:r>
                  <a:rPr lang="en-US" altLang="ko-KR" sz="1100" dirty="0"/>
                  <a:t>1</a:t>
                </a:r>
                <a:r>
                  <a:rPr lang="ko-KR" altLang="en-US" sz="1100" dirty="0"/>
                  <a:t>개의 </a:t>
                </a:r>
                <a:r>
                  <a:rPr lang="en-US" altLang="ko-KR" sz="1100" dirty="0"/>
                  <a:t>unit slot</a:t>
                </a:r>
                <a:r>
                  <a:rPr lang="ko-KR" altLang="en-US" sz="1100" dirty="0"/>
                  <a:t> 길이가 </a:t>
                </a:r>
                <a:r>
                  <a:rPr lang="en-US" altLang="ko-KR" sz="1100" dirty="0"/>
                  <a:t>SD</a:t>
                </a:r>
                <a:r>
                  <a:rPr lang="ko-KR" altLang="en-US" sz="1100" dirty="0"/>
                  <a:t>의 길이와 같아지므로 </a:t>
                </a:r>
                <a:r>
                  <a:rPr lang="en-US" altLang="ko-KR" sz="1100" dirty="0"/>
                  <a:t>Beacon</a:t>
                </a:r>
                <a:r>
                  <a:rPr lang="ko-KR" altLang="en-US" sz="1100" dirty="0"/>
                  <a:t>을 보내지 않고</a:t>
                </a:r>
                <a:r>
                  <a:rPr lang="en-US" altLang="ko-KR" sz="1100" dirty="0"/>
                  <a:t>, </a:t>
                </a:r>
              </a:p>
              <a:p>
                <a:pPr marL="542925" lvl="2" indent="0">
                  <a:lnSpc>
                    <a:spcPct val="150000"/>
                  </a:lnSpc>
                  <a:buNone/>
                </a:pPr>
                <a:r>
                  <a:rPr lang="ko-KR" altLang="en-US" sz="1100" dirty="0"/>
                  <a:t>       네트워크가 </a:t>
                </a:r>
                <a:r>
                  <a:rPr lang="en-US" altLang="ko-KR" sz="1100" dirty="0"/>
                  <a:t>Non-beacon-enabled mode</a:t>
                </a:r>
                <a:r>
                  <a:rPr lang="ko-KR" altLang="en-US" sz="1100" dirty="0"/>
                  <a:t>로 동작함</a:t>
                </a:r>
                <a:endParaRPr lang="en-US" altLang="ko-KR" sz="1800" dirty="0"/>
              </a:p>
              <a:p>
                <a:pPr lvl="2">
                  <a:lnSpc>
                    <a:spcPct val="150000"/>
                  </a:lnSpc>
                </a:pP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endParaRPr lang="en-US" altLang="ko-KR" sz="1600" dirty="0"/>
              </a:p>
              <a:p>
                <a:pPr lvl="1">
                  <a:lnSpc>
                    <a:spcPct val="150000"/>
                  </a:lnSpc>
                </a:pPr>
                <a:endParaRPr lang="en-US" altLang="ko-KR" sz="1600" dirty="0"/>
              </a:p>
            </p:txBody>
          </p:sp>
        </mc:Choice>
        <mc:Fallback xmlns="">
          <p:sp>
            <p:nvSpPr>
              <p:cNvPr id="21" name="내용 개체 틀 6">
                <a:extLst>
                  <a:ext uri="{FF2B5EF4-FFF2-40B4-BE49-F238E27FC236}">
                    <a16:creationId xmlns:a16="http://schemas.microsoft.com/office/drawing/2014/main" id="{B42B2885-7CF8-4B4B-B3B1-246F7CE32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739488"/>
                <a:ext cx="9601200" cy="59066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4171629C-AD2F-4BE0-8715-C326D02B7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016" y="2060848"/>
            <a:ext cx="4440560" cy="1944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076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4AB6FB1-07BD-4C91-BADC-BD1A3A6899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solidFill>
                    <a:prstClr val="white">
                      <a:lumMod val="65000"/>
                      <a:alpha val="50000"/>
                    </a:prstClr>
                  </a:solidFill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solidFill>
                  <a:prstClr val="white">
                    <a:lumMod val="65000"/>
                    <a:alpha val="50000"/>
                  </a:prstClr>
                </a:solidFill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맑은 고딕" pitchFamily="50" charset="-127"/>
              <a:cs typeface="+mn-cs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348006-BD7D-49B9-9E95-2D4DDBEBC3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" y="-42016"/>
            <a:ext cx="6538022" cy="72834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 dirty="0"/>
              <a:t>IEEE 802.15.4 MAC</a:t>
            </a:r>
          </a:p>
        </p:txBody>
      </p:sp>
      <p:sp>
        <p:nvSpPr>
          <p:cNvPr id="21" name="내용 개체 틀 6">
            <a:extLst>
              <a:ext uri="{FF2B5EF4-FFF2-40B4-BE49-F238E27FC236}">
                <a16:creationId xmlns:a16="http://schemas.microsoft.com/office/drawing/2014/main" id="{B42B2885-7CF8-4B4B-B3B1-246F7CE320B9}"/>
              </a:ext>
            </a:extLst>
          </p:cNvPr>
          <p:cNvSpPr txBox="1">
            <a:spLocks/>
          </p:cNvSpPr>
          <p:nvPr/>
        </p:nvSpPr>
        <p:spPr>
          <a:xfrm>
            <a:off x="152400" y="784945"/>
            <a:ext cx="9601200" cy="5735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400" b="1" dirty="0"/>
              <a:t>Superframe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chemeClr val="accent1"/>
                </a:solidFill>
              </a:rPr>
              <a:t>Symbol</a:t>
            </a:r>
          </a:p>
          <a:p>
            <a:pPr lvl="2">
              <a:lnSpc>
                <a:spcPct val="150000"/>
              </a:lnSpc>
            </a:pPr>
            <a:r>
              <a:rPr lang="en-US" altLang="ko-KR" sz="1600" dirty="0"/>
              <a:t>PHY</a:t>
            </a:r>
            <a:r>
              <a:rPr lang="ko-KR" altLang="en-US" sz="1600" dirty="0"/>
              <a:t>계층에 따라 달라지는 </a:t>
            </a:r>
            <a:r>
              <a:rPr lang="en-US" altLang="ko-KR" sz="1600" dirty="0"/>
              <a:t>Bit</a:t>
            </a:r>
            <a:r>
              <a:rPr lang="ko-KR" altLang="en-US" sz="1600" dirty="0"/>
              <a:t>의 </a:t>
            </a:r>
            <a:r>
              <a:rPr lang="en-US" altLang="ko-KR" sz="1600" dirty="0"/>
              <a:t>mapping </a:t>
            </a:r>
            <a:r>
              <a:rPr lang="ko-KR" altLang="en-US" sz="1600" dirty="0"/>
              <a:t>단위</a:t>
            </a:r>
          </a:p>
          <a:p>
            <a:pPr lvl="2">
              <a:lnSpc>
                <a:spcPct val="150000"/>
              </a:lnSpc>
            </a:pPr>
            <a:r>
              <a:rPr lang="en-US" altLang="ko-KR" sz="1600" dirty="0"/>
              <a:t>Ex) PHY 2450MHz - Bit rate / Symbol rate = 4</a:t>
            </a:r>
          </a:p>
          <a:p>
            <a:pPr lvl="2">
              <a:lnSpc>
                <a:spcPct val="150000"/>
              </a:lnSpc>
            </a:pPr>
            <a:endParaRPr lang="en-US" altLang="ko-KR" sz="1600" b="1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F48DB56-E1FF-492E-9004-D8DD9B5BA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462" y="3221273"/>
            <a:ext cx="6405131" cy="3139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51128EF-6BFD-4630-B76F-2E96923AD90D}"/>
              </a:ext>
            </a:extLst>
          </p:cNvPr>
          <p:cNvSpPr/>
          <p:nvPr/>
        </p:nvSpPr>
        <p:spPr>
          <a:xfrm>
            <a:off x="1928664" y="5949280"/>
            <a:ext cx="6181874" cy="26049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solidFill>
              <a:srgbClr val="324D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3222D6F9-81EF-4525-8F3C-D5CE8390C228}"/>
              </a:ext>
            </a:extLst>
          </p:cNvPr>
          <p:cNvCxnSpPr/>
          <p:nvPr/>
        </p:nvCxnSpPr>
        <p:spPr>
          <a:xfrm>
            <a:off x="1147390" y="6113537"/>
            <a:ext cx="648072" cy="0"/>
          </a:xfrm>
          <a:prstGeom prst="straightConnector1">
            <a:avLst/>
          </a:prstGeom>
          <a:ln w="3810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155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6473DFD3-4BB5-48A1-82CE-34CE91C5A1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774383"/>
                <a:ext cx="9601200" cy="5745875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b="1" dirty="0"/>
                  <a:t>Superframe </a:t>
                </a:r>
                <a:r>
                  <a:rPr lang="en-US" altLang="ko-KR" sz="1600" b="1" dirty="0"/>
                  <a:t>– SlotD </a:t>
                </a:r>
                <a:r>
                  <a:rPr lang="ko-KR" altLang="en-US" sz="1400" b="1" dirty="0"/>
                  <a:t>길이 계산 </a:t>
                </a:r>
                <a:endParaRPr lang="en-US" altLang="ko-KR" sz="1400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 symbol = 4bit / bit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rate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250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kbps = 250000 bit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aBaseSlotDuration (A) = 60 symbols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aNumSuperframe (B) = 16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ko-KR" altLang="en-US" sz="1400" dirty="0">
                    <a:latin typeface="Cambria Math" panose="02040503050406030204" pitchFamily="18" charset="0"/>
                  </a:rPr>
                  <a:t>식 </a:t>
                </a: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altLang="ko-K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ko-KR" sz="18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Why?</a:t>
                </a:r>
              </a:p>
              <a:p>
                <a:pPr marL="361950" lvl="1" indent="0" algn="just">
                  <a:lnSpc>
                    <a:spcPct val="150000"/>
                  </a:lnSpc>
                  <a:buNone/>
                </a:pP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SlotD = aBaseSlotDuration *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6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𝑆𝑂</m:t>
                        </m:r>
                      </m:sup>
                    </m:sSup>
                  </m:oMath>
                </a14:m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symbols</a:t>
                </a:r>
              </a:p>
              <a:p>
                <a:pPr marL="900000" lvl="1" indent="0" algn="just">
                  <a:lnSpc>
                    <a:spcPct val="150000"/>
                  </a:lnSpc>
                  <a:buNone/>
                </a:pP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60 sym *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6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𝑆𝑂</m:t>
                        </m:r>
                      </m:sup>
                    </m:sSup>
                  </m:oMath>
                </a14:m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symbols </a:t>
                </a:r>
              </a:p>
              <a:p>
                <a:pPr marL="900000" lvl="1" indent="0" algn="just">
                  <a:lnSpc>
                    <a:spcPct val="150000"/>
                  </a:lnSpc>
                  <a:buNone/>
                </a:pP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60 sym * 4 bit / 250 kbps = 0.96 ms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400" b="1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6473DFD3-4BB5-48A1-82CE-34CE91C5A1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774383"/>
                <a:ext cx="9601200" cy="57458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9676780-784E-4345-91B1-56151F77B32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76635251-3920-44E6-8FF8-59BA5AA70E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" y="-46628"/>
            <a:ext cx="6538022" cy="72834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 dirty="0"/>
              <a:t>IEEE 802.15.4 MAC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5E5D8C2-DE03-4B5C-BF2E-EAC7273FD522}"/>
                  </a:ext>
                </a:extLst>
              </p:cNvPr>
              <p:cNvSpPr txBox="1"/>
              <p:nvPr/>
            </p:nvSpPr>
            <p:spPr>
              <a:xfrm>
                <a:off x="5878918" y="3722544"/>
                <a:ext cx="2530465" cy="2284408"/>
              </a:xfrm>
              <a:prstGeom prst="rect">
                <a:avLst/>
              </a:prstGeom>
              <a:noFill/>
              <a:ln w="127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ko-KR" sz="1200" b="1" dirty="0">
                    <a:ln>
                      <a:solidFill>
                        <a:schemeClr val="tx1">
                          <a:lumMod val="75000"/>
                          <a:lumOff val="25000"/>
                          <a:alpha val="50000"/>
                        </a:schemeClr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Q. 60*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b="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5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b="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50000"/>
                                </a:schemeClr>
                              </a:solidFill>
                            </a:ln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altLang="ko-KR" sz="1200" b="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50000"/>
                                </a:schemeClr>
                              </a:solidFill>
                            </a:ln>
                            <a:latin typeface="Cambria Math"/>
                          </a:rPr>
                          <m:t>𝑺𝑶</m:t>
                        </m:r>
                      </m:sup>
                    </m:sSup>
                  </m:oMath>
                </a14:m>
                <a:r>
                  <a:rPr lang="ko-KR" altLang="en-US" sz="1200" b="1" dirty="0">
                    <a:ln>
                      <a:solidFill>
                        <a:schemeClr val="tx1">
                          <a:lumMod val="75000"/>
                          <a:lumOff val="25000"/>
                          <a:alpha val="50000"/>
                        </a:schemeClr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1200" b="1" dirty="0">
                    <a:ln>
                      <a:solidFill>
                        <a:schemeClr val="tx1">
                          <a:lumMod val="75000"/>
                          <a:lumOff val="25000"/>
                          <a:alpha val="50000"/>
                        </a:schemeClr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sym = X ms? 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1200" dirty="0">
                    <a:ln>
                      <a:solidFill>
                        <a:schemeClr val="tx1">
                          <a:lumMod val="75000"/>
                          <a:lumOff val="25000"/>
                          <a:alpha val="50000"/>
                        </a:schemeClr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→ </a:t>
                </a:r>
                <a:r>
                  <a:rPr lang="en-US" altLang="ko-KR" sz="1200" dirty="0">
                    <a:ln>
                      <a:solidFill>
                        <a:schemeClr val="tx1">
                          <a:lumMod val="75000"/>
                          <a:lumOff val="25000"/>
                          <a:alpha val="50000"/>
                        </a:schemeClr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240*</a:t>
                </a:r>
                <a:r>
                  <a:rPr lang="en-US" altLang="ko-KR" sz="1200" b="1" dirty="0">
                    <a:ln>
                      <a:solidFill>
                        <a:schemeClr val="tx1">
                          <a:lumMod val="75000"/>
                          <a:lumOff val="25000"/>
                          <a:alpha val="50000"/>
                        </a:schemeClr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b="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5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b="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50000"/>
                                </a:schemeClr>
                              </a:solidFill>
                            </a:ln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altLang="ko-KR" sz="1200" b="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50000"/>
                                </a:schemeClr>
                              </a:solidFill>
                            </a:ln>
                            <a:latin typeface="Cambria Math"/>
                          </a:rPr>
                          <m:t>𝑺𝑶</m:t>
                        </m:r>
                      </m:sup>
                    </m:sSup>
                  </m:oMath>
                </a14:m>
                <a:r>
                  <a:rPr lang="en-US" altLang="ko-KR" sz="1200" dirty="0">
                    <a:ln>
                      <a:solidFill>
                        <a:schemeClr val="tx1">
                          <a:lumMod val="75000"/>
                          <a:lumOff val="25000"/>
                          <a:alpha val="50000"/>
                        </a:schemeClr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bits = X ms?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1200" dirty="0">
                    <a:ln>
                      <a:solidFill>
                        <a:schemeClr val="tx1">
                          <a:lumMod val="75000"/>
                          <a:lumOff val="25000"/>
                          <a:alpha val="50000"/>
                        </a:schemeClr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→ </a:t>
                </a:r>
                <a:r>
                  <a:rPr lang="en-US" altLang="ko-KR" sz="1200" dirty="0">
                    <a:ln>
                      <a:solidFill>
                        <a:schemeClr val="tx1">
                          <a:lumMod val="75000"/>
                          <a:lumOff val="25000"/>
                          <a:alpha val="50000"/>
                        </a:schemeClr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240*</a:t>
                </a:r>
                <a:r>
                  <a:rPr lang="en-US" altLang="ko-KR" sz="1200" b="1" dirty="0">
                    <a:ln>
                      <a:solidFill>
                        <a:schemeClr val="tx1">
                          <a:lumMod val="75000"/>
                          <a:lumOff val="25000"/>
                          <a:alpha val="50000"/>
                        </a:schemeClr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b="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5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b="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50000"/>
                                </a:schemeClr>
                              </a:solidFill>
                            </a:ln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altLang="ko-KR" sz="1200" b="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50000"/>
                                </a:schemeClr>
                              </a:solidFill>
                            </a:ln>
                            <a:latin typeface="Cambria Math"/>
                          </a:rPr>
                          <m:t>𝑺𝑶</m:t>
                        </m:r>
                      </m:sup>
                    </m:sSup>
                  </m:oMath>
                </a14:m>
                <a:r>
                  <a:rPr lang="en-US" altLang="ko-KR" sz="1200" dirty="0">
                    <a:ln>
                      <a:solidFill>
                        <a:schemeClr val="tx1">
                          <a:lumMod val="75000"/>
                          <a:lumOff val="25000"/>
                          <a:alpha val="50000"/>
                        </a:schemeClr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/250*10³ = X ms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1200" dirty="0">
                    <a:ln>
                      <a:solidFill>
                        <a:schemeClr val="tx1">
                          <a:lumMod val="75000"/>
                          <a:lumOff val="25000"/>
                          <a:alpha val="50000"/>
                        </a:schemeClr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→ </a:t>
                </a:r>
                <a:r>
                  <a:rPr lang="en-US" altLang="ko-KR" sz="1200" dirty="0">
                    <a:ln>
                      <a:solidFill>
                        <a:schemeClr val="tx1">
                          <a:lumMod val="75000"/>
                          <a:lumOff val="25000"/>
                          <a:alpha val="50000"/>
                        </a:schemeClr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250*10³ : 1 = 240*</a:t>
                </a:r>
                <a:r>
                  <a:rPr lang="en-US" altLang="ko-KR" sz="1200" b="1" dirty="0">
                    <a:ln>
                      <a:solidFill>
                        <a:schemeClr val="tx1">
                          <a:lumMod val="75000"/>
                          <a:lumOff val="25000"/>
                          <a:alpha val="50000"/>
                        </a:schemeClr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b="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5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b="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50000"/>
                                </a:schemeClr>
                              </a:solidFill>
                            </a:ln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altLang="ko-KR" sz="1200" b="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50000"/>
                                </a:schemeClr>
                              </a:solidFill>
                            </a:ln>
                            <a:latin typeface="Cambria Math"/>
                          </a:rPr>
                          <m:t>𝑺𝑶</m:t>
                        </m:r>
                      </m:sup>
                    </m:sSup>
                  </m:oMath>
                </a14:m>
                <a:r>
                  <a:rPr lang="ko-KR" altLang="en-US" sz="1200" dirty="0">
                    <a:ln>
                      <a:solidFill>
                        <a:schemeClr val="tx1">
                          <a:lumMod val="75000"/>
                          <a:lumOff val="25000"/>
                          <a:alpha val="50000"/>
                        </a:schemeClr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1200" dirty="0">
                    <a:ln>
                      <a:solidFill>
                        <a:schemeClr val="tx1">
                          <a:lumMod val="75000"/>
                          <a:lumOff val="25000"/>
                          <a:alpha val="50000"/>
                        </a:schemeClr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: X 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1200" dirty="0">
                    <a:ln>
                      <a:solidFill>
                        <a:schemeClr val="tx1">
                          <a:lumMod val="75000"/>
                          <a:lumOff val="25000"/>
                          <a:alpha val="50000"/>
                        </a:schemeClr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→ </a:t>
                </a:r>
                <a:r>
                  <a:rPr lang="en-US" altLang="ko-KR" sz="1200" dirty="0">
                    <a:ln>
                      <a:solidFill>
                        <a:schemeClr val="tx1">
                          <a:lumMod val="75000"/>
                          <a:lumOff val="25000"/>
                          <a:alpha val="50000"/>
                        </a:schemeClr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X = 0.96 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1200" dirty="0">
                    <a:ln>
                      <a:solidFill>
                        <a:schemeClr val="tx1">
                          <a:lumMod val="75000"/>
                          <a:lumOff val="25000"/>
                          <a:alpha val="50000"/>
                        </a:schemeClr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→ </a:t>
                </a:r>
                <a:r>
                  <a:rPr lang="en-US" altLang="ko-KR" sz="1200" dirty="0">
                    <a:ln>
                      <a:solidFill>
                        <a:schemeClr val="tx1">
                          <a:lumMod val="75000"/>
                          <a:lumOff val="25000"/>
                          <a:alpha val="50000"/>
                        </a:schemeClr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0.96 ms</a:t>
                </a:r>
                <a:endParaRPr lang="ko-KR" altLang="en-US" sz="1200" dirty="0">
                  <a:ln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5E5D8C2-DE03-4B5C-BF2E-EAC7273FD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918" y="3722544"/>
                <a:ext cx="2530465" cy="22844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574F2D7C-F2E5-464C-93B1-0E8591A88F9C}"/>
              </a:ext>
            </a:extLst>
          </p:cNvPr>
          <p:cNvCxnSpPr>
            <a:cxnSpLocks/>
          </p:cNvCxnSpPr>
          <p:nvPr/>
        </p:nvCxnSpPr>
        <p:spPr>
          <a:xfrm>
            <a:off x="4751463" y="4839914"/>
            <a:ext cx="89608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오른쪽 중괄호 5">
            <a:extLst>
              <a:ext uri="{FF2B5EF4-FFF2-40B4-BE49-F238E27FC236}">
                <a16:creationId xmlns:a16="http://schemas.microsoft.com/office/drawing/2014/main" id="{98E64160-5A17-4EF9-B8E9-577961D4BE76}"/>
              </a:ext>
            </a:extLst>
          </p:cNvPr>
          <p:cNvSpPr/>
          <p:nvPr/>
        </p:nvSpPr>
        <p:spPr>
          <a:xfrm>
            <a:off x="4526558" y="4014028"/>
            <a:ext cx="234546" cy="1646504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DD20940-7951-464C-804A-EAE5327C4C95}"/>
              </a:ext>
            </a:extLst>
          </p:cNvPr>
          <p:cNvGrpSpPr/>
          <p:nvPr/>
        </p:nvGrpSpPr>
        <p:grpSpPr>
          <a:xfrm>
            <a:off x="4736976" y="1677211"/>
            <a:ext cx="5112577" cy="1823797"/>
            <a:chOff x="4793423" y="983351"/>
            <a:chExt cx="5112577" cy="182379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0E0CF26-1F0A-4B3B-8E12-4FD9809146AB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3423" y="983351"/>
              <a:ext cx="5112577" cy="18237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41B7784-0EF5-4A08-BA95-EC8D93C684E3}"/>
                </a:ext>
              </a:extLst>
            </p:cNvPr>
            <p:cNvSpPr/>
            <p:nvPr/>
          </p:nvSpPr>
          <p:spPr>
            <a:xfrm>
              <a:off x="5095747" y="2102884"/>
              <a:ext cx="221452" cy="131559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rgbClr val="324D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E2366E0F-B426-4A21-B935-A0E1226381D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32" t="6229" r="2291" b="80125"/>
          <a:stretch/>
        </p:blipFill>
        <p:spPr>
          <a:xfrm>
            <a:off x="943599" y="2872089"/>
            <a:ext cx="3849824" cy="574630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98589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6473DFD3-4BB5-48A1-82CE-34CE91C5A1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774384"/>
                <a:ext cx="9601200" cy="5328592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b="1" dirty="0"/>
                  <a:t>Superframe </a:t>
                </a:r>
                <a:r>
                  <a:rPr lang="en-US" altLang="ko-KR" sz="1600" b="1" dirty="0"/>
                  <a:t>– SD </a:t>
                </a:r>
                <a:r>
                  <a:rPr lang="ko-KR" altLang="en-US" sz="1400" b="1" dirty="0"/>
                  <a:t>길이 계산 </a:t>
                </a:r>
                <a:endParaRPr lang="en-US" altLang="ko-KR" sz="1400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 symbol = 4bit / bit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rate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250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kbps = 250000 bit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aBaseSlotDuration (A) = 60 symbols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aNumSuperframe (B) = 16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ko-KR" altLang="en-US" sz="1400" dirty="0">
                    <a:latin typeface="Cambria Math" panose="02040503050406030204" pitchFamily="18" charset="0"/>
                  </a:rPr>
                  <a:t>식 </a:t>
                </a: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altLang="ko-K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ko-KR" sz="18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Why?</a:t>
                </a:r>
              </a:p>
              <a:p>
                <a:pPr marL="361950" lvl="1" indent="0" algn="just">
                  <a:lnSpc>
                    <a:spcPct val="150000"/>
                  </a:lnSpc>
                  <a:buNone/>
                </a:pP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SD = </a:t>
                </a:r>
                <a:r>
                  <a:rPr lang="en-US" altLang="ko-KR" sz="16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aBaseSuperframeDuration </a:t>
                </a: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ko-KR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𝑺𝑶</m:t>
                        </m:r>
                      </m:sup>
                    </m:sSup>
                  </m:oMath>
                </a14:m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symbols</a:t>
                </a:r>
              </a:p>
              <a:p>
                <a:pPr marL="684000" lvl="1" indent="0" algn="just">
                  <a:lnSpc>
                    <a:spcPct val="150000"/>
                  </a:lnSpc>
                  <a:buNone/>
                </a:pP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aBaseSuperframeDuration = A*B  =&gt; 960 symbols = 3840 bits</a:t>
                </a:r>
              </a:p>
              <a:p>
                <a:pPr marL="684000" lvl="1" indent="0" algn="just">
                  <a:lnSpc>
                    <a:spcPct val="150000"/>
                  </a:lnSpc>
                  <a:buNone/>
                </a:pPr>
                <a:r>
                  <a:rPr lang="ko-KR" altLang="en-US" sz="1600" dirty="0">
                    <a:latin typeface="Cambria Math" panose="02040503050406030204" pitchFamily="18" charset="0"/>
                  </a:rPr>
                  <a:t>→ </a:t>
                </a: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960 sym * 4 bit / 250 kbps = 15.36 ms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400" b="1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6473DFD3-4BB5-48A1-82CE-34CE91C5A1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774384"/>
                <a:ext cx="9601200" cy="53285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9676780-784E-4345-91B1-56151F77B32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76635251-3920-44E6-8FF8-59BA5AA70E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605" y="-39634"/>
            <a:ext cx="6538022" cy="72834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 dirty="0"/>
              <a:t>IEEE 802.15.4 MAC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0E0CF26-1F0A-4B3B-8E12-4FD9809146A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976" y="1654187"/>
            <a:ext cx="5112577" cy="184682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BD05D6-7532-4FE4-A623-C0A3A54FA68F}"/>
              </a:ext>
            </a:extLst>
          </p:cNvPr>
          <p:cNvSpPr/>
          <p:nvPr/>
        </p:nvSpPr>
        <p:spPr>
          <a:xfrm>
            <a:off x="5050467" y="3043820"/>
            <a:ext cx="3252319" cy="169156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solidFill>
              <a:srgbClr val="324D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2366E0F-B426-4A21-B935-A0E1226381D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6" t="40918" r="2828" b="43831"/>
          <a:stretch/>
        </p:blipFill>
        <p:spPr>
          <a:xfrm>
            <a:off x="913672" y="2858851"/>
            <a:ext cx="3849824" cy="642158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90111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6473DFD3-4BB5-48A1-82CE-34CE91C5A1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774384"/>
                <a:ext cx="9601200" cy="5328592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b="1" dirty="0"/>
                  <a:t>Superframe </a:t>
                </a:r>
                <a:r>
                  <a:rPr lang="en-US" altLang="ko-KR" sz="1600" b="1" dirty="0"/>
                  <a:t>– BI</a:t>
                </a:r>
                <a:r>
                  <a:rPr lang="en-US" altLang="ko-KR" sz="1400" b="1" dirty="0">
                    <a:solidFill>
                      <a:schemeClr val="accent1"/>
                    </a:solidFill>
                  </a:rPr>
                  <a:t> </a:t>
                </a:r>
                <a:r>
                  <a:rPr lang="ko-KR" altLang="en-US" sz="1400" b="1" dirty="0"/>
                  <a:t>길이 계산 </a:t>
                </a:r>
                <a:endParaRPr lang="en-US" altLang="ko-KR" sz="1400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 symbol = 4bit / bit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rate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250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kbps = 250000 bit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aBaseSlotDuration (A) = 60 symbols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aNumSuperframe (B) = 16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ko-KR" altLang="en-US" sz="1400" dirty="0">
                    <a:latin typeface="Cambria Math" panose="02040503050406030204" pitchFamily="18" charset="0"/>
                  </a:rPr>
                  <a:t>식 </a:t>
                </a: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altLang="ko-K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ko-KR" sz="18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Why?</a:t>
                </a:r>
              </a:p>
              <a:p>
                <a:pPr marL="361950" lvl="1" indent="0" algn="just">
                  <a:lnSpc>
                    <a:spcPct val="150000"/>
                  </a:lnSpc>
                  <a:buNone/>
                </a:pP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BI = </a:t>
                </a:r>
                <a:r>
                  <a:rPr lang="en-US" altLang="ko-KR" sz="16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aBaseSuperframeDuration </a:t>
                </a: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*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ko-KR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𝑩𝑶</m:t>
                        </m:r>
                      </m:sup>
                    </m:sSup>
                  </m:oMath>
                </a14:m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symbols</a:t>
                </a:r>
              </a:p>
              <a:p>
                <a:pPr marL="612000" lvl="1" indent="0" algn="just">
                  <a:lnSpc>
                    <a:spcPct val="150000"/>
                  </a:lnSpc>
                  <a:buNone/>
                </a:pP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aBaseSuperframeDuration = A*B    </a:t>
                </a:r>
                <a:r>
                  <a:rPr lang="ko-KR" alt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→ </a:t>
                </a: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960 symbols = 3840 bits</a:t>
                </a:r>
              </a:p>
              <a:p>
                <a:pPr marL="612000" lvl="1" indent="0" algn="just">
                  <a:lnSpc>
                    <a:spcPct val="150000"/>
                  </a:lnSpc>
                  <a:buNone/>
                </a:pPr>
                <a:r>
                  <a:rPr lang="ko-KR" altLang="en-US" sz="1600" dirty="0">
                    <a:latin typeface="Cambria Math" panose="02040503050406030204" pitchFamily="18" charset="0"/>
                  </a:rPr>
                  <a:t>→ </a:t>
                </a: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960 sym * 4 bit / 250 kbps = 15.36 ms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400" b="1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6473DFD3-4BB5-48A1-82CE-34CE91C5A1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774384"/>
                <a:ext cx="9601200" cy="53285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9676780-784E-4345-91B1-56151F77B32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76635251-3920-44E6-8FF8-59BA5AA70E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605" y="-39634"/>
            <a:ext cx="6538022" cy="72834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 dirty="0"/>
              <a:t>IEEE 802.15.4 MAC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6F6A725-53E2-4AE3-8948-FBF9B5D6ABDC}"/>
              </a:ext>
            </a:extLst>
          </p:cNvPr>
          <p:cNvGrpSpPr/>
          <p:nvPr/>
        </p:nvGrpSpPr>
        <p:grpSpPr>
          <a:xfrm>
            <a:off x="4736976" y="1652885"/>
            <a:ext cx="5112577" cy="1848123"/>
            <a:chOff x="4793423" y="988551"/>
            <a:chExt cx="5112577" cy="1848123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0E0CF26-1F0A-4B3B-8E12-4FD9809146AB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3423" y="988551"/>
              <a:ext cx="5112577" cy="18481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01204F7-6BDB-4103-A712-955FCE6823E4}"/>
                </a:ext>
              </a:extLst>
            </p:cNvPr>
            <p:cNvSpPr/>
            <p:nvPr/>
          </p:nvSpPr>
          <p:spPr>
            <a:xfrm>
              <a:off x="5118761" y="2576793"/>
              <a:ext cx="4348998" cy="155702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  <a:ln>
              <a:solidFill>
                <a:srgbClr val="324D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E2366E0F-B426-4A21-B935-A0E1226381D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22" t="75634" b="11076"/>
          <a:stretch/>
        </p:blipFill>
        <p:spPr>
          <a:xfrm>
            <a:off x="943599" y="2869369"/>
            <a:ext cx="3849824" cy="559632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50244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4AB6FB1-07BD-4C91-BADC-BD1A3A6899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solidFill>
                    <a:prstClr val="white">
                      <a:lumMod val="65000"/>
                      <a:alpha val="50000"/>
                    </a:prstClr>
                  </a:solidFill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solidFill>
                  <a:prstClr val="white">
                    <a:lumMod val="65000"/>
                    <a:alpha val="50000"/>
                  </a:prstClr>
                </a:solidFill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맑은 고딕" pitchFamily="50" charset="-127"/>
              <a:cs typeface="+mn-cs"/>
            </a:endParaRPr>
          </a:p>
        </p:txBody>
      </p:sp>
      <p:sp>
        <p:nvSpPr>
          <p:cNvPr id="21" name="내용 개체 틀 6">
            <a:extLst>
              <a:ext uri="{FF2B5EF4-FFF2-40B4-BE49-F238E27FC236}">
                <a16:creationId xmlns:a16="http://schemas.microsoft.com/office/drawing/2014/main" id="{B42B2885-7CF8-4B4B-B3B1-246F7CE320B9}"/>
              </a:ext>
            </a:extLst>
          </p:cNvPr>
          <p:cNvSpPr txBox="1">
            <a:spLocks/>
          </p:cNvSpPr>
          <p:nvPr/>
        </p:nvSpPr>
        <p:spPr>
          <a:xfrm>
            <a:off x="152400" y="784945"/>
            <a:ext cx="96012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IEEE 802.15.4 Study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0485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2000" dirty="0"/>
              <a:t>부족한 부분 보충</a:t>
            </a:r>
            <a:endParaRPr lang="en-US" altLang="ko-KR" sz="2000" dirty="0"/>
          </a:p>
          <a:p>
            <a:pPr marL="70485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2000" dirty="0"/>
              <a:t>CSMA-CA in IEEE 802.15.4</a:t>
            </a:r>
          </a:p>
          <a:p>
            <a:pPr marL="70485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2000" dirty="0">
                <a:sym typeface="Wingdings" panose="05000000000000000000" pitchFamily="2" charset="2"/>
              </a:rPr>
              <a:t>Markov chain model of IEEE 802.15.4</a:t>
            </a:r>
          </a:p>
          <a:p>
            <a:pPr>
              <a:lnSpc>
                <a:spcPct val="150000"/>
              </a:lnSpc>
            </a:pPr>
            <a:endParaRPr lang="en-US" altLang="ko-KR" sz="2000" b="1" dirty="0"/>
          </a:p>
          <a:p>
            <a:pPr lvl="1">
              <a:lnSpc>
                <a:spcPct val="150000"/>
              </a:lnSpc>
            </a:pPr>
            <a:endParaRPr lang="en-US" altLang="ko-KR" sz="1100" dirty="0"/>
          </a:p>
        </p:txBody>
      </p:sp>
      <p:sp>
        <p:nvSpPr>
          <p:cNvPr id="13" name="텍스트 개체 틀 3">
            <a:extLst>
              <a:ext uri="{FF2B5EF4-FFF2-40B4-BE49-F238E27FC236}">
                <a16:creationId xmlns:a16="http://schemas.microsoft.com/office/drawing/2014/main" id="{3FB29778-1D36-4CCD-86A8-920A76E041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" y="-96537"/>
            <a:ext cx="6538913" cy="72750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 dirty="0"/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2789463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0" y="6519863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324D6D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  <a:latin typeface="Abadi" panose="020B0604020104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>
            <a:latin typeface="Abadi" panose="020B06040201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56500</TotalTime>
  <Words>1006</Words>
  <Application>Microsoft Office PowerPoint</Application>
  <PresentationFormat>A4 용지(210x297mm)</PresentationFormat>
  <Paragraphs>215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1" baseType="lpstr">
      <vt:lpstr>나눔바른펜</vt:lpstr>
      <vt:lpstr>나눔스퀘어_ac</vt:lpstr>
      <vt:lpstr>맑은 고딕</vt:lpstr>
      <vt:lpstr>함초롬돋움</vt:lpstr>
      <vt:lpstr>Abadi</vt:lpstr>
      <vt:lpstr>Arial</vt:lpstr>
      <vt:lpstr>Calibri</vt:lpstr>
      <vt:lpstr>Cambria Math</vt:lpstr>
      <vt:lpstr>Symbol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www.pello.co.kr</dc:creator>
  <cp:lastModifiedBy>GoGo</cp:lastModifiedBy>
  <cp:revision>2692</cp:revision>
  <cp:lastPrinted>2019-03-13T09:36:46Z</cp:lastPrinted>
  <dcterms:created xsi:type="dcterms:W3CDTF">2014-05-15T02:02:05Z</dcterms:created>
  <dcterms:modified xsi:type="dcterms:W3CDTF">2020-01-23T01:36:52Z</dcterms:modified>
</cp:coreProperties>
</file>