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notesMasterIdLst>
    <p:notesMasterId r:id="rId17"/>
  </p:notesMasterIdLst>
  <p:handoutMasterIdLst>
    <p:handoutMasterId r:id="rId18"/>
  </p:handoutMasterIdLst>
  <p:sldIdLst>
    <p:sldId id="480" r:id="rId2"/>
    <p:sldId id="669" r:id="rId3"/>
    <p:sldId id="671" r:id="rId4"/>
    <p:sldId id="673" r:id="rId5"/>
    <p:sldId id="702" r:id="rId6"/>
    <p:sldId id="686" r:id="rId7"/>
    <p:sldId id="693" r:id="rId8"/>
    <p:sldId id="694" r:id="rId9"/>
    <p:sldId id="700" r:id="rId10"/>
    <p:sldId id="697" r:id="rId11"/>
    <p:sldId id="698" r:id="rId12"/>
    <p:sldId id="699" r:id="rId13"/>
    <p:sldId id="703" r:id="rId14"/>
    <p:sldId id="711" r:id="rId15"/>
    <p:sldId id="526" r:id="rId16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185C952-61BE-44DD-B1AD-5B2841022E2C}">
          <p14:sldIdLst>
            <p14:sldId id="480"/>
            <p14:sldId id="669"/>
            <p14:sldId id="671"/>
            <p14:sldId id="673"/>
            <p14:sldId id="702"/>
            <p14:sldId id="686"/>
            <p14:sldId id="693"/>
            <p14:sldId id="694"/>
            <p14:sldId id="700"/>
            <p14:sldId id="697"/>
            <p14:sldId id="698"/>
            <p14:sldId id="699"/>
            <p14:sldId id="703"/>
            <p14:sldId id="711"/>
            <p14:sldId id="526"/>
          </p14:sldIdLst>
        </p14:section>
      </p14:sectionLst>
    </p:ext>
    <p:ext uri="{EFAFB233-063F-42B5-8137-9DF3F51BA10A}">
      <p15:sldGuideLst xmlns:p15="http://schemas.microsoft.com/office/powerpoint/2012/main">
        <p15:guide id="4" pos="3120" userDrawn="1">
          <p15:clr>
            <a:srgbClr val="A4A3A4"/>
          </p15:clr>
        </p15:guide>
        <p15:guide id="5" orient="horz" pos="164" userDrawn="1">
          <p15:clr>
            <a:srgbClr val="A4A3A4"/>
          </p15:clr>
        </p15:guide>
        <p15:guide id="6" pos="776" userDrawn="1">
          <p15:clr>
            <a:srgbClr val="A4A3A4"/>
          </p15:clr>
        </p15:guide>
        <p15:guide id="7" pos="5460" userDrawn="1">
          <p15:clr>
            <a:srgbClr val="A4A3A4"/>
          </p15:clr>
        </p15:guide>
        <p15:guide id="8" orient="horz" pos="2160" userDrawn="1">
          <p15:clr>
            <a:srgbClr val="A4A3A4"/>
          </p15:clr>
        </p15:guide>
        <p15:guide id="9" orient="horz" userDrawn="1">
          <p15:clr>
            <a:srgbClr val="A4A3A4"/>
          </p15:clr>
        </p15:guide>
        <p15:guide id="10" pos="171" userDrawn="1">
          <p15:clr>
            <a:srgbClr val="A4A3A4"/>
          </p15:clr>
        </p15:guide>
        <p15:guide id="11" userDrawn="1">
          <p15:clr>
            <a:srgbClr val="A4A3A4"/>
          </p15:clr>
        </p15:guide>
        <p15:guide id="12" pos="6239" userDrawn="1">
          <p15:clr>
            <a:srgbClr val="A4A3A4"/>
          </p15:clr>
        </p15:guide>
        <p15:guide id="13" pos="606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oGo" initials="G" lastIdx="3" clrIdx="0">
    <p:extLst>
      <p:ext uri="{19B8F6BF-5375-455C-9EA6-DF929625EA0E}">
        <p15:presenceInfo xmlns:p15="http://schemas.microsoft.com/office/powerpoint/2012/main" userId="GoG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0000"/>
    <a:srgbClr val="0070C0"/>
    <a:srgbClr val="CBEAC0"/>
    <a:srgbClr val="FFFF00"/>
    <a:srgbClr val="91C6F7"/>
    <a:srgbClr val="00B0F0"/>
    <a:srgbClr val="FF3300"/>
    <a:srgbClr val="009999"/>
    <a:srgbClr val="FF9F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37" autoAdjust="0"/>
    <p:restoredTop sz="95082" autoAdjust="0"/>
  </p:normalViewPr>
  <p:slideViewPr>
    <p:cSldViewPr>
      <p:cViewPr varScale="1">
        <p:scale>
          <a:sx n="114" d="100"/>
          <a:sy n="114" d="100"/>
        </p:scale>
        <p:origin x="1440" y="108"/>
      </p:cViewPr>
      <p:guideLst>
        <p:guide pos="3120"/>
        <p:guide orient="horz" pos="164"/>
        <p:guide pos="776"/>
        <p:guide pos="5460"/>
        <p:guide orient="horz" pos="2160"/>
        <p:guide orient="horz"/>
        <p:guide pos="171"/>
        <p:guide/>
        <p:guide pos="6239"/>
        <p:guide pos="6069"/>
      </p:guideLst>
    </p:cSldViewPr>
  </p:slideViewPr>
  <p:outlineViewPr>
    <p:cViewPr>
      <p:scale>
        <a:sx n="33" d="100"/>
        <a:sy n="33" d="100"/>
      </p:scale>
      <p:origin x="54" y="332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howGuides="1">
      <p:cViewPr varScale="1">
        <p:scale>
          <a:sx n="88" d="100"/>
          <a:sy n="88" d="100"/>
        </p:scale>
        <p:origin x="-3786" y="-12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6E13BF-BFFB-42BB-BB59-2242504D84BC}" type="datetimeFigureOut">
              <a:rPr lang="ko-KR" altLang="en-US" smtClean="0"/>
              <a:pPr/>
              <a:t>2020-02-06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D9ECC-A8B4-4BFB-9F52-FEFED605C5D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5308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81254B-8964-4F57-BA27-567E03392278}" type="datetimeFigureOut">
              <a:rPr lang="ko-KR" altLang="en-US" smtClean="0"/>
              <a:pPr/>
              <a:t>2020-02-06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68D633-98C0-43FF-9CFA-EF9A4754A8E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52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8D633-98C0-43FF-9CFA-EF9A4754A8E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324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1" r="-340"/>
          <a:stretch/>
        </p:blipFill>
        <p:spPr>
          <a:xfrm>
            <a:off x="4664968" y="3284984"/>
            <a:ext cx="5241032" cy="3024336"/>
          </a:xfrm>
          <a:prstGeom prst="rect">
            <a:avLst/>
          </a:prstGeom>
        </p:spPr>
      </p:pic>
      <p:sp>
        <p:nvSpPr>
          <p:cNvPr id="12" name="텍스트 개체 틀 9"/>
          <p:cNvSpPr>
            <a:spLocks noGrp="1"/>
          </p:cNvSpPr>
          <p:nvPr>
            <p:ph type="body" sz="quarter" idx="16" hasCustomPrompt="1"/>
          </p:nvPr>
        </p:nvSpPr>
        <p:spPr>
          <a:xfrm>
            <a:off x="272481" y="1737611"/>
            <a:ext cx="6396711" cy="67710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altLang="en-US" sz="4400" b="1" dirty="0" smtClean="0">
                <a:ln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8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72481" y="2911891"/>
            <a:ext cx="6396711" cy="1813253"/>
          </a:xfrm>
        </p:spPr>
        <p:txBody>
          <a:bodyPr>
            <a:noAutofit/>
          </a:bodyPr>
          <a:lstStyle>
            <a:lvl1pPr marL="0" indent="0" algn="l">
              <a:buNone/>
              <a:defRPr sz="2000" b="1" baseline="0">
                <a:ln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95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4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69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/>
              <a:t>SUBTITLE</a:t>
            </a:r>
          </a:p>
        </p:txBody>
      </p:sp>
      <p:pic>
        <p:nvPicPr>
          <p:cNvPr id="10" name="Picture 2" descr="C:\Users\Eui-Jik\Pictures\한림대 영문로고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09383" y="102762"/>
            <a:ext cx="1390465" cy="490075"/>
          </a:xfrm>
          <a:prstGeom prst="rect">
            <a:avLst/>
          </a:prstGeom>
          <a:noFill/>
        </p:spPr>
      </p:pic>
      <p:pic>
        <p:nvPicPr>
          <p:cNvPr id="11" name="Picture 3" descr="C:\Users\Eui-Jik\Google 드라이브\개인\CIC LAB\lab_logo.jpg"/>
          <p:cNvPicPr>
            <a:picLocks noChangeAspect="1" noChangeArrowheads="1"/>
          </p:cNvPicPr>
          <p:nvPr userDrawn="1"/>
        </p:nvPicPr>
        <p:blipFill rotWithShape="1">
          <a:blip r:embed="rId4" cstate="print"/>
          <a:srcRect r="50872"/>
          <a:stretch/>
        </p:blipFill>
        <p:spPr bwMode="auto">
          <a:xfrm>
            <a:off x="3941887" y="6044538"/>
            <a:ext cx="2379265" cy="804766"/>
          </a:xfrm>
          <a:prstGeom prst="rect">
            <a:avLst/>
          </a:prstGeom>
          <a:noFill/>
        </p:spPr>
      </p:pic>
      <p:grpSp>
        <p:nvGrpSpPr>
          <p:cNvPr id="25" name="그룹 24"/>
          <p:cNvGrpSpPr/>
          <p:nvPr userDrawn="1"/>
        </p:nvGrpSpPr>
        <p:grpSpPr>
          <a:xfrm flipV="1">
            <a:off x="0" y="2636912"/>
            <a:ext cx="9906000" cy="72008"/>
            <a:chOff x="0" y="6453336"/>
            <a:chExt cx="9906000" cy="46156"/>
          </a:xfrm>
        </p:grpSpPr>
        <p:sp>
          <p:nvSpPr>
            <p:cNvPr id="26" name="직사각형 25"/>
            <p:cNvSpPr/>
            <p:nvPr userDrawn="1"/>
          </p:nvSpPr>
          <p:spPr>
            <a:xfrm>
              <a:off x="1239688" y="6453336"/>
              <a:ext cx="8666312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/>
            <p:cNvSpPr/>
            <p:nvPr userDrawn="1"/>
          </p:nvSpPr>
          <p:spPr>
            <a:xfrm>
              <a:off x="0" y="6453773"/>
              <a:ext cx="1818446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434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774">
          <p15:clr>
            <a:srgbClr val="FBAE40"/>
          </p15:clr>
        </p15:guide>
        <p15:guide id="4" pos="54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내용 개체 틀 2"/>
          <p:cNvSpPr>
            <a:spLocks noGrp="1"/>
          </p:cNvSpPr>
          <p:nvPr>
            <p:ph idx="1"/>
          </p:nvPr>
        </p:nvSpPr>
        <p:spPr>
          <a:xfrm>
            <a:off x="144000" y="908720"/>
            <a:ext cx="9601200" cy="5328592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defRPr sz="2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1" r="-340"/>
          <a:stretch/>
        </p:blipFill>
        <p:spPr>
          <a:xfrm>
            <a:off x="4664968" y="3284984"/>
            <a:ext cx="5241032" cy="3024336"/>
          </a:xfrm>
          <a:prstGeom prst="rect">
            <a:avLst/>
          </a:prstGeom>
        </p:spPr>
      </p:pic>
      <p:sp>
        <p:nvSpPr>
          <p:cNvPr id="20" name="텍스트 개체 틀 6"/>
          <p:cNvSpPr>
            <a:spLocks noGrp="1"/>
          </p:cNvSpPr>
          <p:nvPr>
            <p:ph type="body" sz="quarter" idx="13" hasCustomPrompt="1"/>
          </p:nvPr>
        </p:nvSpPr>
        <p:spPr>
          <a:xfrm>
            <a:off x="143170" y="144000"/>
            <a:ext cx="6538022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4000" b="1" baseline="0">
                <a:ln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22" name="슬라이드 번호 개체 틀 21"/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>
            <a:lvl1pPr algn="ctr">
              <a:defRPr baseline="0">
                <a:latin typeface="Arial" pitchFamily="34" charset="0"/>
                <a:ea typeface="맑은 고딕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7" name="그룹 26"/>
          <p:cNvGrpSpPr/>
          <p:nvPr userDrawn="1"/>
        </p:nvGrpSpPr>
        <p:grpSpPr>
          <a:xfrm flipV="1">
            <a:off x="0" y="692696"/>
            <a:ext cx="9906000" cy="72008"/>
            <a:chOff x="0" y="6453336"/>
            <a:chExt cx="9906000" cy="46156"/>
          </a:xfrm>
        </p:grpSpPr>
        <p:sp>
          <p:nvSpPr>
            <p:cNvPr id="28" name="직사각형 27"/>
            <p:cNvSpPr/>
            <p:nvPr userDrawn="1"/>
          </p:nvSpPr>
          <p:spPr>
            <a:xfrm>
              <a:off x="1239688" y="6453336"/>
              <a:ext cx="8666312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0" y="6453773"/>
              <a:ext cx="1818446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09567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774">
          <p15:clr>
            <a:srgbClr val="FBAE40"/>
          </p15:clr>
        </p15:guide>
        <p15:guide id="4" pos="54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내용 개체 틀 2"/>
          <p:cNvSpPr>
            <a:spLocks noGrp="1"/>
          </p:cNvSpPr>
          <p:nvPr>
            <p:ph idx="1"/>
          </p:nvPr>
        </p:nvSpPr>
        <p:spPr>
          <a:xfrm>
            <a:off x="144000" y="908720"/>
            <a:ext cx="9601200" cy="5328592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defRPr sz="2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7" name="슬라이드 번호 개체 틀 21"/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>
            <a:lvl1pPr algn="ctr">
              <a:defRPr baseline="0">
                <a:latin typeface="Arial" pitchFamily="34" charset="0"/>
                <a:ea typeface="맑은 고딕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텍스트 개체 틀 6"/>
          <p:cNvSpPr>
            <a:spLocks noGrp="1"/>
          </p:cNvSpPr>
          <p:nvPr>
            <p:ph type="body" sz="quarter" idx="13" hasCustomPrompt="1"/>
          </p:nvPr>
        </p:nvSpPr>
        <p:spPr>
          <a:xfrm>
            <a:off x="143170" y="144000"/>
            <a:ext cx="6538022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4000" b="1" baseline="0">
                <a:ln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SLIDE MAIN TITLE</a:t>
            </a:r>
            <a:endParaRPr lang="ko-KR" altLang="en-US" dirty="0"/>
          </a:p>
        </p:txBody>
      </p:sp>
      <p:grpSp>
        <p:nvGrpSpPr>
          <p:cNvPr id="31" name="그룹 30"/>
          <p:cNvGrpSpPr/>
          <p:nvPr userDrawn="1"/>
        </p:nvGrpSpPr>
        <p:grpSpPr>
          <a:xfrm flipV="1">
            <a:off x="0" y="692696"/>
            <a:ext cx="9906000" cy="72008"/>
            <a:chOff x="0" y="6453336"/>
            <a:chExt cx="9906000" cy="46156"/>
          </a:xfrm>
        </p:grpSpPr>
        <p:sp>
          <p:nvSpPr>
            <p:cNvPr id="32" name="직사각형 31"/>
            <p:cNvSpPr/>
            <p:nvPr userDrawn="1"/>
          </p:nvSpPr>
          <p:spPr>
            <a:xfrm>
              <a:off x="1239688" y="6453336"/>
              <a:ext cx="8666312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/>
            <p:cNvSpPr/>
            <p:nvPr userDrawn="1"/>
          </p:nvSpPr>
          <p:spPr>
            <a:xfrm>
              <a:off x="0" y="6453773"/>
              <a:ext cx="1818446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46904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774">
          <p15:clr>
            <a:srgbClr val="FBAE40"/>
          </p15:clr>
        </p15:guide>
        <p15:guide id="4" pos="54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참조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dirty="0"/>
              <a:t>Reference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144000" y="908720"/>
            <a:ext cx="9601200" cy="5328592"/>
          </a:xfrm>
        </p:spPr>
        <p:txBody>
          <a:bodyPr>
            <a:normAutofit/>
          </a:bodyPr>
          <a:lstStyle>
            <a:lvl1pPr marL="514350" indent="-51435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Tx/>
              <a:buNone/>
              <a:defRPr sz="20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819150" indent="-45720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Tx/>
              <a:buNone/>
              <a:tabLst>
                <a:tab pos="542925" algn="l"/>
              </a:tabLst>
              <a:defRPr sz="24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1000125" indent="-45720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Tx/>
              <a:buNone/>
              <a:defRPr sz="20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238250" indent="-34290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Tx/>
              <a:buNone/>
              <a:defRPr sz="1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419225" indent="-34290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Tx/>
              <a:buNone/>
              <a:defRPr sz="1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grpSp>
        <p:nvGrpSpPr>
          <p:cNvPr id="5" name="그룹 4"/>
          <p:cNvGrpSpPr/>
          <p:nvPr userDrawn="1"/>
        </p:nvGrpSpPr>
        <p:grpSpPr>
          <a:xfrm flipV="1">
            <a:off x="0" y="692696"/>
            <a:ext cx="9906000" cy="72008"/>
            <a:chOff x="0" y="6453336"/>
            <a:chExt cx="9906000" cy="46156"/>
          </a:xfrm>
        </p:grpSpPr>
        <p:sp>
          <p:nvSpPr>
            <p:cNvPr id="6" name="직사각형 5"/>
            <p:cNvSpPr/>
            <p:nvPr userDrawn="1"/>
          </p:nvSpPr>
          <p:spPr>
            <a:xfrm>
              <a:off x="1239688" y="6453336"/>
              <a:ext cx="8666312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 userDrawn="1"/>
          </p:nvSpPr>
          <p:spPr>
            <a:xfrm>
              <a:off x="0" y="6453773"/>
              <a:ext cx="1818446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종료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1" r="-340"/>
          <a:stretch/>
        </p:blipFill>
        <p:spPr>
          <a:xfrm>
            <a:off x="4664968" y="3284984"/>
            <a:ext cx="5241032" cy="3024336"/>
          </a:xfrm>
          <a:prstGeom prst="rect">
            <a:avLst/>
          </a:prstGeom>
        </p:spPr>
      </p:pic>
      <p:pic>
        <p:nvPicPr>
          <p:cNvPr id="7" name="Picture 2" descr="C:\Users\Eui-Jik\Pictures\한림대 영문로고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09383" y="102762"/>
            <a:ext cx="1390465" cy="490075"/>
          </a:xfrm>
          <a:prstGeom prst="rect">
            <a:avLst/>
          </a:prstGeom>
          <a:noFill/>
        </p:spPr>
      </p:pic>
      <p:pic>
        <p:nvPicPr>
          <p:cNvPr id="8" name="Picture 3" descr="C:\Users\Eui-Jik\Google 드라이브\개인\CIC LAB\lab_logo.jpg"/>
          <p:cNvPicPr>
            <a:picLocks noChangeAspect="1" noChangeArrowheads="1"/>
          </p:cNvPicPr>
          <p:nvPr userDrawn="1"/>
        </p:nvPicPr>
        <p:blipFill rotWithShape="1">
          <a:blip r:embed="rId4" cstate="print"/>
          <a:srcRect r="50872"/>
          <a:stretch/>
        </p:blipFill>
        <p:spPr bwMode="auto">
          <a:xfrm>
            <a:off x="3447371" y="5877272"/>
            <a:ext cx="2873782" cy="972032"/>
          </a:xfrm>
          <a:prstGeom prst="rect">
            <a:avLst/>
          </a:prstGeom>
          <a:noFill/>
        </p:spPr>
      </p:pic>
      <p:grpSp>
        <p:nvGrpSpPr>
          <p:cNvPr id="16" name="그룹 15"/>
          <p:cNvGrpSpPr/>
          <p:nvPr userDrawn="1"/>
        </p:nvGrpSpPr>
        <p:grpSpPr>
          <a:xfrm>
            <a:off x="3129424" y="2780928"/>
            <a:ext cx="3647152" cy="1008112"/>
            <a:chOff x="3129424" y="2708920"/>
            <a:chExt cx="3647152" cy="1008112"/>
          </a:xfrm>
        </p:grpSpPr>
        <p:sp>
          <p:nvSpPr>
            <p:cNvPr id="2" name="TextBox 1"/>
            <p:cNvSpPr txBox="1"/>
            <p:nvPr userDrawn="1"/>
          </p:nvSpPr>
          <p:spPr>
            <a:xfrm>
              <a:off x="3129424" y="2708920"/>
              <a:ext cx="364715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400" b="1" dirty="0">
                  <a:ln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Thank you</a:t>
              </a:r>
              <a:endParaRPr lang="ko-KR" altLang="en-US" sz="5400" b="1" dirty="0">
                <a:ln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9" name="그룹 8"/>
            <p:cNvGrpSpPr/>
            <p:nvPr userDrawn="1"/>
          </p:nvGrpSpPr>
          <p:grpSpPr>
            <a:xfrm flipV="1">
              <a:off x="3188804" y="3645024"/>
              <a:ext cx="3528392" cy="72008"/>
              <a:chOff x="0" y="6453336"/>
              <a:chExt cx="9906000" cy="46156"/>
            </a:xfrm>
          </p:grpSpPr>
          <p:sp>
            <p:nvSpPr>
              <p:cNvPr id="10" name="직사각형 9"/>
              <p:cNvSpPr/>
              <p:nvPr userDrawn="1"/>
            </p:nvSpPr>
            <p:spPr>
              <a:xfrm>
                <a:off x="1239688" y="6453336"/>
                <a:ext cx="8666312" cy="4571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/>
              <p:cNvSpPr/>
              <p:nvPr userDrawn="1"/>
            </p:nvSpPr>
            <p:spPr>
              <a:xfrm>
                <a:off x="0" y="6453773"/>
                <a:ext cx="1818446" cy="45719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53157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774">
          <p15:clr>
            <a:srgbClr val="FBAE40"/>
          </p15:clr>
        </p15:guide>
        <p15:guide id="4" pos="54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000" y="144000"/>
            <a:ext cx="6537600" cy="554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lv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000" y="907200"/>
            <a:ext cx="9601200" cy="532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38575" y="6520259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ln>
                  <a:solidFill>
                    <a:schemeClr val="bg1">
                      <a:lumMod val="65000"/>
                      <a:alpha val="5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68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3" r:id="rId4"/>
    <p:sldLayoutId id="2147483782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en-US" altLang="ko-KR" sz="4000" b="1" kern="1200" baseline="0" dirty="0">
          <a:ln>
            <a:solidFill>
              <a:schemeClr val="tx1">
                <a:lumMod val="75000"/>
                <a:lumOff val="25000"/>
                <a:alpha val="50000"/>
              </a:schemeClr>
            </a:solidFill>
          </a:ln>
          <a:solidFill>
            <a:schemeClr val="tx1">
              <a:lumMod val="75000"/>
              <a:lumOff val="25000"/>
            </a:schemeClr>
          </a:solidFill>
          <a:effectLst/>
          <a:latin typeface="Arial" pitchFamily="34" charset="0"/>
          <a:ea typeface="맑은 고딕" pitchFamily="50" charset="-127"/>
          <a:cs typeface="Arial" pitchFamily="34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ln>
            <a:solidFill>
              <a:schemeClr val="tx1">
                <a:alpha val="50000"/>
              </a:schemeClr>
            </a:solidFill>
          </a:ln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ln>
            <a:solidFill>
              <a:schemeClr val="tx1">
                <a:alpha val="50000"/>
              </a:schemeClr>
            </a:solidFill>
          </a:ln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ln>
            <a:solidFill>
              <a:schemeClr val="tx1">
                <a:alpha val="50000"/>
              </a:schemeClr>
            </a:solidFill>
          </a:ln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ln>
            <a:solidFill>
              <a:schemeClr val="tx1">
                <a:alpha val="50000"/>
              </a:schemeClr>
            </a:solidFill>
          </a:ln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ln>
            <a:solidFill>
              <a:schemeClr val="tx1">
                <a:alpha val="50000"/>
              </a:schemeClr>
            </a:solidFill>
          </a:ln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0.png"/><Relationship Id="rId18" Type="http://schemas.openxmlformats.org/officeDocument/2006/relationships/image" Target="../media/image380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6" Type="http://schemas.openxmlformats.org/officeDocument/2006/relationships/image" Target="../media/image11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15" Type="http://schemas.openxmlformats.org/officeDocument/2006/relationships/image" Target="../media/image10.png"/><Relationship Id="rId19" Type="http://schemas.openxmlformats.org/officeDocument/2006/relationships/image" Target="../media/image77.png"/><Relationship Id="rId1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4.png"/><Relationship Id="rId21" Type="http://schemas.openxmlformats.org/officeDocument/2006/relationships/image" Target="../media/image17.png"/><Relationship Id="rId17" Type="http://schemas.openxmlformats.org/officeDocument/2006/relationships/image" Target="../media/image13.png"/><Relationship Id="rId2" Type="http://schemas.openxmlformats.org/officeDocument/2006/relationships/image" Target="../media/image11.png"/><Relationship Id="rId16" Type="http://schemas.openxmlformats.org/officeDocument/2006/relationships/image" Target="../media/image8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15" Type="http://schemas.openxmlformats.org/officeDocument/2006/relationships/image" Target="../media/image7.png"/><Relationship Id="rId19" Type="http://schemas.openxmlformats.org/officeDocument/2006/relationships/image" Target="../media/image15.png"/><Relationship Id="rId14" Type="http://schemas.openxmlformats.org/officeDocument/2006/relationships/image" Target="../media/image77.png"/><Relationship Id="rId4" Type="http://schemas.openxmlformats.org/officeDocument/2006/relationships/image" Target="../media/image38.png"/><Relationship Id="rId22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9.png"/><Relationship Id="rId7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56.png"/><Relationship Id="rId7" Type="http://schemas.openxmlformats.org/officeDocument/2006/relationships/image" Target="../media/image25.png"/><Relationship Id="rId17" Type="http://schemas.openxmlformats.org/officeDocument/2006/relationships/image" Target="../media/image7.png"/><Relationship Id="rId2" Type="http://schemas.openxmlformats.org/officeDocument/2006/relationships/image" Target="../media/image150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emf"/><Relationship Id="rId5" Type="http://schemas.openxmlformats.org/officeDocument/2006/relationships/image" Target="../media/image23.png"/><Relationship Id="rId15" Type="http://schemas.openxmlformats.org/officeDocument/2006/relationships/image" Target="../media/image190.png"/><Relationship Id="rId10" Type="http://schemas.openxmlformats.org/officeDocument/2006/relationships/image" Target="../media/image63.png"/><Relationship Id="rId4" Type="http://schemas.openxmlformats.org/officeDocument/2006/relationships/image" Target="../media/image22.png"/><Relationship Id="rId9" Type="http://schemas.openxmlformats.org/officeDocument/2006/relationships/image" Target="../media/image6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image" Target="../media/image25.wmf"/><Relationship Id="rId7" Type="http://schemas.openxmlformats.org/officeDocument/2006/relationships/image" Target="../media/image29.w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32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6"/>
          </p:nvPr>
        </p:nvSpPr>
        <p:spPr>
          <a:xfrm>
            <a:off x="272481" y="2066209"/>
            <a:ext cx="9361039" cy="56650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chemeClr val="tx1"/>
                </a:solidFill>
              </a:rPr>
              <a:t>IEEE 802.15.4 Study</a:t>
            </a:r>
          </a:p>
        </p:txBody>
      </p:sp>
      <p:sp>
        <p:nvSpPr>
          <p:cNvPr id="7" name="부제목 6"/>
          <p:cNvSpPr>
            <a:spLocks noGrp="1"/>
          </p:cNvSpPr>
          <p:nvPr>
            <p:ph type="subTitle" idx="1"/>
          </p:nvPr>
        </p:nvSpPr>
        <p:spPr>
          <a:xfrm>
            <a:off x="272481" y="2911891"/>
            <a:ext cx="6396711" cy="1741245"/>
          </a:xfrm>
        </p:spPr>
        <p:txBody>
          <a:bodyPr/>
          <a:lstStyle/>
          <a:p>
            <a:r>
              <a:rPr lang="en-US" altLang="ko-KR" sz="2000" dirty="0">
                <a:solidFill>
                  <a:schemeClr val="bg2">
                    <a:lumMod val="10000"/>
                  </a:schemeClr>
                </a:solidFill>
              </a:rPr>
              <a:t>2020</a:t>
            </a:r>
            <a:r>
              <a:rPr lang="ko-KR" altLang="en-US" sz="2000" dirty="0">
                <a:solidFill>
                  <a:schemeClr val="bg2">
                    <a:lumMod val="10000"/>
                  </a:schemeClr>
                </a:solidFill>
              </a:rPr>
              <a:t>년 </a:t>
            </a:r>
            <a:r>
              <a:rPr lang="en-US" altLang="ko-KR" sz="2000" dirty="0">
                <a:solidFill>
                  <a:schemeClr val="bg2">
                    <a:lumMod val="10000"/>
                  </a:schemeClr>
                </a:solidFill>
              </a:rPr>
              <a:t>02</a:t>
            </a:r>
            <a:r>
              <a:rPr lang="ko-KR" altLang="en-US" sz="2000" dirty="0">
                <a:solidFill>
                  <a:schemeClr val="bg2">
                    <a:lumMod val="10000"/>
                  </a:schemeClr>
                </a:solidFill>
              </a:rPr>
              <a:t>월 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06</a:t>
            </a:r>
            <a:r>
              <a:rPr lang="ko-KR" altLang="en-US" dirty="0">
                <a:solidFill>
                  <a:schemeClr val="bg2">
                    <a:lumMod val="10000"/>
                  </a:schemeClr>
                </a:solidFill>
              </a:rPr>
              <a:t>일</a:t>
            </a:r>
            <a:endParaRPr lang="en-US" altLang="ko-KR" sz="2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altLang="ko-KR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Go, Ha-Na</a:t>
            </a:r>
          </a:p>
          <a:p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20175301@hallym.ac.kr</a:t>
            </a:r>
          </a:p>
        </p:txBody>
      </p:sp>
    </p:spTree>
    <p:extLst>
      <p:ext uri="{BB962C8B-B14F-4D97-AF65-F5344CB8AC3E}">
        <p14:creationId xmlns:p14="http://schemas.microsoft.com/office/powerpoint/2010/main" val="2943523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idx="1"/>
          </p:nvPr>
        </p:nvSpPr>
        <p:spPr>
          <a:xfrm>
            <a:off x="152400" y="836712"/>
            <a:ext cx="9601200" cy="53285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IEEE 802.15.4 Study </a:t>
            </a: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진행 사항</a:t>
            </a:r>
            <a:endParaRPr lang="en-US" altLang="ko-KR" sz="2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CSMA-CA mechanism</a:t>
            </a:r>
          </a:p>
          <a:p>
            <a:pPr lvl="2">
              <a:lnSpc>
                <a:spcPct val="150000"/>
              </a:lnSpc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CSMA/CA</a:t>
            </a:r>
          </a:p>
          <a:p>
            <a:pPr lvl="2">
              <a:lnSpc>
                <a:spcPct val="150000"/>
              </a:lnSpc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Unslotted CSMA-CA</a:t>
            </a:r>
          </a:p>
          <a:p>
            <a:pPr lvl="2">
              <a:lnSpc>
                <a:spcPct val="150000"/>
              </a:lnSpc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Slotted CSMA/CA</a:t>
            </a:r>
          </a:p>
          <a:p>
            <a:pPr lvl="2">
              <a:lnSpc>
                <a:spcPct val="150000"/>
              </a:lnSpc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CSMA/CA In IEEE 802.15.4</a:t>
            </a:r>
          </a:p>
          <a:p>
            <a:pPr lvl="2">
              <a:lnSpc>
                <a:spcPct val="150000"/>
              </a:lnSpc>
            </a:pPr>
            <a:r>
              <a:rPr lang="en-US" altLang="ko-KR" sz="1600" b="1" dirty="0">
                <a:solidFill>
                  <a:schemeClr val="bg2">
                    <a:lumMod val="10000"/>
                  </a:schemeClr>
                </a:solidFill>
              </a:rPr>
              <a:t>IEEE 802.11 MAC</a:t>
            </a:r>
            <a:r>
              <a:rPr lang="ko-KR" altLang="en-US" sz="1600" b="1" dirty="0">
                <a:solidFill>
                  <a:schemeClr val="bg2">
                    <a:lumMod val="10000"/>
                  </a:schemeClr>
                </a:solidFill>
              </a:rPr>
              <a:t>과 </a:t>
            </a:r>
            <a:r>
              <a:rPr lang="en-US" altLang="ko-KR" sz="1600" b="1" dirty="0">
                <a:solidFill>
                  <a:schemeClr val="bg2">
                    <a:lumMod val="10000"/>
                  </a:schemeClr>
                </a:solidFill>
              </a:rPr>
              <a:t>IEEE 802.15.4 MAC</a:t>
            </a:r>
            <a:r>
              <a:rPr lang="ko-KR" altLang="en-US" sz="1600" b="1" dirty="0">
                <a:solidFill>
                  <a:schemeClr val="bg2">
                    <a:lumMod val="10000"/>
                  </a:schemeClr>
                </a:solidFill>
              </a:rPr>
              <a:t>의 차이점</a:t>
            </a:r>
            <a:endParaRPr lang="en-US" altLang="ko-KR" sz="1600" b="1" dirty="0">
              <a:solidFill>
                <a:schemeClr val="bg2">
                  <a:lumMod val="10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Markov chain model</a:t>
            </a:r>
          </a:p>
          <a:p>
            <a:pPr>
              <a:lnSpc>
                <a:spcPct val="150000"/>
              </a:lnSpc>
            </a:pPr>
            <a:r>
              <a:rPr lang="en-US" altLang="ko-KR" sz="2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Future Work</a:t>
            </a:r>
          </a:p>
          <a:p>
            <a:pPr marL="0" indent="0">
              <a:lnSpc>
                <a:spcPct val="150000"/>
              </a:lnSpc>
              <a:buNone/>
            </a:pPr>
            <a:endParaRPr lang="ko-KR" alt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88FB660-CAAA-403E-A2EA-0F19776BEC08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861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4AB6FB1-07BD-4C91-BADC-BD1A3A6899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solidFill>
                    <a:prstClr val="white">
                      <a:lumMod val="65000"/>
                      <a:alpha val="50000"/>
                    </a:prstClr>
                  </a:solidFill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맑은 고딕" pitchFamily="50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solidFill>
                  <a:prstClr val="white">
                    <a:lumMod val="65000"/>
                    <a:alpha val="50000"/>
                  </a:prstClr>
                </a:solidFill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맑은 고딕" pitchFamily="50" charset="-127"/>
              <a:cs typeface="+mn-cs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348006-BD7D-49B9-9E95-2D4DDBEBC3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604" y="-39634"/>
            <a:ext cx="7118651" cy="72834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3600" dirty="0"/>
              <a:t>CSMA-CA mechanism</a:t>
            </a:r>
          </a:p>
        </p:txBody>
      </p:sp>
      <p:sp>
        <p:nvSpPr>
          <p:cNvPr id="21" name="내용 개체 틀 6">
            <a:extLst>
              <a:ext uri="{FF2B5EF4-FFF2-40B4-BE49-F238E27FC236}">
                <a16:creationId xmlns:a16="http://schemas.microsoft.com/office/drawing/2014/main" id="{B42B2885-7CF8-4B4B-B3B1-246F7CE320B9}"/>
              </a:ext>
            </a:extLst>
          </p:cNvPr>
          <p:cNvSpPr txBox="1">
            <a:spLocks/>
          </p:cNvSpPr>
          <p:nvPr/>
        </p:nvSpPr>
        <p:spPr>
          <a:xfrm>
            <a:off x="152400" y="784944"/>
            <a:ext cx="9601200" cy="588441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66700" indent="-2667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b="1" dirty="0"/>
              <a:t>CSMA-CA in IEEE 802.15.4</a:t>
            </a:r>
          </a:p>
          <a:p>
            <a:pPr marL="641350" lvl="1" indent="-285750">
              <a:lnSpc>
                <a:spcPct val="150000"/>
              </a:lnSpc>
            </a:pPr>
            <a:r>
              <a:rPr lang="en-US" altLang="ko-KR" sz="1900" dirty="0">
                <a:solidFill>
                  <a:schemeClr val="accent1"/>
                </a:solidFill>
                <a:ea typeface="나눔바른펜" panose="020B0503000000000000" pitchFamily="50" charset="-127"/>
              </a:rPr>
              <a:t>CSMA/CA (Carrier Sense Multiple Access with Collision Avoidance)</a:t>
            </a:r>
          </a:p>
          <a:p>
            <a:pPr marL="831850" lvl="2" indent="-285750">
              <a:lnSpc>
                <a:spcPct val="150000"/>
              </a:lnSpc>
            </a:pPr>
            <a:r>
              <a:rPr lang="ko-KR" altLang="en-US" sz="1900" dirty="0">
                <a:latin typeface="+mn-ea"/>
                <a:ea typeface="+mn-ea"/>
              </a:rPr>
              <a:t>반송파 감지 다중 접속 충돌 회피</a:t>
            </a:r>
            <a:endParaRPr lang="en-US" altLang="ko-KR" sz="1900" dirty="0">
              <a:latin typeface="+mn-ea"/>
              <a:ea typeface="+mn-ea"/>
            </a:endParaRPr>
          </a:p>
          <a:p>
            <a:pPr marL="831850" lvl="2" indent="-285750">
              <a:lnSpc>
                <a:spcPct val="150000"/>
              </a:lnSpc>
            </a:pPr>
            <a:r>
              <a:rPr lang="ko-KR" altLang="en-US" sz="1900" dirty="0">
                <a:latin typeface="+mn-ea"/>
                <a:ea typeface="+mn-ea"/>
              </a:rPr>
              <a:t>무선 </a:t>
            </a:r>
            <a:r>
              <a:rPr lang="en-US" altLang="ko-KR" sz="1900" dirty="0">
                <a:latin typeface="+mn-ea"/>
                <a:ea typeface="+mn-ea"/>
              </a:rPr>
              <a:t>LAN</a:t>
            </a:r>
            <a:r>
              <a:rPr lang="ko-KR" altLang="en-US" sz="1900" dirty="0">
                <a:latin typeface="+mn-ea"/>
                <a:ea typeface="+mn-ea"/>
              </a:rPr>
              <a:t>에서는 충돌 감지가 거의 불가능</a:t>
            </a:r>
            <a:r>
              <a:rPr lang="en-US" altLang="ko-KR" sz="1900" dirty="0">
                <a:latin typeface="+mn-ea"/>
                <a:ea typeface="+mn-ea"/>
              </a:rPr>
              <a:t>, </a:t>
            </a:r>
            <a:r>
              <a:rPr lang="ko-KR" altLang="en-US" sz="1900" dirty="0">
                <a:latin typeface="+mn-ea"/>
                <a:ea typeface="+mn-ea"/>
              </a:rPr>
              <a:t>전송 전에 캐리어 감지를 해보고 </a:t>
            </a:r>
            <a:endParaRPr lang="en-US" altLang="ko-KR" sz="1900" dirty="0">
              <a:latin typeface="+mn-ea"/>
              <a:ea typeface="+mn-ea"/>
            </a:endParaRPr>
          </a:p>
          <a:p>
            <a:pPr marL="546100" lvl="2" indent="0">
              <a:lnSpc>
                <a:spcPct val="150000"/>
              </a:lnSpc>
              <a:buNone/>
            </a:pPr>
            <a:r>
              <a:rPr lang="en-US" altLang="ko-KR" sz="1900" dirty="0">
                <a:latin typeface="+mn-ea"/>
                <a:ea typeface="+mn-ea"/>
              </a:rPr>
              <a:t>    </a:t>
            </a:r>
            <a:r>
              <a:rPr lang="ko-KR" altLang="en-US" sz="1900" dirty="0">
                <a:latin typeface="+mn-ea"/>
                <a:ea typeface="+mn-ea"/>
              </a:rPr>
              <a:t>일정 시간을 기다린 후에 가능한 충돌을 회피하는 방식</a:t>
            </a:r>
            <a:endParaRPr lang="en-US" altLang="ko-KR" sz="1900" dirty="0">
              <a:latin typeface="+mn-ea"/>
              <a:ea typeface="+mn-ea"/>
            </a:endParaRPr>
          </a:p>
          <a:p>
            <a:pPr marL="546100" lvl="2" indent="0">
              <a:lnSpc>
                <a:spcPct val="150000"/>
              </a:lnSpc>
              <a:buNone/>
            </a:pPr>
            <a:endParaRPr lang="en-US" altLang="ko-KR" sz="1600" dirty="0">
              <a:latin typeface="+mn-ea"/>
              <a:ea typeface="+mn-ea"/>
            </a:endParaRPr>
          </a:p>
          <a:p>
            <a:pPr marL="641350" lvl="1" indent="-285750">
              <a:lnSpc>
                <a:spcPct val="150000"/>
              </a:lnSpc>
            </a:pPr>
            <a:r>
              <a:rPr lang="en-US" altLang="ko-KR" sz="1900" dirty="0">
                <a:solidFill>
                  <a:schemeClr val="accent1"/>
                </a:solidFill>
                <a:ea typeface="나눔바른펜" panose="020B0503000000000000" pitchFamily="50" charset="-127"/>
              </a:rPr>
              <a:t>Slotted CSMA/CA (Carrier Sense Multiple Access with Collision Detection)</a:t>
            </a:r>
          </a:p>
          <a:p>
            <a:pPr lvl="2">
              <a:lnSpc>
                <a:spcPct val="150000"/>
              </a:lnSpc>
            </a:pPr>
            <a:r>
              <a:rPr lang="en-US" altLang="ko-KR" sz="1900" dirty="0"/>
              <a:t>Beacon mode </a:t>
            </a:r>
          </a:p>
          <a:p>
            <a:pPr lvl="2">
              <a:lnSpc>
                <a:spcPct val="150000"/>
              </a:lnSpc>
            </a:pPr>
            <a:r>
              <a:rPr lang="en-US" altLang="ko-KR" sz="1900" dirty="0"/>
              <a:t>device</a:t>
            </a:r>
            <a:r>
              <a:rPr lang="ko-KR" altLang="en-US" sz="1900" dirty="0"/>
              <a:t>가 </a:t>
            </a:r>
            <a:r>
              <a:rPr lang="en-US" altLang="ko-KR" sz="1900" dirty="0"/>
              <a:t>CAP </a:t>
            </a:r>
            <a:r>
              <a:rPr lang="ko-KR" altLang="en-US" sz="1900" dirty="0"/>
              <a:t>구간동안 </a:t>
            </a:r>
            <a:r>
              <a:rPr lang="en-US" altLang="ko-KR" sz="1900" dirty="0"/>
              <a:t>data frames</a:t>
            </a:r>
            <a:r>
              <a:rPr lang="ko-KR" altLang="en-US" sz="1900" dirty="0"/>
              <a:t>을 원할 때마다 랜덤 수의 </a:t>
            </a:r>
            <a:r>
              <a:rPr lang="en-US" altLang="ko-KR" sz="1900" dirty="0"/>
              <a:t>backoff slots</a:t>
            </a:r>
            <a:r>
              <a:rPr lang="ko-KR" altLang="en-US" sz="1900" dirty="0"/>
              <a:t>을 대기함</a:t>
            </a:r>
            <a:endParaRPr lang="en-US" altLang="ko-KR" sz="1900" dirty="0"/>
          </a:p>
          <a:p>
            <a:pPr lvl="2">
              <a:lnSpc>
                <a:spcPct val="150000"/>
              </a:lnSpc>
            </a:pPr>
            <a:r>
              <a:rPr lang="en-US" altLang="ko-KR" sz="1900" dirty="0"/>
              <a:t>ACK, beacon frames</a:t>
            </a:r>
            <a:r>
              <a:rPr lang="ko-KR" altLang="en-US" sz="1900" dirty="0"/>
              <a:t>은 </a:t>
            </a:r>
            <a:r>
              <a:rPr lang="en-US" altLang="ko-KR" sz="1900" dirty="0"/>
              <a:t>CSMA-CA</a:t>
            </a:r>
            <a:r>
              <a:rPr lang="ko-KR" altLang="en-US" sz="1900" dirty="0"/>
              <a:t>을 사용하지 않고 전송됨</a:t>
            </a:r>
            <a:endParaRPr lang="en-US" altLang="ko-KR" sz="1900" dirty="0"/>
          </a:p>
          <a:p>
            <a:pPr lvl="2">
              <a:lnSpc>
                <a:spcPct val="150000"/>
              </a:lnSpc>
            </a:pPr>
            <a:r>
              <a:rPr lang="en-US" altLang="ko-KR" sz="1900" dirty="0"/>
              <a:t>Backoff boundary </a:t>
            </a:r>
            <a:r>
              <a:rPr lang="ko-KR" altLang="en-US" sz="1900" dirty="0"/>
              <a:t>설정</a:t>
            </a:r>
            <a:endParaRPr lang="en-US" altLang="ko-KR" sz="1900" dirty="0"/>
          </a:p>
          <a:p>
            <a:pPr lvl="2">
              <a:lnSpc>
                <a:spcPct val="150000"/>
              </a:lnSpc>
            </a:pPr>
            <a:endParaRPr lang="en-US" altLang="ko-KR" sz="1600" dirty="0"/>
          </a:p>
          <a:p>
            <a:pPr lvl="1">
              <a:lnSpc>
                <a:spcPct val="150000"/>
              </a:lnSpc>
            </a:pPr>
            <a:r>
              <a:rPr lang="en-US" altLang="ko-KR" sz="1900" dirty="0">
                <a:solidFill>
                  <a:schemeClr val="accent1"/>
                </a:solidFill>
              </a:rPr>
              <a:t>Unslotted CSMA-CA </a:t>
            </a:r>
          </a:p>
          <a:p>
            <a:pPr lvl="2">
              <a:lnSpc>
                <a:spcPct val="150000"/>
              </a:lnSpc>
            </a:pPr>
            <a:r>
              <a:rPr lang="en-US" altLang="ko-KR" sz="1900" dirty="0"/>
              <a:t>Non-beacon mode </a:t>
            </a:r>
          </a:p>
          <a:p>
            <a:pPr lvl="2">
              <a:lnSpc>
                <a:spcPct val="150000"/>
              </a:lnSpc>
            </a:pPr>
            <a:r>
              <a:rPr lang="ko-KR" altLang="en-US" sz="1900" dirty="0"/>
              <a:t>다른 </a:t>
            </a:r>
            <a:r>
              <a:rPr lang="en-US" altLang="ko-KR" sz="1900" dirty="0"/>
              <a:t>Device</a:t>
            </a:r>
            <a:r>
              <a:rPr lang="ko-KR" altLang="en-US" sz="1900" dirty="0"/>
              <a:t>와 동기화되지 않음</a:t>
            </a:r>
          </a:p>
          <a:p>
            <a:pPr marL="546100" lvl="2" indent="0">
              <a:lnSpc>
                <a:spcPct val="150000"/>
              </a:lnSpc>
              <a:buNone/>
            </a:pP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en-US" altLang="ko-KR" sz="1000" dirty="0"/>
          </a:p>
          <a:p>
            <a:pPr lvl="1">
              <a:lnSpc>
                <a:spcPct val="150000"/>
              </a:lnSpc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141788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4AB6FB1-07BD-4C91-BADC-BD1A3A6899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solidFill>
                    <a:prstClr val="white">
                      <a:lumMod val="65000"/>
                      <a:alpha val="50000"/>
                    </a:prstClr>
                  </a:solidFill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맑은 고딕" pitchFamily="50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solidFill>
                  <a:prstClr val="white">
                    <a:lumMod val="65000"/>
                    <a:alpha val="50000"/>
                  </a:prstClr>
                </a:solidFill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맑은 고딕" pitchFamily="50" charset="-127"/>
              <a:cs typeface="+mn-cs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348006-BD7D-49B9-9E95-2D4DDBEBC3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605" y="-39634"/>
            <a:ext cx="6538022" cy="72834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3600" dirty="0"/>
              <a:t>CSMA-CA mechanism</a:t>
            </a:r>
          </a:p>
        </p:txBody>
      </p:sp>
      <p:sp>
        <p:nvSpPr>
          <p:cNvPr id="21" name="내용 개체 틀 6">
            <a:extLst>
              <a:ext uri="{FF2B5EF4-FFF2-40B4-BE49-F238E27FC236}">
                <a16:creationId xmlns:a16="http://schemas.microsoft.com/office/drawing/2014/main" id="{B42B2885-7CF8-4B4B-B3B1-246F7CE320B9}"/>
              </a:ext>
            </a:extLst>
          </p:cNvPr>
          <p:cNvSpPr txBox="1">
            <a:spLocks/>
          </p:cNvSpPr>
          <p:nvPr/>
        </p:nvSpPr>
        <p:spPr>
          <a:xfrm>
            <a:off x="56562" y="784945"/>
            <a:ext cx="9601200" cy="5535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700" indent="-2667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2400" b="1" dirty="0"/>
              <a:t>Slotted CSMA-CA 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/>
              <a:t>Parameter</a:t>
            </a:r>
            <a:endParaRPr lang="en-US" altLang="ko-KR" sz="900" b="1" dirty="0"/>
          </a:p>
          <a:p>
            <a:pPr lvl="2">
              <a:lnSpc>
                <a:spcPct val="150000"/>
              </a:lnSpc>
            </a:pPr>
            <a:r>
              <a:rPr lang="en-US" altLang="ko-KR" sz="1600" dirty="0">
                <a:solidFill>
                  <a:schemeClr val="accent1"/>
                </a:solidFill>
              </a:rPr>
              <a:t>NB </a:t>
            </a:r>
          </a:p>
          <a:p>
            <a:pPr lvl="3">
              <a:lnSpc>
                <a:spcPct val="150000"/>
              </a:lnSpc>
            </a:pPr>
            <a:r>
              <a:rPr lang="en-US" altLang="ko-KR" sz="1200" dirty="0"/>
              <a:t>backoff </a:t>
            </a:r>
            <a:r>
              <a:rPr lang="ko-KR" altLang="en-US" sz="1200" dirty="0"/>
              <a:t>시도 횟수</a:t>
            </a:r>
            <a:endParaRPr lang="en-US" altLang="ko-KR" sz="1200" dirty="0"/>
          </a:p>
          <a:p>
            <a:pPr lvl="3">
              <a:lnSpc>
                <a:spcPct val="150000"/>
              </a:lnSpc>
            </a:pPr>
            <a:r>
              <a:rPr lang="ko-KR" altLang="en-US" sz="1200" dirty="0"/>
              <a:t>새로운 전송마다 </a:t>
            </a:r>
            <a:r>
              <a:rPr lang="en-US" altLang="ko-KR" sz="1200" dirty="0"/>
              <a:t>0</a:t>
            </a:r>
            <a:r>
              <a:rPr lang="ko-KR" altLang="en-US" sz="1200" dirty="0"/>
              <a:t>으로 초기화</a:t>
            </a:r>
            <a:endParaRPr lang="en-US" altLang="ko-KR" sz="1200" dirty="0"/>
          </a:p>
          <a:p>
            <a:pPr lvl="2">
              <a:lnSpc>
                <a:spcPct val="150000"/>
              </a:lnSpc>
            </a:pPr>
            <a:r>
              <a:rPr lang="en-US" altLang="ko-KR" sz="1600" dirty="0">
                <a:solidFill>
                  <a:schemeClr val="accent1"/>
                </a:solidFill>
              </a:rPr>
              <a:t>CW</a:t>
            </a:r>
            <a:r>
              <a:rPr lang="en-US" altLang="ko-KR" sz="1200" dirty="0">
                <a:solidFill>
                  <a:schemeClr val="accent1"/>
                </a:solidFill>
              </a:rPr>
              <a:t>(Contention Window)</a:t>
            </a:r>
            <a:r>
              <a:rPr lang="ko-KR" altLang="en-US" sz="1200" dirty="0"/>
              <a:t> </a:t>
            </a:r>
            <a:r>
              <a:rPr lang="ko-KR" altLang="en-US" sz="800" dirty="0"/>
              <a:t>전송 시작 전 활동이 없어야 하는 슬롯 기간의 수를 정의</a:t>
            </a:r>
            <a:endParaRPr lang="en-US" altLang="ko-KR" sz="650" dirty="0">
              <a:solidFill>
                <a:schemeClr val="accent1"/>
              </a:solidFill>
            </a:endParaRPr>
          </a:p>
          <a:p>
            <a:pPr lvl="3">
              <a:lnSpc>
                <a:spcPct val="150000"/>
              </a:lnSpc>
            </a:pPr>
            <a:r>
              <a:rPr lang="en-US" altLang="ko-KR" sz="1200" dirty="0"/>
              <a:t>backoff period </a:t>
            </a:r>
            <a:r>
              <a:rPr lang="ko-KR" altLang="en-US" sz="1200" dirty="0"/>
              <a:t>횟수 </a:t>
            </a:r>
            <a:r>
              <a:rPr lang="en-US" altLang="ko-KR" sz="1200" dirty="0"/>
              <a:t>(CCA </a:t>
            </a:r>
            <a:r>
              <a:rPr lang="ko-KR" altLang="en-US" sz="1200" dirty="0"/>
              <a:t>횟수</a:t>
            </a:r>
            <a:r>
              <a:rPr lang="en-US" altLang="ko-KR" sz="1200" dirty="0"/>
              <a:t>)</a:t>
            </a:r>
          </a:p>
          <a:p>
            <a:pPr lvl="3">
              <a:lnSpc>
                <a:spcPct val="150000"/>
              </a:lnSpc>
            </a:pPr>
            <a:r>
              <a:rPr lang="ko-KR" altLang="en-US" sz="1200" dirty="0"/>
              <a:t>각 전송 시도 전 </a:t>
            </a:r>
            <a:r>
              <a:rPr lang="en-US" altLang="ko-KR" sz="1200" dirty="0"/>
              <a:t>2</a:t>
            </a:r>
            <a:r>
              <a:rPr lang="ko-KR" altLang="en-US" sz="1200" dirty="0"/>
              <a:t>로 초기화</a:t>
            </a:r>
            <a:endParaRPr lang="en-US" altLang="ko-KR" sz="1200" dirty="0"/>
          </a:p>
          <a:p>
            <a:pPr lvl="3">
              <a:lnSpc>
                <a:spcPct val="150000"/>
              </a:lnSpc>
            </a:pPr>
            <a:r>
              <a:rPr lang="en-US" altLang="ko-KR" sz="1200" dirty="0"/>
              <a:t>CCA(Clear  Channel Assessment)</a:t>
            </a:r>
            <a:r>
              <a:rPr lang="ko-KR" altLang="en-US" sz="1200" dirty="0"/>
              <a:t>를 할 때마다 하나씩 감소</a:t>
            </a:r>
            <a:r>
              <a:rPr lang="en-US" altLang="ko-KR" sz="1200" dirty="0"/>
              <a:t>, </a:t>
            </a:r>
            <a:br>
              <a:rPr lang="en-US" altLang="ko-KR" sz="1200" dirty="0"/>
            </a:br>
            <a:r>
              <a:rPr lang="ko-KR" altLang="en-US" sz="1200" dirty="0"/>
              <a:t>값이 </a:t>
            </a:r>
            <a:r>
              <a:rPr lang="en-US" altLang="ko-KR" sz="1200" dirty="0"/>
              <a:t>0</a:t>
            </a:r>
            <a:r>
              <a:rPr lang="ko-KR" altLang="en-US" sz="1200" dirty="0"/>
              <a:t>이 되었을 때 </a:t>
            </a:r>
            <a:r>
              <a:rPr lang="en-US" altLang="ko-KR" sz="1200" dirty="0"/>
              <a:t>CCA</a:t>
            </a:r>
            <a:r>
              <a:rPr lang="ko-KR" altLang="en-US" sz="1200" dirty="0"/>
              <a:t>를 하여 채널이 </a:t>
            </a:r>
            <a:r>
              <a:rPr lang="en-US" altLang="ko-KR" sz="1200" dirty="0"/>
              <a:t>idle</a:t>
            </a:r>
            <a:r>
              <a:rPr lang="ko-KR" altLang="en-US" sz="1200" dirty="0"/>
              <a:t>상태이면 전송 시작</a:t>
            </a:r>
            <a:endParaRPr lang="en-US" altLang="ko-KR" sz="1200" dirty="0"/>
          </a:p>
          <a:p>
            <a:pPr lvl="2">
              <a:lnSpc>
                <a:spcPct val="150000"/>
              </a:lnSpc>
            </a:pPr>
            <a:r>
              <a:rPr lang="en-US" altLang="ko-KR" sz="1600" dirty="0">
                <a:solidFill>
                  <a:schemeClr val="accent1"/>
                </a:solidFill>
              </a:rPr>
              <a:t>BE</a:t>
            </a:r>
            <a:r>
              <a:rPr lang="en-US" altLang="ko-KR" sz="1200" dirty="0">
                <a:solidFill>
                  <a:schemeClr val="accent1"/>
                </a:solidFill>
              </a:rPr>
              <a:t>(Backoff Exponent)</a:t>
            </a:r>
          </a:p>
          <a:p>
            <a:pPr lvl="3">
              <a:lnSpc>
                <a:spcPct val="150000"/>
              </a:lnSpc>
            </a:pPr>
            <a:r>
              <a:rPr lang="en-US" altLang="ko-KR" sz="1200" dirty="0"/>
              <a:t>macMinBE</a:t>
            </a:r>
            <a:r>
              <a:rPr lang="ko-KR" altLang="en-US" sz="1200" dirty="0"/>
              <a:t>로 초기화</a:t>
            </a:r>
            <a:endParaRPr lang="en-US" altLang="ko-KR" sz="1200" dirty="0"/>
          </a:p>
          <a:p>
            <a:pPr lvl="3">
              <a:lnSpc>
                <a:spcPct val="150000"/>
              </a:lnSpc>
            </a:pPr>
            <a:r>
              <a:rPr lang="ko-KR" altLang="en-US" sz="1200" dirty="0"/>
              <a:t>채널평가를 시도하기전</a:t>
            </a:r>
            <a:r>
              <a:rPr lang="en-US" altLang="ko-KR" sz="1200" dirty="0"/>
              <a:t>, </a:t>
            </a:r>
            <a:r>
              <a:rPr lang="ko-KR" altLang="en-US" sz="1200" dirty="0"/>
              <a:t>기기가 대기해야 하는 슬롯기간의 수와 관련된 </a:t>
            </a:r>
            <a:endParaRPr lang="en-US" altLang="ko-KR" sz="1200" dirty="0"/>
          </a:p>
          <a:p>
            <a:pPr marL="898525" lvl="3" indent="0">
              <a:lnSpc>
                <a:spcPct val="150000"/>
              </a:lnSpc>
              <a:buNone/>
            </a:pPr>
            <a:r>
              <a:rPr lang="en-US" altLang="ko-KR" sz="1200" dirty="0"/>
              <a:t>      </a:t>
            </a:r>
            <a:r>
              <a:rPr lang="ko-KR" altLang="en-US" sz="1200" dirty="0"/>
              <a:t>백오프지수를 결정하기 위한 파라미터 값</a:t>
            </a:r>
            <a:endParaRPr lang="en-US" altLang="ko-KR" sz="1200" dirty="0"/>
          </a:p>
          <a:p>
            <a:pPr lvl="2">
              <a:lnSpc>
                <a:spcPct val="150000"/>
              </a:lnSpc>
            </a:pPr>
            <a:endParaRPr lang="en-US" altLang="ko-KR" sz="1600" dirty="0"/>
          </a:p>
          <a:p>
            <a:pPr lvl="1">
              <a:lnSpc>
                <a:spcPct val="150000"/>
              </a:lnSpc>
            </a:pPr>
            <a:endParaRPr lang="en-US" altLang="ko-KR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69487AC-5F4D-43F8-B854-5B8DE0576C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04" t="2791" r="4271"/>
          <a:stretch/>
        </p:blipFill>
        <p:spPr>
          <a:xfrm>
            <a:off x="6676627" y="1379330"/>
            <a:ext cx="3024336" cy="434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17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D6F8111-D1D6-46B1-BF4F-F63AA481E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694" y="805958"/>
            <a:ext cx="9601200" cy="53285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/>
              <a:t>Slotted CSMA-CA 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0493010-D5C9-463E-9FEF-C51332C0DF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6C0F76-F61E-4F4E-8444-F0A1B08101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91625"/>
            <a:ext cx="6538022" cy="498598"/>
          </a:xfrm>
        </p:spPr>
        <p:txBody>
          <a:bodyPr/>
          <a:lstStyle/>
          <a:p>
            <a:r>
              <a:rPr lang="en-US" altLang="ko-KR" sz="3600" dirty="0"/>
              <a:t>CSMA-CA mechanism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4B5D0C5-24F3-4ECC-972A-4D82B47AC2B8}"/>
              </a:ext>
            </a:extLst>
          </p:cNvPr>
          <p:cNvGrpSpPr/>
          <p:nvPr/>
        </p:nvGrpSpPr>
        <p:grpSpPr>
          <a:xfrm>
            <a:off x="1856656" y="1206180"/>
            <a:ext cx="7169142" cy="5329238"/>
            <a:chOff x="2118254" y="1206180"/>
            <a:chExt cx="7169142" cy="5329238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1F5F1771-5935-48FD-A284-3D2E7114613A}"/>
                </a:ext>
              </a:extLst>
            </p:cNvPr>
            <p:cNvGrpSpPr/>
            <p:nvPr/>
          </p:nvGrpSpPr>
          <p:grpSpPr>
            <a:xfrm>
              <a:off x="2118254" y="1206180"/>
              <a:ext cx="7169142" cy="5329238"/>
              <a:chOff x="1318816" y="967354"/>
              <a:chExt cx="7169142" cy="5329238"/>
            </a:xfrm>
          </p:grpSpPr>
          <p:pic>
            <p:nvPicPr>
              <p:cNvPr id="6" name="내용 개체 틀 4">
                <a:extLst>
                  <a:ext uri="{FF2B5EF4-FFF2-40B4-BE49-F238E27FC236}">
                    <a16:creationId xmlns:a16="http://schemas.microsoft.com/office/drawing/2014/main" id="{39472A59-D397-4E9E-AEA0-9402C07522E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023" t="2941" r="3233" b="1071"/>
              <a:stretch/>
            </p:blipFill>
            <p:spPr>
              <a:xfrm>
                <a:off x="2955333" y="967354"/>
                <a:ext cx="3995333" cy="5329238"/>
              </a:xfrm>
              <a:prstGeom prst="rect">
                <a:avLst/>
              </a:prstGeom>
            </p:spPr>
          </p:pic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9E82C4A5-A495-42E4-9797-53CE163198A7}"/>
                  </a:ext>
                </a:extLst>
              </p:cNvPr>
              <p:cNvGrpSpPr/>
              <p:nvPr/>
            </p:nvGrpSpPr>
            <p:grpSpPr>
              <a:xfrm>
                <a:off x="1318816" y="1805514"/>
                <a:ext cx="7169142" cy="3585755"/>
                <a:chOff x="839633" y="1826807"/>
                <a:chExt cx="7169142" cy="3585755"/>
              </a:xfrm>
            </p:grpSpPr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12CED78-3A04-436D-BF61-2F02AC136DB4}"/>
                    </a:ext>
                  </a:extLst>
                </p:cNvPr>
                <p:cNvSpPr txBox="1"/>
                <p:nvPr/>
              </p:nvSpPr>
              <p:spPr>
                <a:xfrm>
                  <a:off x="6185231" y="1826807"/>
                  <a:ext cx="182354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ko-KR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BE</a:t>
                  </a:r>
                  <a:r>
                    <a:rPr lang="ko-KR" altLang="en-US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는</a:t>
                  </a:r>
                  <a:r>
                    <a:rPr lang="en-US" altLang="ko-KR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 2 or </a:t>
                  </a:r>
                  <a:r>
                    <a:rPr lang="ko-KR" altLang="en-US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상수 </a:t>
                  </a:r>
                  <a:r>
                    <a:rPr lang="en-US" altLang="ko-KR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macMinBE</a:t>
                  </a:r>
                  <a:r>
                    <a:rPr lang="ko-KR" altLang="en-US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값 </a:t>
                  </a:r>
                  <a:endParaRPr lang="en-US" altLang="ko-KR" sz="1000" dirty="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Arial" panose="020B0604020202020204" pitchFamily="34" charset="0"/>
                  </a:endParaRPr>
                </a:p>
                <a:p>
                  <a:pPr algn="l"/>
                  <a:r>
                    <a:rPr lang="ko-KR" altLang="en-US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둘 중 더 작은 값으로 설정</a:t>
                  </a:r>
                </a:p>
              </p:txBody>
            </p:sp>
            <p:cxnSp>
              <p:nvCxnSpPr>
                <p:cNvPr id="10" name="직선 화살표 연결선 9">
                  <a:extLst>
                    <a:ext uri="{FF2B5EF4-FFF2-40B4-BE49-F238E27FC236}">
                      <a16:creationId xmlns:a16="http://schemas.microsoft.com/office/drawing/2014/main" id="{4979529A-A57F-4045-B6F5-0448ED2C09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270199" y="2487395"/>
                  <a:ext cx="206597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5334CEF-4A32-4DB9-B521-D884274AC6D3}"/>
                    </a:ext>
                  </a:extLst>
                </p:cNvPr>
                <p:cNvSpPr txBox="1"/>
                <p:nvPr/>
              </p:nvSpPr>
              <p:spPr>
                <a:xfrm>
                  <a:off x="839633" y="2363309"/>
                  <a:ext cx="243044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ko-KR" altLang="en-US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그렇지 않다면 </a:t>
                  </a:r>
                  <a:r>
                    <a:rPr lang="en-US" altLang="ko-KR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BE</a:t>
                  </a:r>
                  <a:r>
                    <a:rPr lang="ko-KR" altLang="en-US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는 </a:t>
                  </a:r>
                  <a:r>
                    <a:rPr lang="en-US" altLang="ko-KR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macMinBE</a:t>
                  </a:r>
                  <a:r>
                    <a:rPr lang="ko-KR" altLang="en-US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값으로 설정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53440A5-CA0C-42B2-BCCE-64818BE98DCC}"/>
                    </a:ext>
                  </a:extLst>
                </p:cNvPr>
                <p:cNvSpPr txBox="1"/>
                <p:nvPr/>
              </p:nvSpPr>
              <p:spPr>
                <a:xfrm>
                  <a:off x="5344479" y="2774278"/>
                  <a:ext cx="2664296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ko-KR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backoff </a:t>
                  </a:r>
                  <a:r>
                    <a:rPr lang="ko-KR" altLang="en-US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기간의 시작 지점 찾기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36D3DBCB-7F2F-4680-8A97-04D1CE6D457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44479" y="3167667"/>
                      <a:ext cx="2664296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ko-KR" sz="100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Arial" panose="020B0604020202020204" pitchFamily="34" charset="0"/>
                        </a:rPr>
                        <a:t>[0,</a:t>
                      </a:r>
                      <a:r>
                        <a:rPr lang="en-US" altLang="ko-KR" sz="1000" dirty="0">
                          <a:ea typeface="나눔스퀘어_ac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14:m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sz="1000" i="1">
                                  <a:latin typeface="Cambria Math" panose="02040503050406030204" pitchFamily="18" charset="0"/>
                                  <a:ea typeface="나눔스퀘어_ac" panose="020B0600000101010101" pitchFamily="50" charset="-127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000" i="1">
                                  <a:latin typeface="Cambria Math" panose="02040503050406030204" pitchFamily="18" charset="0"/>
                                  <a:ea typeface="나눔스퀘어_ac" panose="020B0600000101010101" pitchFamily="50" charset="-127"/>
                                  <a:cs typeface="Arial" panose="020B060402020202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sz="1000" i="1">
                                  <a:latin typeface="Cambria Math" panose="02040503050406030204" pitchFamily="18" charset="0"/>
                                  <a:ea typeface="나눔스퀘어_ac" panose="020B0600000101010101" pitchFamily="50" charset="-127"/>
                                  <a:cs typeface="Arial" panose="020B0604020202020204" pitchFamily="34" charset="0"/>
                                </a:rPr>
                                <m:t>𝐵𝐸</m:t>
                              </m:r>
                            </m:sup>
                          </m:sSup>
                          <m:r>
                            <a:rPr lang="en-US" altLang="ko-KR" sz="1000" i="1">
                              <a:latin typeface="Cambria Math" panose="02040503050406030204" pitchFamily="18" charset="0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m:t>−1</m:t>
                          </m:r>
                        </m:oMath>
                      </a14:m>
                      <a:r>
                        <a:rPr lang="en-US" altLang="ko-KR" sz="100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Arial" panose="020B0604020202020204" pitchFamily="34" charset="0"/>
                        </a:rPr>
                        <a:t>]</a:t>
                      </a:r>
                      <a:r>
                        <a:rPr lang="ko-KR" altLang="en-US" sz="100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Arial" panose="020B0604020202020204" pitchFamily="34" charset="0"/>
                        </a:rPr>
                        <a:t>의 범위안에서 </a:t>
                      </a:r>
                      <a:endParaRPr lang="en-US" altLang="ko-KR" sz="1000" dirty="0"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algn="l"/>
                      <a:r>
                        <a:rPr lang="ko-KR" altLang="en-US" sz="1000" dirty="0"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Arial" panose="020B0604020202020204" pitchFamily="34" charset="0"/>
                        </a:rPr>
                        <a:t>임의의 대기시간을 생성함으로써 충돌을 피함</a:t>
                      </a:r>
                    </a:p>
                  </p:txBody>
                </p:sp>
              </mc:Choice>
              <mc:Fallback xmlns="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36D3DBCB-7F2F-4680-8A97-04D1CE6D457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44479" y="3167667"/>
                      <a:ext cx="2664296" cy="40011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b="-606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3C66D4D-BA3E-414A-BC0E-BF360D3B64FB}"/>
                    </a:ext>
                  </a:extLst>
                </p:cNvPr>
                <p:cNvSpPr txBox="1"/>
                <p:nvPr/>
              </p:nvSpPr>
              <p:spPr>
                <a:xfrm>
                  <a:off x="5344479" y="3671573"/>
                  <a:ext cx="266429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backoff </a:t>
                  </a:r>
                  <a:r>
                    <a:rPr lang="ko-KR" altLang="en-US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기간의 시작지점</a:t>
                  </a:r>
                  <a:r>
                    <a:rPr lang="en-US" altLang="ko-KR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(</a:t>
                  </a:r>
                  <a:r>
                    <a:rPr lang="ko-KR" altLang="en-US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경계</a:t>
                  </a:r>
                  <a:r>
                    <a:rPr lang="en-US" altLang="ko-KR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)</a:t>
                  </a:r>
                  <a:r>
                    <a:rPr lang="ko-KR" altLang="en-US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에 대한 </a:t>
                  </a:r>
                  <a:r>
                    <a:rPr lang="en-US" altLang="ko-KR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CCA(Clear  Channel Assessment) </a:t>
                  </a:r>
                  <a:r>
                    <a:rPr lang="ko-KR" altLang="en-US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수행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A8562E5-4BF6-493D-8C21-F503A326FB26}"/>
                    </a:ext>
                  </a:extLst>
                </p:cNvPr>
                <p:cNvSpPr txBox="1"/>
                <p:nvPr/>
              </p:nvSpPr>
              <p:spPr>
                <a:xfrm>
                  <a:off x="1717313" y="4325291"/>
                  <a:ext cx="1656184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이 단계에서의 </a:t>
                  </a:r>
                  <a:r>
                    <a:rPr lang="en-US" altLang="ko-KR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CW</a:t>
                  </a:r>
                  <a:r>
                    <a:rPr lang="ko-KR" altLang="en-US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는 </a:t>
                  </a:r>
                  <a:endParaRPr lang="en-US" altLang="ko-KR" sz="1000" dirty="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Arial" panose="020B0604020202020204" pitchFamily="34" charset="0"/>
                  </a:endParaRPr>
                </a:p>
                <a:p>
                  <a:r>
                    <a:rPr lang="en-US" altLang="ko-KR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CCA</a:t>
                  </a:r>
                  <a:r>
                    <a:rPr lang="ko-KR" altLang="en-US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가 </a:t>
                  </a:r>
                  <a:r>
                    <a:rPr lang="en-US" altLang="ko-KR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2</a:t>
                  </a:r>
                  <a:r>
                    <a:rPr lang="ko-KR" altLang="en-US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번 실행된다는 의미</a:t>
                  </a:r>
                  <a:endParaRPr lang="en-US" altLang="ko-KR" sz="1000" dirty="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Arial" panose="020B0604020202020204" pitchFamily="34" charset="0"/>
                  </a:endParaRPr>
                </a:p>
                <a:p>
                  <a:r>
                    <a:rPr lang="en-US" altLang="ko-KR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(CCA</a:t>
                  </a:r>
                  <a:r>
                    <a:rPr lang="ko-KR" altLang="en-US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에 대한 변수로 쓰임</a:t>
                  </a:r>
                  <a:r>
                    <a:rPr lang="en-US" altLang="ko-KR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)</a:t>
                  </a:r>
                  <a:endParaRPr lang="ko-KR" altLang="en-US" sz="1000" dirty="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16" name="연결선: 꺾임 15">
                  <a:extLst>
                    <a:ext uri="{FF2B5EF4-FFF2-40B4-BE49-F238E27FC236}">
                      <a16:creationId xmlns:a16="http://schemas.microsoft.com/office/drawing/2014/main" id="{B41625BA-7698-4C69-9A2A-9081DF4F3E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3278993" y="5132111"/>
                  <a:ext cx="233295" cy="132785"/>
                </a:xfrm>
                <a:prstGeom prst="bentConnector3">
                  <a:avLst>
                    <a:gd name="adj1" fmla="val -179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AC1912F-9128-446D-A764-10BC313D6E69}"/>
                    </a:ext>
                  </a:extLst>
                </p:cNvPr>
                <p:cNvSpPr txBox="1"/>
                <p:nvPr/>
              </p:nvSpPr>
              <p:spPr>
                <a:xfrm>
                  <a:off x="1298115" y="5166341"/>
                  <a:ext cx="198496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altLang="ko-KR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BE</a:t>
                  </a:r>
                  <a:r>
                    <a:rPr lang="ko-KR" altLang="en-US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가 </a:t>
                  </a:r>
                  <a:r>
                    <a:rPr lang="en-US" altLang="ko-KR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aMaxBE</a:t>
                  </a:r>
                  <a:r>
                    <a:rPr lang="ko-KR" altLang="en-US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rial" panose="020B0604020202020204" pitchFamily="34" charset="0"/>
                    </a:rPr>
                    <a:t>의 값 이하인지 확인</a:t>
                  </a:r>
                </a:p>
              </p:txBody>
            </p:sp>
            <p:cxnSp>
              <p:nvCxnSpPr>
                <p:cNvPr id="18" name="직선 화살표 연결선 17">
                  <a:extLst>
                    <a:ext uri="{FF2B5EF4-FFF2-40B4-BE49-F238E27FC236}">
                      <a16:creationId xmlns:a16="http://schemas.microsoft.com/office/drawing/2014/main" id="{ECE59E26-6DF1-49DA-8A74-8158AECC8AC9}"/>
                    </a:ext>
                  </a:extLst>
                </p:cNvPr>
                <p:cNvCxnSpPr/>
                <p:nvPr/>
              </p:nvCxnSpPr>
              <p:spPr>
                <a:xfrm>
                  <a:off x="4800495" y="2889694"/>
                  <a:ext cx="49704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직선 화살표 연결선 18">
                  <a:extLst>
                    <a:ext uri="{FF2B5EF4-FFF2-40B4-BE49-F238E27FC236}">
                      <a16:creationId xmlns:a16="http://schemas.microsoft.com/office/drawing/2014/main" id="{764ED656-C201-49E2-AAE4-8D42A3CCE197}"/>
                    </a:ext>
                  </a:extLst>
                </p:cNvPr>
                <p:cNvCxnSpPr/>
                <p:nvPr/>
              </p:nvCxnSpPr>
              <p:spPr>
                <a:xfrm>
                  <a:off x="4802063" y="3352506"/>
                  <a:ext cx="49704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직선 화살표 연결선 19">
                  <a:extLst>
                    <a:ext uri="{FF2B5EF4-FFF2-40B4-BE49-F238E27FC236}">
                      <a16:creationId xmlns:a16="http://schemas.microsoft.com/office/drawing/2014/main" id="{9BEFCEB2-851C-46E6-9F85-8AB5B84F0825}"/>
                    </a:ext>
                  </a:extLst>
                </p:cNvPr>
                <p:cNvCxnSpPr/>
                <p:nvPr/>
              </p:nvCxnSpPr>
              <p:spPr>
                <a:xfrm>
                  <a:off x="4800495" y="3856239"/>
                  <a:ext cx="49704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연결선: 꺾임 20">
                  <a:extLst>
                    <a:ext uri="{FF2B5EF4-FFF2-40B4-BE49-F238E27FC236}">
                      <a16:creationId xmlns:a16="http://schemas.microsoft.com/office/drawing/2014/main" id="{5100235A-9245-4D6D-B344-10B9436D75C7}"/>
                    </a:ext>
                  </a:extLst>
                </p:cNvPr>
                <p:cNvCxnSpPr/>
                <p:nvPr/>
              </p:nvCxnSpPr>
              <p:spPr>
                <a:xfrm rot="10800000">
                  <a:off x="3278992" y="4602290"/>
                  <a:ext cx="288032" cy="236601"/>
                </a:xfrm>
                <a:prstGeom prst="bentConnector3">
                  <a:avLst>
                    <a:gd name="adj1" fmla="val 907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149F5059-67A6-44EA-8B0D-8D25196CC7FF}"/>
                </a:ext>
              </a:extLst>
            </p:cNvPr>
            <p:cNvCxnSpPr>
              <a:cxnSpLocks/>
            </p:cNvCxnSpPr>
            <p:nvPr/>
          </p:nvCxnSpPr>
          <p:spPr>
            <a:xfrm>
              <a:off x="7257256" y="2204864"/>
              <a:ext cx="2065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14791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2902AAD3-8661-4761-82C9-6B15C42740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4000" y="908720"/>
                <a:ext cx="9601200" cy="5328592"/>
              </a:xfrm>
            </p:spPr>
            <p:txBody>
              <a:bodyPr/>
              <a:lstStyle/>
              <a:p>
                <a:r>
                  <a:rPr lang="en-US" altLang="ko-KR" sz="2400" b="1" dirty="0">
                    <a:solidFill>
                      <a:schemeClr val="bg2">
                        <a:lumMod val="10000"/>
                      </a:schemeClr>
                    </a:solidFill>
                  </a:rPr>
                  <a:t>In IEEE 802.15.4</a:t>
                </a:r>
              </a:p>
              <a:p>
                <a:pPr lvl="1">
                  <a:lnSpc>
                    <a:spcPct val="200000"/>
                  </a:lnSpc>
                </a:pPr>
                <a:r>
                  <a:rPr lang="en-US" altLang="ko-KR" sz="1600" dirty="0"/>
                  <a:t>CW = 0 </a:t>
                </a:r>
                <a:r>
                  <a:rPr lang="ko-KR" altLang="en-US" sz="1600" dirty="0"/>
                  <a:t>일 때</a:t>
                </a:r>
                <a:r>
                  <a:rPr lang="en-US" altLang="ko-KR" sz="1600" dirty="0"/>
                  <a:t>, CCA </a:t>
                </a:r>
                <a:r>
                  <a:rPr lang="ko-KR" altLang="en-US" sz="1600" dirty="0"/>
                  <a:t>수행 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매 </a:t>
                </a:r>
                <a:r>
                  <a:rPr lang="en-US" altLang="ko-KR" sz="1600" dirty="0"/>
                  <a:t>slot time</a:t>
                </a:r>
                <a:r>
                  <a:rPr lang="ko-KR" altLang="en-US" sz="1600" dirty="0"/>
                  <a:t>마다 수행하지 않음</a:t>
                </a:r>
                <a:r>
                  <a:rPr lang="en-US" altLang="ko-KR" sz="1600" dirty="0"/>
                  <a:t>)</a:t>
                </a:r>
              </a:p>
              <a:p>
                <a:pPr lvl="1">
                  <a:lnSpc>
                    <a:spcPct val="200000"/>
                  </a:lnSpc>
                </a:pPr>
                <a:r>
                  <a:rPr lang="en-US" altLang="ko-KR" sz="1600" dirty="0"/>
                  <a:t>CCA</a:t>
                </a:r>
                <a:r>
                  <a:rPr lang="ko-KR" altLang="en-US" sz="1600" dirty="0"/>
                  <a:t>를 </a:t>
                </a:r>
                <a:r>
                  <a:rPr lang="en-US" altLang="ko-KR" sz="1600" dirty="0"/>
                  <a:t>2</a:t>
                </a:r>
                <a:r>
                  <a:rPr lang="ko-KR" altLang="en-US" sz="1600" dirty="0"/>
                  <a:t>번 수행 후</a:t>
                </a:r>
                <a:r>
                  <a:rPr lang="en-US" altLang="ko-KR" sz="1600" dirty="0"/>
                  <a:t>, data </a:t>
                </a:r>
                <a:r>
                  <a:rPr lang="ko-KR" altLang="en-US" sz="1600" dirty="0"/>
                  <a:t>전송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다른 </a:t>
                </a:r>
                <a:r>
                  <a:rPr lang="en-US" altLang="ko-KR" sz="1600" dirty="0"/>
                  <a:t>device</a:t>
                </a:r>
                <a:r>
                  <a:rPr lang="ko-KR" altLang="en-US" sz="1600" dirty="0"/>
                  <a:t>는 계속 </a:t>
                </a:r>
                <a:r>
                  <a:rPr lang="en-US" altLang="ko-KR" sz="1600" dirty="0"/>
                  <a:t>count </a:t>
                </a:r>
                <a:r>
                  <a:rPr lang="ko-KR" altLang="en-US" sz="1600" dirty="0"/>
                  <a:t>진행</a:t>
                </a:r>
              </a:p>
              <a:p>
                <a:pPr lvl="1">
                  <a:lnSpc>
                    <a:spcPct val="200000"/>
                  </a:lnSpc>
                </a:pPr>
                <a:r>
                  <a:rPr lang="en-US" altLang="ko-KR" sz="1600" dirty="0"/>
                  <a:t>CCA </a:t>
                </a:r>
                <a:r>
                  <a:rPr lang="ko-KR" altLang="en-US" sz="1600" dirty="0"/>
                  <a:t>수행 시</a:t>
                </a:r>
                <a:r>
                  <a:rPr lang="en-US" altLang="ko-KR" sz="1600" dirty="0"/>
                  <a:t>, busy</a:t>
                </a:r>
                <a:r>
                  <a:rPr lang="ko-KR" altLang="en-US" sz="1600" dirty="0"/>
                  <a:t>할 경우 </a:t>
                </a:r>
                <a:r>
                  <a:rPr lang="en-US" altLang="ko-KR" sz="1600" dirty="0"/>
                  <a:t>[0,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스퀘어_ac" panose="020B0600000101010101" pitchFamily="50" charset="-127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스퀘어_ac" panose="020B0600000101010101" pitchFamily="50" charset="-127"/>
                          </a:rPr>
                          <m:t>2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스퀘어_ac" panose="020B0600000101010101" pitchFamily="50" charset="-127"/>
                          </a:rPr>
                          <m:t>𝐵𝐸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ea typeface="나눔스퀘어_ac" panose="020B0600000101010101" pitchFamily="50" charset="-127"/>
                      </a:rPr>
                      <m:t>−1</m:t>
                    </m:r>
                  </m:oMath>
                </a14:m>
                <a:r>
                  <a:rPr lang="en-US" altLang="ko-KR" sz="1600" dirty="0"/>
                  <a:t>] </a:t>
                </a:r>
                <a:r>
                  <a:rPr lang="ko-KR" altLang="en-US" sz="1600" dirty="0"/>
                  <a:t>중 임의의 값을 선택해 </a:t>
                </a:r>
                <a:r>
                  <a:rPr lang="en-US" altLang="ko-KR" sz="1600" dirty="0"/>
                  <a:t>backoff </a:t>
                </a:r>
                <a:r>
                  <a:rPr lang="ko-KR" altLang="en-US" sz="1600" dirty="0"/>
                  <a:t>다시 수행</a:t>
                </a:r>
                <a:endParaRPr lang="en-US" altLang="ko-KR" sz="1600" dirty="0"/>
              </a:p>
              <a:p>
                <a:pPr>
                  <a:lnSpc>
                    <a:spcPct val="200000"/>
                  </a:lnSpc>
                </a:pPr>
                <a:r>
                  <a:rPr lang="en-US" altLang="ko-KR" sz="2400" b="1" dirty="0">
                    <a:solidFill>
                      <a:schemeClr val="bg2">
                        <a:lumMod val="10000"/>
                      </a:schemeClr>
                    </a:solidFill>
                  </a:rPr>
                  <a:t>IEEE 802.11 MAC</a:t>
                </a:r>
                <a:r>
                  <a:rPr lang="ko-KR" altLang="en-US" sz="2400" b="1" dirty="0">
                    <a:solidFill>
                      <a:schemeClr val="bg2">
                        <a:lumMod val="10000"/>
                      </a:schemeClr>
                    </a:solidFill>
                  </a:rPr>
                  <a:t>과 </a:t>
                </a:r>
                <a:r>
                  <a:rPr lang="en-US" altLang="ko-KR" sz="2400" b="1" dirty="0">
                    <a:solidFill>
                      <a:schemeClr val="bg2">
                        <a:lumMod val="10000"/>
                      </a:schemeClr>
                    </a:solidFill>
                  </a:rPr>
                  <a:t>IEEE 802.15.4 MAC</a:t>
                </a:r>
                <a:r>
                  <a:rPr lang="ko-KR" altLang="en-US" sz="2400" b="1" dirty="0">
                    <a:solidFill>
                      <a:schemeClr val="bg2">
                        <a:lumMod val="10000"/>
                      </a:schemeClr>
                    </a:solidFill>
                  </a:rPr>
                  <a:t>의 차이점</a:t>
                </a:r>
                <a:endParaRPr lang="en-US" altLang="ko-KR" sz="2400" b="1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>
                  <a:lnSpc>
                    <a:spcPct val="200000"/>
                  </a:lnSpc>
                </a:pPr>
                <a:endParaRPr lang="ko-KR" altLang="en-US" sz="2000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2902AAD3-8661-4761-82C9-6B15C42740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4000" y="908720"/>
                <a:ext cx="9601200" cy="53285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6A566EE-87B0-4896-890A-B6CA732033F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ADDC86-10B1-40A7-8A55-BCAAFBCA04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91625"/>
            <a:ext cx="6538022" cy="498598"/>
          </a:xfrm>
        </p:spPr>
        <p:txBody>
          <a:bodyPr/>
          <a:lstStyle/>
          <a:p>
            <a:r>
              <a:rPr lang="en-US" altLang="ko-KR" sz="3600" dirty="0"/>
              <a:t>CSMA-CA mechanism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55347F3E-C608-4489-B98D-DFD705E8F0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0900422"/>
                  </p:ext>
                </p:extLst>
              </p:nvPr>
            </p:nvGraphicFramePr>
            <p:xfrm>
              <a:off x="222297" y="3861049"/>
              <a:ext cx="9444606" cy="1741721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4722303">
                      <a:extLst>
                        <a:ext uri="{9D8B030D-6E8A-4147-A177-3AD203B41FA5}">
                          <a16:colId xmlns:a16="http://schemas.microsoft.com/office/drawing/2014/main" val="569518509"/>
                        </a:ext>
                      </a:extLst>
                    </a:gridCol>
                    <a:gridCol w="4722303">
                      <a:extLst>
                        <a:ext uri="{9D8B030D-6E8A-4147-A177-3AD203B41FA5}">
                          <a16:colId xmlns:a16="http://schemas.microsoft.com/office/drawing/2014/main" val="2866814293"/>
                        </a:ext>
                      </a:extLst>
                    </a:gridCol>
                  </a:tblGrid>
                  <a:tr h="35223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IEEE 802.11 MAC</a:t>
                          </a:r>
                          <a:endParaRPr lang="ko-KR" altLang="en-US" dirty="0">
                            <a:latin typeface="나눔스퀘어_ac" panose="020B0600000101010101" pitchFamily="50" charset="-127"/>
                            <a:ea typeface="나눔스퀘어_ac" panose="020B0600000101010101" pitchFamily="50" charset="-127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IEEE 802.15.4 MAC</a:t>
                          </a:r>
                          <a:endParaRPr lang="ko-KR" altLang="en-US" dirty="0">
                            <a:latin typeface="나눔스퀘어_ac" panose="020B0600000101010101" pitchFamily="50" charset="-127"/>
                            <a:ea typeface="나눔스퀘어_ac" panose="020B0600000101010101" pitchFamily="50" charset="-127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8401678"/>
                      </a:ext>
                    </a:extLst>
                  </a:tr>
                  <a:tr h="1375961">
                    <a:tc>
                      <a:txBody>
                        <a:bodyPr/>
                        <a:lstStyle/>
                        <a:p>
                          <a:pPr marL="285750" indent="-285750" latinLnBrk="1">
                            <a:buFont typeface="Arial" panose="020B0604020202020204" pitchFamily="34" charset="0"/>
                            <a:buChar char="•"/>
                          </a:pPr>
                          <a:r>
                            <a:rPr lang="ko-KR" altLang="en-US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때마다 </a:t>
                          </a:r>
                          <a:r>
                            <a:rPr lang="en-US" altLang="ko-KR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CCA </a:t>
                          </a:r>
                          <a:r>
                            <a:rPr lang="ko-KR" altLang="en-US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수행</a:t>
                          </a:r>
                          <a:endParaRPr lang="en-US" altLang="ko-KR" sz="1400" dirty="0">
                            <a:latin typeface="나눔스퀘어_ac" panose="020B0600000101010101" pitchFamily="50" charset="-127"/>
                            <a:ea typeface="나눔스퀘어_ac" panose="020B0600000101010101" pitchFamily="50" charset="-127"/>
                            <a:cs typeface="Arial" panose="020B0604020202020204" pitchFamily="34" charset="0"/>
                          </a:endParaRPr>
                        </a:p>
                        <a:p>
                          <a:pPr marL="285750" indent="-285750" latinLnBrk="1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altLang="ko-KR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CCA </a:t>
                          </a:r>
                          <a:r>
                            <a:rPr lang="ko-KR" altLang="en-US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수행 후 </a:t>
                          </a:r>
                          <a:r>
                            <a:rPr lang="en-US" altLang="ko-KR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channel</a:t>
                          </a:r>
                          <a:r>
                            <a:rPr lang="ko-KR" altLang="en-US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이 </a:t>
                          </a:r>
                          <a:r>
                            <a:rPr lang="en-US" altLang="ko-KR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busy</a:t>
                          </a:r>
                          <a:r>
                            <a:rPr lang="ko-KR" altLang="en-US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하면 </a:t>
                          </a:r>
                          <a:r>
                            <a:rPr lang="en-US" altLang="ko-KR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backoff counter </a:t>
                          </a:r>
                          <a:r>
                            <a:rPr lang="ko-KR" altLang="en-US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유지</a:t>
                          </a:r>
                          <a:r>
                            <a:rPr lang="en-US" altLang="ko-KR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, idle</a:t>
                          </a:r>
                          <a:r>
                            <a:rPr lang="ko-KR" altLang="en-US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하면 </a:t>
                          </a:r>
                          <a:r>
                            <a:rPr lang="en-US" altLang="ko-KR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backoff counter </a:t>
                          </a:r>
                          <a:r>
                            <a:rPr lang="ko-KR" altLang="en-US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하나씩 감소</a:t>
                          </a:r>
                          <a:endParaRPr lang="en-US" altLang="ko-KR" sz="1400" dirty="0">
                            <a:latin typeface="나눔스퀘어_ac" panose="020B0600000101010101" pitchFamily="50" charset="-127"/>
                            <a:ea typeface="나눔스퀘어_ac" panose="020B0600000101010101" pitchFamily="50" charset="-127"/>
                            <a:cs typeface="Arial" panose="020B0604020202020204" pitchFamily="34" charset="0"/>
                          </a:endParaRPr>
                        </a:p>
                        <a:p>
                          <a:pPr marL="285750" indent="-285750" latinLnBrk="1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altLang="ko-KR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Backoff counter</a:t>
                          </a:r>
                          <a:r>
                            <a:rPr lang="ko-KR" altLang="en-US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가 </a:t>
                          </a:r>
                          <a:r>
                            <a:rPr lang="en-US" altLang="ko-KR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0</a:t>
                          </a:r>
                          <a:r>
                            <a:rPr lang="ko-KR" altLang="en-US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이 되면 전송 시도</a:t>
                          </a:r>
                          <a:endParaRPr lang="en-US" altLang="ko-KR" sz="1400" dirty="0">
                            <a:latin typeface="나눔스퀘어_ac" panose="020B0600000101010101" pitchFamily="50" charset="-127"/>
                            <a:ea typeface="나눔스퀘어_ac" panose="020B0600000101010101" pitchFamily="50" charset="-127"/>
                            <a:cs typeface="Arial" panose="020B0604020202020204" pitchFamily="34" charset="0"/>
                          </a:endParaRPr>
                        </a:p>
                        <a:p>
                          <a:pPr marL="285750" indent="-285750" latinLnBrk="1">
                            <a:buFont typeface="Arial" panose="020B0604020202020204" pitchFamily="34" charset="0"/>
                            <a:buChar char="•"/>
                          </a:pPr>
                          <a:r>
                            <a:rPr lang="ko-KR" altLang="en-US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전송에 실패하면 늘어난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400" i="1" smtClean="0">
                                      <a:latin typeface="Cambria Math" panose="02040503050406030204" pitchFamily="18" charset="0"/>
                                      <a:ea typeface="나눔스퀘어_ac" panose="020B0600000101010101" pitchFamily="50" charset="-127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나눔스퀘어_ac" panose="020B0600000101010101" pitchFamily="50" charset="-127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나눔스퀘어_ac" panose="020B0600000101010101" pitchFamily="50" charset="-127"/>
                                      <a:cs typeface="Arial" panose="020B0604020202020204" pitchFamily="34" charset="0"/>
                                    </a:rPr>
                                    <m:t>𝐵𝐸</m:t>
                                  </m:r>
                                </m:sup>
                              </m:s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나눔스퀘어_ac" panose="020B0600000101010101" pitchFamily="50" charset="-127"/>
                                  <a:cs typeface="Arial" panose="020B0604020202020204" pitchFamily="34" charset="0"/>
                                </a:rPr>
                                <m:t>−1</m:t>
                              </m:r>
                            </m:oMath>
                          </a14:m>
                          <a:r>
                            <a:rPr lang="en-US" altLang="ko-KR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ko-KR" altLang="en-US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중 임의의 값을 선택해 </a:t>
                          </a:r>
                          <a:r>
                            <a:rPr lang="en-US" altLang="ko-KR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backoff</a:t>
                          </a:r>
                          <a:r>
                            <a:rPr lang="en-US" altLang="ko-KR" sz="1400" baseline="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ko-KR" altLang="en-US" sz="1400" baseline="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다시 수행</a:t>
                          </a:r>
                          <a:endParaRPr lang="en-US" altLang="ko-KR" sz="1400" dirty="0">
                            <a:latin typeface="나눔스퀘어_ac" panose="020B0600000101010101" pitchFamily="50" charset="-127"/>
                            <a:ea typeface="나눔스퀘어_ac" panose="020B0600000101010101" pitchFamily="50" charset="-127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 latinLnBrk="1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altLang="ko-KR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CCA </a:t>
                          </a:r>
                          <a:r>
                            <a:rPr lang="ko-KR" altLang="en-US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수행 없이 </a:t>
                          </a:r>
                          <a:r>
                            <a:rPr lang="en-US" altLang="ko-KR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backoff counter</a:t>
                          </a:r>
                          <a:r>
                            <a:rPr lang="ko-KR" altLang="en-US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의 지속적인 감소</a:t>
                          </a:r>
                          <a:endParaRPr lang="en-US" altLang="ko-KR" sz="1400" dirty="0">
                            <a:latin typeface="나눔스퀘어_ac" panose="020B0600000101010101" pitchFamily="50" charset="-127"/>
                            <a:ea typeface="나눔스퀘어_ac" panose="020B0600000101010101" pitchFamily="50" charset="-127"/>
                            <a:cs typeface="Arial" panose="020B0604020202020204" pitchFamily="34" charset="0"/>
                          </a:endParaRPr>
                        </a:p>
                        <a:p>
                          <a:pPr marL="285750" indent="-285750" latinLnBrk="1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altLang="ko-KR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CCA</a:t>
                          </a:r>
                          <a:r>
                            <a:rPr lang="ko-KR" altLang="en-US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를 두 번 실행 후 두 번 다 </a:t>
                          </a:r>
                          <a:r>
                            <a:rPr lang="en-US" altLang="ko-KR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channel</a:t>
                          </a:r>
                          <a:r>
                            <a:rPr lang="ko-KR" altLang="en-US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이 </a:t>
                          </a:r>
                          <a:r>
                            <a:rPr lang="en-US" altLang="ko-KR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idle</a:t>
                          </a:r>
                          <a:r>
                            <a:rPr lang="ko-KR" altLang="en-US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하면 </a:t>
                          </a:r>
                          <a:r>
                            <a:rPr lang="en-US" altLang="ko-KR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data </a:t>
                          </a:r>
                          <a:r>
                            <a:rPr lang="ko-KR" altLang="en-US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전송</a:t>
                          </a:r>
                          <a:endParaRPr lang="en-US" altLang="ko-KR" sz="1400" dirty="0">
                            <a:latin typeface="나눔스퀘어_ac" panose="020B0600000101010101" pitchFamily="50" charset="-127"/>
                            <a:ea typeface="나눔스퀘어_ac" panose="020B0600000101010101" pitchFamily="50" charset="-127"/>
                            <a:cs typeface="Arial" panose="020B0604020202020204" pitchFamily="34" charset="0"/>
                          </a:endParaRPr>
                        </a:p>
                        <a:p>
                          <a:pPr marL="285750" indent="-285750" latinLnBrk="1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altLang="ko-KR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CCA</a:t>
                          </a:r>
                          <a:r>
                            <a:rPr lang="ko-KR" altLang="en-US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를 수행하는 중 </a:t>
                          </a:r>
                          <a:r>
                            <a:rPr lang="en-US" altLang="ko-KR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channel</a:t>
                          </a:r>
                          <a:r>
                            <a:rPr lang="ko-KR" altLang="en-US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이 </a:t>
                          </a:r>
                          <a:r>
                            <a:rPr lang="en-US" altLang="ko-KR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busy</a:t>
                          </a:r>
                          <a:r>
                            <a:rPr lang="ko-KR" altLang="en-US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함을 감지하면 늘어난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400" i="1" smtClean="0">
                                      <a:latin typeface="Cambria Math" panose="02040503050406030204" pitchFamily="18" charset="0"/>
                                      <a:ea typeface="나눔스퀘어_ac" panose="020B0600000101010101" pitchFamily="50" charset="-127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나눔스퀘어_ac" panose="020B0600000101010101" pitchFamily="50" charset="-127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나눔스퀘어_ac" panose="020B0600000101010101" pitchFamily="50" charset="-127"/>
                                      <a:cs typeface="Arial" panose="020B0604020202020204" pitchFamily="34" charset="0"/>
                                    </a:rPr>
                                    <m:t>𝐵𝐸</m:t>
                                  </m:r>
                                </m:sup>
                              </m:s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나눔스퀘어_ac" panose="020B0600000101010101" pitchFamily="50" charset="-127"/>
                                  <a:cs typeface="Arial" panose="020B0604020202020204" pitchFamily="34" charset="0"/>
                                </a:rPr>
                                <m:t>−1</m:t>
                              </m:r>
                            </m:oMath>
                          </a14:m>
                          <a:r>
                            <a:rPr lang="ko-KR" altLang="en-US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 중 임의의 값을 선택해 </a:t>
                          </a:r>
                          <a:r>
                            <a:rPr lang="en-US" altLang="ko-KR" sz="140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backoff</a:t>
                          </a:r>
                          <a:r>
                            <a:rPr lang="en-US" altLang="ko-KR" sz="1400" baseline="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ko-KR" altLang="en-US" sz="1400" baseline="0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다시 수행</a:t>
                          </a:r>
                          <a:endParaRPr lang="ko-KR" altLang="en-US" sz="1400" dirty="0">
                            <a:latin typeface="나눔스퀘어_ac" panose="020B0600000101010101" pitchFamily="50" charset="-127"/>
                            <a:ea typeface="나눔스퀘어_ac" panose="020B0600000101010101" pitchFamily="50" charset="-127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29737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55347F3E-C608-4489-B98D-DFD705E8F0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0900422"/>
                  </p:ext>
                </p:extLst>
              </p:nvPr>
            </p:nvGraphicFramePr>
            <p:xfrm>
              <a:off x="222297" y="3861049"/>
              <a:ext cx="9444606" cy="1741721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4722303">
                      <a:extLst>
                        <a:ext uri="{9D8B030D-6E8A-4147-A177-3AD203B41FA5}">
                          <a16:colId xmlns:a16="http://schemas.microsoft.com/office/drawing/2014/main" val="569518509"/>
                        </a:ext>
                      </a:extLst>
                    </a:gridCol>
                    <a:gridCol w="4722303">
                      <a:extLst>
                        <a:ext uri="{9D8B030D-6E8A-4147-A177-3AD203B41FA5}">
                          <a16:colId xmlns:a16="http://schemas.microsoft.com/office/drawing/2014/main" val="286681429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IEEE 802.11 MAC</a:t>
                          </a:r>
                          <a:endParaRPr lang="ko-KR" altLang="en-US" dirty="0">
                            <a:latin typeface="나눔스퀘어_ac" panose="020B0600000101010101" pitchFamily="50" charset="-127"/>
                            <a:ea typeface="나눔스퀘어_ac" panose="020B0600000101010101" pitchFamily="50" charset="-127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나눔스퀘어_ac" panose="020B0600000101010101" pitchFamily="50" charset="-127"/>
                              <a:ea typeface="나눔스퀘어_ac" panose="020B0600000101010101" pitchFamily="50" charset="-127"/>
                              <a:cs typeface="Arial" panose="020B0604020202020204" pitchFamily="34" charset="0"/>
                            </a:rPr>
                            <a:t>IEEE 802.15.4 MAC</a:t>
                          </a:r>
                          <a:endParaRPr lang="ko-KR" altLang="en-US" dirty="0">
                            <a:latin typeface="나눔스퀘어_ac" panose="020B0600000101010101" pitchFamily="50" charset="-127"/>
                            <a:ea typeface="나눔스퀘어_ac" panose="020B0600000101010101" pitchFamily="50" charset="-127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8401678"/>
                      </a:ext>
                    </a:extLst>
                  </a:tr>
                  <a:tr h="137596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28194" r="-100129" b="-3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8194" r="-129" b="-39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297374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5B608F04-2BE0-40A8-9A1B-F79BEBF9D827}"/>
              </a:ext>
            </a:extLst>
          </p:cNvPr>
          <p:cNvCxnSpPr>
            <a:cxnSpLocks/>
          </p:cNvCxnSpPr>
          <p:nvPr/>
        </p:nvCxnSpPr>
        <p:spPr>
          <a:xfrm>
            <a:off x="5241032" y="5301208"/>
            <a:ext cx="351865" cy="630749"/>
          </a:xfrm>
          <a:prstGeom prst="bentConnector3">
            <a:avLst>
              <a:gd name="adj1" fmla="val -30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8494008-3EBB-44AC-927D-B167DE85F080}"/>
              </a:ext>
            </a:extLst>
          </p:cNvPr>
          <p:cNvSpPr txBox="1"/>
          <p:nvPr/>
        </p:nvSpPr>
        <p:spPr>
          <a:xfrm>
            <a:off x="5544616" y="5776857"/>
            <a:ext cx="4361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  <a:cs typeface="Arial" panose="020B0604020202020204" pitchFamily="34" charset="0"/>
              </a:rPr>
              <a:t>저전력에 초점이 맞춰져 있기 때문에 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  <a:cs typeface="Arial" panose="020B0604020202020204" pitchFamily="34" charset="0"/>
              </a:rPr>
              <a:t>CCA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  <a:cs typeface="Arial" panose="020B0604020202020204" pitchFamily="34" charset="0"/>
              </a:rPr>
              <a:t>를 두 번만 수행함 </a:t>
            </a:r>
          </a:p>
        </p:txBody>
      </p:sp>
    </p:spTree>
    <p:extLst>
      <p:ext uri="{BB962C8B-B14F-4D97-AF65-F5344CB8AC3E}">
        <p14:creationId xmlns:p14="http://schemas.microsoft.com/office/powerpoint/2010/main" val="301456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BEB8ABC-95AF-4353-A0AD-0FF48AFBDC8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B13819-B594-49DA-A814-E05B1D2217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18600"/>
            <a:ext cx="9618830" cy="498598"/>
          </a:xfrm>
        </p:spPr>
        <p:txBody>
          <a:bodyPr/>
          <a:lstStyle/>
          <a:p>
            <a:r>
              <a:rPr lang="en-US" altLang="ko-KR" sz="36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Markov chain model </a:t>
            </a:r>
            <a:r>
              <a:rPr lang="en-US" altLang="ko-KR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of IEEE 802.15.4 </a:t>
            </a:r>
            <a:endParaRPr lang="ko-KR" altLang="en-US" sz="3600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6121EC91-FB2D-4E69-9AC9-7DFE60996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i="1" dirty="0"/>
              <a:t>Sofie </a:t>
            </a:r>
            <a:r>
              <a:rPr lang="en-US" altLang="ko-KR" sz="2000" i="1" dirty="0" err="1"/>
              <a:t>Pollin</a:t>
            </a:r>
            <a:r>
              <a:rPr lang="en-US" altLang="ko-KR" sz="2000" i="1" dirty="0"/>
              <a:t>, et al. “Performance Analysis of Slotted Carrier Sense IEEE 802.15.4 Medium Access Layer”(2008)</a:t>
            </a:r>
          </a:p>
          <a:p>
            <a:pPr lvl="1">
              <a:lnSpc>
                <a:spcPct val="200000"/>
              </a:lnSpc>
            </a:pPr>
            <a:r>
              <a:rPr lang="en-US" altLang="ko-KR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Markov Model for IEEE 802.15.4.</a:t>
            </a:r>
            <a:endParaRPr lang="en-US" altLang="ko-KR" sz="1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ko-KR" sz="2000" dirty="0">
              <a:latin typeface="Garamond" panose="02020404030301010803" pitchFamily="18" charset="0"/>
            </a:endParaRPr>
          </a:p>
          <a:p>
            <a:endParaRPr lang="en-US" altLang="ko-KR" sz="2000" dirty="0">
              <a:latin typeface="Garamond" panose="02020404030301010803" pitchFamily="18" charset="0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6176B7E8-7671-4E03-96B3-740ECB8842AB}"/>
              </a:ext>
            </a:extLst>
          </p:cNvPr>
          <p:cNvGrpSpPr/>
          <p:nvPr/>
        </p:nvGrpSpPr>
        <p:grpSpPr>
          <a:xfrm>
            <a:off x="560512" y="2350736"/>
            <a:ext cx="7848872" cy="3836995"/>
            <a:chOff x="326785" y="2206410"/>
            <a:chExt cx="8146207" cy="3861763"/>
          </a:xfrm>
        </p:grpSpPr>
        <p:pic>
          <p:nvPicPr>
            <p:cNvPr id="12" name="내용 개체 틀 4">
              <a:extLst>
                <a:ext uri="{FF2B5EF4-FFF2-40B4-BE49-F238E27FC236}">
                  <a16:creationId xmlns:a16="http://schemas.microsoft.com/office/drawing/2014/main" id="{687B1DB6-865E-4D74-92C0-B1116361BD5D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16208" y="2554056"/>
              <a:ext cx="7056784" cy="3514117"/>
            </a:xfrm>
            <a:prstGeom prst="rect">
              <a:avLst/>
            </a:prstGeom>
          </p:spPr>
        </p:pic>
        <p:sp>
          <p:nvSpPr>
            <p:cNvPr id="16" name="화살표: 원형 15">
              <a:extLst>
                <a:ext uri="{FF2B5EF4-FFF2-40B4-BE49-F238E27FC236}">
                  <a16:creationId xmlns:a16="http://schemas.microsoft.com/office/drawing/2014/main" id="{1F2DDF60-CEE5-4EEB-9C12-8E02D667A3AE}"/>
                </a:ext>
              </a:extLst>
            </p:cNvPr>
            <p:cNvSpPr/>
            <p:nvPr/>
          </p:nvSpPr>
          <p:spPr>
            <a:xfrm rot="21345410" flipH="1">
              <a:off x="6937665" y="2455058"/>
              <a:ext cx="1008112" cy="734354"/>
            </a:xfrm>
            <a:prstGeom prst="circularArrow">
              <a:avLst>
                <a:gd name="adj1" fmla="val 9842"/>
                <a:gd name="adj2" fmla="val 1032308"/>
                <a:gd name="adj3" fmla="val 20560343"/>
                <a:gd name="adj4" fmla="val 10236051"/>
                <a:gd name="adj5" fmla="val 16789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1" name="화살표: 원형 30">
              <a:extLst>
                <a:ext uri="{FF2B5EF4-FFF2-40B4-BE49-F238E27FC236}">
                  <a16:creationId xmlns:a16="http://schemas.microsoft.com/office/drawing/2014/main" id="{8A8C02A0-426A-407A-86D9-C9E3ADA7BCE5}"/>
                </a:ext>
              </a:extLst>
            </p:cNvPr>
            <p:cNvSpPr/>
            <p:nvPr/>
          </p:nvSpPr>
          <p:spPr>
            <a:xfrm rot="16200000" flipH="1">
              <a:off x="907985" y="3374322"/>
              <a:ext cx="1080120" cy="734354"/>
            </a:xfrm>
            <a:prstGeom prst="circularArrow">
              <a:avLst>
                <a:gd name="adj1" fmla="val 9842"/>
                <a:gd name="adj2" fmla="val 1032308"/>
                <a:gd name="adj3" fmla="val 20560343"/>
                <a:gd name="adj4" fmla="val 10655579"/>
                <a:gd name="adj5" fmla="val 1158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97786CA-6B13-489E-853C-61343B50BF9C}"/>
                </a:ext>
              </a:extLst>
            </p:cNvPr>
            <p:cNvSpPr txBox="1"/>
            <p:nvPr/>
          </p:nvSpPr>
          <p:spPr>
            <a:xfrm>
              <a:off x="6577624" y="2206410"/>
              <a:ext cx="17281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rPr>
                <a:t>Backoff counter</a:t>
              </a:r>
              <a:endParaRPr lang="ko-KR" altLang="en-US" sz="1400" dirty="0">
                <a:latin typeface="Cambria Math" panose="02040503050406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0DD3815-D9A2-449D-942D-C764F648A617}"/>
                </a:ext>
              </a:extLst>
            </p:cNvPr>
            <p:cNvSpPr txBox="1"/>
            <p:nvPr/>
          </p:nvSpPr>
          <p:spPr>
            <a:xfrm>
              <a:off x="326785" y="3587610"/>
              <a:ext cx="9066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rPr>
                <a:t>Stage</a:t>
              </a:r>
              <a:endParaRPr lang="ko-KR" altLang="en-US" sz="1400" dirty="0" err="1">
                <a:latin typeface="Cambria Math" panose="02040503050406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15CEDFD-3AC2-4A11-9DCA-739D8F67806B}"/>
                </a:ext>
              </a:extLst>
            </p:cNvPr>
            <p:cNvSpPr txBox="1"/>
            <p:nvPr/>
          </p:nvSpPr>
          <p:spPr>
            <a:xfrm>
              <a:off x="3363867" y="2258903"/>
              <a:ext cx="5040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rPr>
                <a:t>i, k</a:t>
              </a:r>
              <a:endParaRPr lang="ko-KR" altLang="en-US" sz="1600" dirty="0">
                <a:latin typeface="Cambria Math" panose="02040503050406030204" pitchFamily="18" charset="0"/>
                <a:cs typeface="Arial" panose="020B0604020202020204" pitchFamily="34" charset="0"/>
              </a:endParaRPr>
            </a:p>
          </p:txBody>
        </p: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8AF51EDA-7543-41B6-930E-78915FF552CF}"/>
                </a:ext>
              </a:extLst>
            </p:cNvPr>
            <p:cNvCxnSpPr>
              <a:cxnSpLocks/>
            </p:cNvCxnSpPr>
            <p:nvPr/>
          </p:nvCxnSpPr>
          <p:spPr>
            <a:xfrm>
              <a:off x="3603702" y="2569033"/>
              <a:ext cx="0" cy="216691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89785D7D-98B0-415A-A5A6-EBD01C53B988}"/>
              </a:ext>
            </a:extLst>
          </p:cNvPr>
          <p:cNvGrpSpPr/>
          <p:nvPr/>
        </p:nvGrpSpPr>
        <p:grpSpPr>
          <a:xfrm>
            <a:off x="7533549" y="5920699"/>
            <a:ext cx="2192447" cy="648547"/>
            <a:chOff x="7168794" y="6007790"/>
            <a:chExt cx="2192447" cy="648547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160CC124-228E-4FFC-8937-E7672EA689F6}"/>
                </a:ext>
              </a:extLst>
            </p:cNvPr>
            <p:cNvSpPr/>
            <p:nvPr/>
          </p:nvSpPr>
          <p:spPr>
            <a:xfrm>
              <a:off x="7208948" y="6021533"/>
              <a:ext cx="366481" cy="25328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324D6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E212F06-1058-4AD5-B1A0-6992A55FC556}"/>
                </a:ext>
              </a:extLst>
            </p:cNvPr>
            <p:cNvSpPr txBox="1"/>
            <p:nvPr/>
          </p:nvSpPr>
          <p:spPr>
            <a:xfrm>
              <a:off x="7552753" y="6007790"/>
              <a:ext cx="18084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rPr>
                <a:t>Stationary probability</a:t>
              </a:r>
              <a:endParaRPr lang="ko-KR" altLang="en-US" sz="1200" dirty="0" err="1">
                <a:latin typeface="Cambria Math" panose="02040503050406030204" pitchFamily="18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9A600B16-1E56-4BD0-A883-7DE61AA11F42}"/>
                    </a:ext>
                  </a:extLst>
                </p:cNvPr>
                <p:cNvSpPr/>
                <p:nvPr/>
              </p:nvSpPr>
              <p:spPr>
                <a:xfrm>
                  <a:off x="7168794" y="6274822"/>
                  <a:ext cx="572721" cy="3815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ko-KR" alt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9A600B16-1E56-4BD0-A883-7DE61AA11F4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8794" y="6274822"/>
                  <a:ext cx="572721" cy="38151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0798EFF-3411-42D6-ADA2-4BA71B80FF22}"/>
                </a:ext>
              </a:extLst>
            </p:cNvPr>
            <p:cNvSpPr txBox="1"/>
            <p:nvPr/>
          </p:nvSpPr>
          <p:spPr>
            <a:xfrm>
              <a:off x="7552753" y="6354715"/>
              <a:ext cx="18084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rPr>
                <a:t>transition probability</a:t>
              </a:r>
              <a:endParaRPr lang="ko-KR" altLang="en-US" sz="1200" dirty="0" err="1">
                <a:latin typeface="Cambria Math" panose="02040503050406030204" pitchFamily="18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3084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BEB8ABC-95AF-4353-A0AD-0FF48AFBDC8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43296" y="6525544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B13819-B594-49DA-A814-E05B1D2217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585" y="106635"/>
            <a:ext cx="9618830" cy="498598"/>
          </a:xfrm>
        </p:spPr>
        <p:txBody>
          <a:bodyPr/>
          <a:lstStyle/>
          <a:p>
            <a:r>
              <a:rPr lang="en-US" altLang="ko-KR" sz="36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Markov chain model </a:t>
            </a:r>
            <a:r>
              <a:rPr lang="en-US" altLang="ko-KR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of IEEE 802.15.4 </a:t>
            </a:r>
            <a:endParaRPr lang="ko-KR" altLang="en-US" sz="3600" dirty="0"/>
          </a:p>
        </p:txBody>
      </p:sp>
      <p:sp>
        <p:nvSpPr>
          <p:cNvPr id="15" name="내용 개체 틀 14">
            <a:extLst>
              <a:ext uri="{FF2B5EF4-FFF2-40B4-BE49-F238E27FC236}">
                <a16:creationId xmlns:a16="http://schemas.microsoft.com/office/drawing/2014/main" id="{A730030E-E6CC-435D-8C39-839C1C411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742" y="836712"/>
            <a:ext cx="9601200" cy="2592288"/>
          </a:xfrm>
        </p:spPr>
        <p:txBody>
          <a:bodyPr/>
          <a:lstStyle/>
          <a:p>
            <a:r>
              <a:rPr lang="en-US" altLang="ko-KR" dirty="0"/>
              <a:t>transition probabilities:</a:t>
            </a:r>
            <a:endParaRPr lang="ko-KR" altLang="en-US" dirty="0"/>
          </a:p>
        </p:txBody>
      </p: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14E9F556-8C56-458B-8040-FE00CA06F0B1}"/>
              </a:ext>
            </a:extLst>
          </p:cNvPr>
          <p:cNvGrpSpPr/>
          <p:nvPr/>
        </p:nvGrpSpPr>
        <p:grpSpPr>
          <a:xfrm>
            <a:off x="4530476" y="1073421"/>
            <a:ext cx="5235993" cy="1948619"/>
            <a:chOff x="4543264" y="1091514"/>
            <a:chExt cx="5235993" cy="1948619"/>
          </a:xfrm>
        </p:grpSpPr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0926EF94-CE95-4A05-9D83-B8BF025A1C69}"/>
                </a:ext>
              </a:extLst>
            </p:cNvPr>
            <p:cNvGrpSpPr/>
            <p:nvPr/>
          </p:nvGrpSpPr>
          <p:grpSpPr>
            <a:xfrm>
              <a:off x="4543264" y="1091514"/>
              <a:ext cx="5235993" cy="1948619"/>
              <a:chOff x="4543265" y="1091514"/>
              <a:chExt cx="5166630" cy="1948619"/>
            </a:xfrm>
          </p:grpSpPr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A85830AC-9D06-445E-9FD0-12115D09706D}"/>
                  </a:ext>
                </a:extLst>
              </p:cNvPr>
              <p:cNvPicPr/>
              <p:nvPr/>
            </p:nvPicPr>
            <p:blipFill rotWithShape="1">
              <a:blip r:embed="rId2"/>
              <a:srcRect t="-1" b="44894"/>
              <a:stretch/>
            </p:blipFill>
            <p:spPr>
              <a:xfrm>
                <a:off x="4543265" y="1451255"/>
                <a:ext cx="5166630" cy="1588878"/>
              </a:xfrm>
              <a:prstGeom prst="rect">
                <a:avLst/>
              </a:prstGeom>
            </p:spPr>
          </p:pic>
          <p:pic>
            <p:nvPicPr>
              <p:cNvPr id="79" name="그림 78">
                <a:extLst>
                  <a:ext uri="{FF2B5EF4-FFF2-40B4-BE49-F238E27FC236}">
                    <a16:creationId xmlns:a16="http://schemas.microsoft.com/office/drawing/2014/main" id="{C0FB09A0-E7E0-4DF8-9092-1D8969CB61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339951">
                <a:off x="8574377" y="1409208"/>
                <a:ext cx="778371" cy="338554"/>
              </a:xfrm>
              <a:prstGeom prst="rect">
                <a:avLst/>
              </a:prstGeom>
              <a:noFill/>
            </p:spPr>
          </p:pic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89E9AC2-ED3F-4D42-8BB9-1EDFBF5F8052}"/>
                  </a:ext>
                </a:extLst>
              </p:cNvPr>
              <p:cNvSpPr txBox="1"/>
              <p:nvPr/>
            </p:nvSpPr>
            <p:spPr>
              <a:xfrm>
                <a:off x="8776439" y="1091514"/>
                <a:ext cx="37424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600" dirty="0">
                    <a:latin typeface="Abadi" panose="020B0604020104020204" pitchFamily="34" charset="0"/>
                  </a:rPr>
                  <a:t>(1)</a:t>
                </a:r>
                <a:endParaRPr lang="ko-KR" altLang="en-US" sz="1600" dirty="0" err="1">
                  <a:latin typeface="Abadi" panose="020B0604020104020204" pitchFamily="34" charset="0"/>
                </a:endParaRPr>
              </a:p>
            </p:txBody>
          </p:sp>
        </p:grpSp>
        <p:cxnSp>
          <p:nvCxnSpPr>
            <p:cNvPr id="139" name="직선 화살표 연결선 138">
              <a:extLst>
                <a:ext uri="{FF2B5EF4-FFF2-40B4-BE49-F238E27FC236}">
                  <a16:creationId xmlns:a16="http://schemas.microsoft.com/office/drawing/2014/main" id="{6ABFAE18-0902-4A32-B97A-8096956211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34667" y="1530186"/>
              <a:ext cx="1969" cy="494830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직선 화살표 연결선 141">
              <a:extLst>
                <a:ext uri="{FF2B5EF4-FFF2-40B4-BE49-F238E27FC236}">
                  <a16:creationId xmlns:a16="http://schemas.microsoft.com/office/drawing/2014/main" id="{C296DF04-80F1-4222-A3BB-56977F25E889}"/>
                </a:ext>
              </a:extLst>
            </p:cNvPr>
            <p:cNvCxnSpPr>
              <a:cxnSpLocks/>
            </p:cNvCxnSpPr>
            <p:nvPr/>
          </p:nvCxnSpPr>
          <p:spPr>
            <a:xfrm>
              <a:off x="4672804" y="1519650"/>
              <a:ext cx="149067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직선 화살표 연결선 143">
              <a:extLst>
                <a:ext uri="{FF2B5EF4-FFF2-40B4-BE49-F238E27FC236}">
                  <a16:creationId xmlns:a16="http://schemas.microsoft.com/office/drawing/2014/main" id="{8B3C354D-AF86-4E4E-8158-83DC6130012E}"/>
                </a:ext>
              </a:extLst>
            </p:cNvPr>
            <p:cNvCxnSpPr>
              <a:cxnSpLocks/>
            </p:cNvCxnSpPr>
            <p:nvPr/>
          </p:nvCxnSpPr>
          <p:spPr>
            <a:xfrm>
              <a:off x="6225405" y="1496108"/>
              <a:ext cx="540583" cy="103646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화살표 연결선 158">
              <a:extLst>
                <a:ext uri="{FF2B5EF4-FFF2-40B4-BE49-F238E27FC236}">
                  <a16:creationId xmlns:a16="http://schemas.microsoft.com/office/drawing/2014/main" id="{E4B318BF-3EA2-47E2-A007-61DAFF54DD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81382" y="2239134"/>
              <a:ext cx="2098392" cy="13120"/>
            </a:xfrm>
            <a:prstGeom prst="straightConnector1">
              <a:avLst/>
            </a:prstGeom>
            <a:ln w="28575">
              <a:solidFill>
                <a:schemeClr val="accent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내용 개체 틀 14">
            <a:extLst>
              <a:ext uri="{FF2B5EF4-FFF2-40B4-BE49-F238E27FC236}">
                <a16:creationId xmlns:a16="http://schemas.microsoft.com/office/drawing/2014/main" id="{B136094A-A277-4723-9685-85E90CE470B6}"/>
              </a:ext>
            </a:extLst>
          </p:cNvPr>
          <p:cNvSpPr txBox="1">
            <a:spLocks/>
          </p:cNvSpPr>
          <p:nvPr/>
        </p:nvSpPr>
        <p:spPr>
          <a:xfrm>
            <a:off x="311504" y="3981016"/>
            <a:ext cx="8989350" cy="2952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700" indent="-2667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marL="0" indent="0">
              <a:buNone/>
            </a:pPr>
            <a:endParaRPr lang="en-US" altLang="ko-KR" sz="1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marL="0" indent="0">
              <a:buNone/>
            </a:pPr>
            <a:endParaRPr lang="en-US" altLang="ko-KR" sz="1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1E37E90-C67F-4577-8387-75B8AFD69034}"/>
              </a:ext>
            </a:extLst>
          </p:cNvPr>
          <p:cNvGrpSpPr/>
          <p:nvPr/>
        </p:nvGrpSpPr>
        <p:grpSpPr>
          <a:xfrm>
            <a:off x="2922490" y="3906390"/>
            <a:ext cx="2174526" cy="982515"/>
            <a:chOff x="777523" y="2258169"/>
            <a:chExt cx="2174526" cy="9825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A184BE56-7F88-4B8A-B9F0-B2A46E808B94}"/>
                    </a:ext>
                  </a:extLst>
                </p:cNvPr>
                <p:cNvSpPr/>
                <p:nvPr/>
              </p:nvSpPr>
              <p:spPr>
                <a:xfrm>
                  <a:off x="777523" y="2258169"/>
                  <a:ext cx="698909" cy="47788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ko-KR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ko-KR" alt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ko-KR" altLang="en-US" sz="2400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ko-KR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ko-KR" altLang="en-US" sz="24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A184BE56-7F88-4B8A-B9F0-B2A46E808B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523" y="2258169"/>
                  <a:ext cx="698909" cy="47788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D08C5F1-C461-4B03-A1AA-18CF5D97116B}"/>
                </a:ext>
              </a:extLst>
            </p:cNvPr>
            <p:cNvCxnSpPr/>
            <p:nvPr/>
          </p:nvCxnSpPr>
          <p:spPr>
            <a:xfrm>
              <a:off x="1008978" y="2708920"/>
              <a:ext cx="139826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6367722E-A0D8-4B74-861B-7F323B6A05D4}"/>
                </a:ext>
              </a:extLst>
            </p:cNvPr>
            <p:cNvCxnSpPr/>
            <p:nvPr/>
          </p:nvCxnSpPr>
          <p:spPr>
            <a:xfrm>
              <a:off x="1193138" y="2708920"/>
              <a:ext cx="135716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연결선: 꺾임 22">
              <a:extLst>
                <a:ext uri="{FF2B5EF4-FFF2-40B4-BE49-F238E27FC236}">
                  <a16:creationId xmlns:a16="http://schemas.microsoft.com/office/drawing/2014/main" id="{1FAC301C-38F4-452E-A1CD-AC2C7B4A0F3F}"/>
                </a:ext>
              </a:extLst>
            </p:cNvPr>
            <p:cNvCxnSpPr>
              <a:cxnSpLocks/>
            </p:cNvCxnSpPr>
            <p:nvPr/>
          </p:nvCxnSpPr>
          <p:spPr>
            <a:xfrm>
              <a:off x="1079841" y="2720882"/>
              <a:ext cx="218480" cy="356041"/>
            </a:xfrm>
            <a:prstGeom prst="bentConnector3">
              <a:avLst>
                <a:gd name="adj1" fmla="val -3046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4C801F7-35E5-4181-88A1-8ED5649AC54F}"/>
                </a:ext>
              </a:extLst>
            </p:cNvPr>
            <p:cNvSpPr txBox="1"/>
            <p:nvPr/>
          </p:nvSpPr>
          <p:spPr>
            <a:xfrm>
              <a:off x="1333985" y="2697138"/>
              <a:ext cx="16180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rPr>
                <a:t>Backoff counter</a:t>
              </a:r>
              <a:endParaRPr lang="ko-KR" altLang="en-US" sz="1400" dirty="0">
                <a:latin typeface="Cambria Math" panose="02040503050406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DE2DCC2-B892-4723-86FC-E40C0B025929}"/>
                </a:ext>
              </a:extLst>
            </p:cNvPr>
            <p:cNvSpPr txBox="1"/>
            <p:nvPr/>
          </p:nvSpPr>
          <p:spPr>
            <a:xfrm>
              <a:off x="1223857" y="2932907"/>
              <a:ext cx="12530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rPr>
                <a:t>Backoff Stage</a:t>
              </a:r>
              <a:endParaRPr lang="ko-KR" altLang="en-US" sz="1400" dirty="0">
                <a:latin typeface="Cambria Math" panose="02040503050406030204" pitchFamily="18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직사각형 97">
                <a:extLst>
                  <a:ext uri="{FF2B5EF4-FFF2-40B4-BE49-F238E27FC236}">
                    <a16:creationId xmlns:a16="http://schemas.microsoft.com/office/drawing/2014/main" id="{B715DAB9-5226-416A-8D53-1C8C4B7B5078}"/>
                  </a:ext>
                </a:extLst>
              </p:cNvPr>
              <p:cNvSpPr/>
              <p:nvPr/>
            </p:nvSpPr>
            <p:spPr>
              <a:xfrm>
                <a:off x="352270" y="4772343"/>
                <a:ext cx="20397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(2)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ko-KR" altLang="en-US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ko-KR" altLang="en-US" i="0">
                            <a:latin typeface="Cambria Math" panose="02040503050406030204" pitchFamily="18" charset="0"/>
                          </a:rPr>
                          <m:t>)(1−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endParaRPr lang="ko-KR" altLang="en-US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8" name="직사각형 97">
                <a:extLst>
                  <a:ext uri="{FF2B5EF4-FFF2-40B4-BE49-F238E27FC236}">
                    <a16:creationId xmlns:a16="http://schemas.microsoft.com/office/drawing/2014/main" id="{B715DAB9-5226-416A-8D53-1C8C4B7B50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70" y="4772343"/>
                <a:ext cx="2039726" cy="369332"/>
              </a:xfrm>
              <a:prstGeom prst="rect">
                <a:avLst/>
              </a:prstGeom>
              <a:blipFill>
                <a:blip r:embed="rId14"/>
                <a:stretch>
                  <a:fillRect l="-2695" t="-11667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C4B4F49C-4FF6-42E0-B140-85DA58ED6542}"/>
                  </a:ext>
                </a:extLst>
              </p:cNvPr>
              <p:cNvSpPr/>
              <p:nvPr/>
            </p:nvSpPr>
            <p:spPr>
              <a:xfrm>
                <a:off x="2148880" y="4630234"/>
                <a:ext cx="773610" cy="6598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C4B4F49C-4FF6-42E0-B140-85DA58ED65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880" y="4630234"/>
                <a:ext cx="773610" cy="65986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BBFA8E6D-255C-41C2-A99C-22E437D17713}"/>
              </a:ext>
            </a:extLst>
          </p:cNvPr>
          <p:cNvCxnSpPr>
            <a:cxnSpLocks/>
          </p:cNvCxnSpPr>
          <p:nvPr/>
        </p:nvCxnSpPr>
        <p:spPr>
          <a:xfrm>
            <a:off x="5075693" y="4986422"/>
            <a:ext cx="2920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2B4B20EB-A25F-4935-B76B-8CD86AB95716}"/>
              </a:ext>
            </a:extLst>
          </p:cNvPr>
          <p:cNvSpPr txBox="1"/>
          <p:nvPr/>
        </p:nvSpPr>
        <p:spPr>
          <a:xfrm>
            <a:off x="5367779" y="4832533"/>
            <a:ext cx="46977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Cambria Math" panose="02040503050406030204" pitchFamily="18" charset="0"/>
                <a:cs typeface="Arial" panose="020B0604020202020204" pitchFamily="34" charset="0"/>
              </a:rPr>
              <a:t>전송에 성공했을 때 다시 </a:t>
            </a:r>
            <a:r>
              <a:rPr lang="en-US" altLang="ko-KR" sz="1400" b="1" dirty="0">
                <a:latin typeface="Cambria Math" panose="02040503050406030204" pitchFamily="18" charset="0"/>
                <a:cs typeface="Arial" panose="020B0604020202020204" pitchFamily="34" charset="0"/>
              </a:rPr>
              <a:t>0</a:t>
            </a:r>
            <a:r>
              <a:rPr lang="ko-KR" altLang="en-US" sz="1400" b="1" dirty="0">
                <a:latin typeface="Cambria Math" panose="02040503050406030204" pitchFamily="18" charset="0"/>
                <a:cs typeface="Arial" panose="020B0604020202020204" pitchFamily="34" charset="0"/>
              </a:rPr>
              <a:t>번째 </a:t>
            </a:r>
            <a:r>
              <a:rPr lang="en-US" altLang="ko-KR" sz="1400" b="1" dirty="0">
                <a:latin typeface="Cambria Math" panose="02040503050406030204" pitchFamily="18" charset="0"/>
                <a:cs typeface="Arial" panose="020B0604020202020204" pitchFamily="34" charset="0"/>
              </a:rPr>
              <a:t>stage</a:t>
            </a:r>
            <a:r>
              <a:rPr lang="ko-KR" altLang="en-US" sz="1400" b="1" dirty="0">
                <a:latin typeface="Cambria Math" panose="02040503050406030204" pitchFamily="18" charset="0"/>
                <a:cs typeface="Arial" panose="020B0604020202020204" pitchFamily="34" charset="0"/>
              </a:rPr>
              <a:t>에서 </a:t>
            </a:r>
            <a:r>
              <a:rPr lang="en-US" altLang="ko-KR" sz="1400" b="1" dirty="0">
                <a:latin typeface="Cambria Math" panose="02040503050406030204" pitchFamily="18" charset="0"/>
                <a:cs typeface="Arial" panose="020B0604020202020204" pitchFamily="34" charset="0"/>
              </a:rPr>
              <a:t>backoff </a:t>
            </a:r>
            <a:r>
              <a:rPr lang="ko-KR" altLang="en-US" sz="1400" b="1" dirty="0">
                <a:latin typeface="Cambria Math" panose="02040503050406030204" pitchFamily="18" charset="0"/>
                <a:cs typeface="Arial" panose="020B0604020202020204" pitchFamily="34" charset="0"/>
              </a:rPr>
              <a:t>될 확률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7F343EB-76DD-48B2-92FD-97644F8B19BD}"/>
              </a:ext>
            </a:extLst>
          </p:cNvPr>
          <p:cNvSpPr txBox="1"/>
          <p:nvPr/>
        </p:nvSpPr>
        <p:spPr>
          <a:xfrm>
            <a:off x="352270" y="3967056"/>
            <a:ext cx="2713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(1) Backoff counter </a:t>
            </a:r>
            <a:r>
              <a:rPr lang="ko-KR" altLang="en-US" dirty="0">
                <a:latin typeface="Cambria Math" panose="02040503050406030204" pitchFamily="18" charset="0"/>
                <a:cs typeface="Arial" panose="020B0604020202020204" pitchFamily="34" charset="0"/>
              </a:rPr>
              <a:t>과정 </a:t>
            </a:r>
            <a:r>
              <a:rPr lang="en-US" altLang="ko-KR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: </a:t>
            </a:r>
            <a:endParaRPr lang="ko-KR" altLang="en-US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6EECA0FB-C663-4762-A7F9-38BC4CF71874}"/>
              </a:ext>
            </a:extLst>
          </p:cNvPr>
          <p:cNvGrpSpPr/>
          <p:nvPr/>
        </p:nvGrpSpPr>
        <p:grpSpPr>
          <a:xfrm>
            <a:off x="8464955" y="3114561"/>
            <a:ext cx="1328563" cy="504903"/>
            <a:chOff x="8398608" y="5903390"/>
            <a:chExt cx="1328563" cy="504903"/>
          </a:xfrm>
        </p:grpSpPr>
        <p:cxnSp>
          <p:nvCxnSpPr>
            <p:cNvPr id="155" name="직선 화살표 연결선 154">
              <a:extLst>
                <a:ext uri="{FF2B5EF4-FFF2-40B4-BE49-F238E27FC236}">
                  <a16:creationId xmlns:a16="http://schemas.microsoft.com/office/drawing/2014/main" id="{2A83B956-1B84-4445-B9F2-14F0D5B69C39}"/>
                </a:ext>
              </a:extLst>
            </p:cNvPr>
            <p:cNvCxnSpPr>
              <a:cxnSpLocks/>
            </p:cNvCxnSpPr>
            <p:nvPr/>
          </p:nvCxnSpPr>
          <p:spPr>
            <a:xfrm>
              <a:off x="8405186" y="6276720"/>
              <a:ext cx="40522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E076A910-BA96-4DAD-A788-9527829517EA}"/>
                </a:ext>
              </a:extLst>
            </p:cNvPr>
            <p:cNvSpPr txBox="1"/>
            <p:nvPr/>
          </p:nvSpPr>
          <p:spPr>
            <a:xfrm>
              <a:off x="8821005" y="6146683"/>
              <a:ext cx="90616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1100" dirty="0">
                  <a:latin typeface="Arial" panose="020B0604020202020204" pitchFamily="34" charset="0"/>
                  <a:cs typeface="Arial" panose="020B0604020202020204" pitchFamily="34" charset="0"/>
                </a:rPr>
                <a:t>(2)</a:t>
              </a:r>
              <a:r>
                <a:rPr lang="ko-KR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번 과정</a:t>
              </a:r>
            </a:p>
          </p:txBody>
        </p:sp>
        <p:cxnSp>
          <p:nvCxnSpPr>
            <p:cNvPr id="163" name="직선 화살표 연결선 162">
              <a:extLst>
                <a:ext uri="{FF2B5EF4-FFF2-40B4-BE49-F238E27FC236}">
                  <a16:creationId xmlns:a16="http://schemas.microsoft.com/office/drawing/2014/main" id="{B0EBF6F4-22C4-4A76-ACAD-A454A3EA9BBB}"/>
                </a:ext>
              </a:extLst>
            </p:cNvPr>
            <p:cNvCxnSpPr>
              <a:cxnSpLocks/>
            </p:cNvCxnSpPr>
            <p:nvPr/>
          </p:nvCxnSpPr>
          <p:spPr>
            <a:xfrm>
              <a:off x="8398608" y="6041889"/>
              <a:ext cx="418377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8571A71B-275F-49A4-9B85-CC19796AC6E1}"/>
                </a:ext>
              </a:extLst>
            </p:cNvPr>
            <p:cNvSpPr txBox="1"/>
            <p:nvPr/>
          </p:nvSpPr>
          <p:spPr>
            <a:xfrm>
              <a:off x="8816986" y="5903390"/>
              <a:ext cx="89362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1100" dirty="0">
                  <a:latin typeface="Arial" panose="020B0604020202020204" pitchFamily="34" charset="0"/>
                  <a:cs typeface="Arial" panose="020B0604020202020204" pitchFamily="34" charset="0"/>
                </a:rPr>
                <a:t>(1)</a:t>
              </a:r>
              <a:r>
                <a:rPr lang="ko-KR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번 과정</a:t>
              </a:r>
            </a:p>
          </p:txBody>
        </p:sp>
      </p:grpSp>
      <p:sp>
        <p:nvSpPr>
          <p:cNvPr id="177" name="사각형: 둥근 모서리 176">
            <a:extLst>
              <a:ext uri="{FF2B5EF4-FFF2-40B4-BE49-F238E27FC236}">
                <a16:creationId xmlns:a16="http://schemas.microsoft.com/office/drawing/2014/main" id="{BB75F0F2-27F2-4E8C-982C-C460DB93D71D}"/>
              </a:ext>
            </a:extLst>
          </p:cNvPr>
          <p:cNvSpPr/>
          <p:nvPr/>
        </p:nvSpPr>
        <p:spPr>
          <a:xfrm>
            <a:off x="2452402" y="4557783"/>
            <a:ext cx="379514" cy="857278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C427051A-86DD-4929-A3E1-412530B6D643}"/>
              </a:ext>
            </a:extLst>
          </p:cNvPr>
          <p:cNvGrpSpPr/>
          <p:nvPr/>
        </p:nvGrpSpPr>
        <p:grpSpPr>
          <a:xfrm>
            <a:off x="474039" y="1589551"/>
            <a:ext cx="4068306" cy="1618448"/>
            <a:chOff x="476507" y="1531855"/>
            <a:chExt cx="4068306" cy="1618448"/>
          </a:xfrm>
        </p:grpSpPr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AE0127D7-D32D-4585-AD55-76944CBF3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76507" y="1531855"/>
              <a:ext cx="3960440" cy="1303948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직사각형 60">
                  <a:extLst>
                    <a:ext uri="{FF2B5EF4-FFF2-40B4-BE49-F238E27FC236}">
                      <a16:creationId xmlns:a16="http://schemas.microsoft.com/office/drawing/2014/main" id="{1E22E714-845E-4E51-86DB-17A130C09B35}"/>
                    </a:ext>
                  </a:extLst>
                </p:cNvPr>
                <p:cNvSpPr/>
                <p:nvPr/>
              </p:nvSpPr>
              <p:spPr>
                <a:xfrm>
                  <a:off x="739989" y="2842526"/>
                  <a:ext cx="3804824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400" dirty="0"/>
                    <a:t>* </a:t>
                  </a:r>
                  <a14:m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ko-KR" altLang="en-US" sz="1400" i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ko-KR" altLang="en-US" sz="1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ko-KR" altLang="en-US" sz="1400" i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ko-KR" altLang="en-US" sz="1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ko-KR" altLang="en-US" sz="1400" i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ko-KR" altLang="en-US" sz="1400" dirty="0"/>
                    <a:t> </a:t>
                  </a:r>
                  <a14:m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40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ko-KR" altLang="en-US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ko-KR" altLang="en-US" sz="140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a14:m>
                  <a:r>
                    <a:rPr lang="ko-KR" altLang="en-US" sz="1400" dirty="0"/>
                    <a:t> </a:t>
                  </a:r>
                  <a:r>
                    <a:rPr lang="ko-KR" altLang="en-US" sz="1200" dirty="0"/>
                    <a:t>이</a:t>
                  </a:r>
                  <a:r>
                    <a:rPr lang="ko-KR" altLang="en-US" sz="1400" dirty="0"/>
                    <a:t> </a:t>
                  </a:r>
                  <a14:m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ko-KR" alt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20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ko-KR" altLang="en-US" sz="12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ko-KR" altLang="en-US" sz="12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1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sz="1200" i="1" smtClean="0">
                          <a:latin typeface="Cambria Math" panose="02040503050406030204" pitchFamily="18" charset="0"/>
                        </a:rPr>
                        <m:t>가</m:t>
                      </m:r>
                    </m:oMath>
                  </a14:m>
                  <a:r>
                    <a:rPr lang="ko-KR" alt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될 확률</a:t>
                  </a:r>
                </a:p>
              </p:txBody>
            </p:sp>
          </mc:Choice>
          <mc:Fallback xmlns="">
            <p:sp>
              <p:nvSpPr>
                <p:cNvPr id="61" name="직사각형 60">
                  <a:extLst>
                    <a:ext uri="{FF2B5EF4-FFF2-40B4-BE49-F238E27FC236}">
                      <a16:creationId xmlns:a16="http://schemas.microsoft.com/office/drawing/2014/main" id="{1E22E714-845E-4E51-86DB-17A130C09B3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989" y="2842526"/>
                  <a:ext cx="3804824" cy="307777"/>
                </a:xfrm>
                <a:prstGeom prst="rect">
                  <a:avLst/>
                </a:prstGeom>
                <a:blipFill>
                  <a:blip r:embed="rId19"/>
                  <a:stretch>
                    <a:fillRect l="-481" t="-108000" b="-172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84F35C3F-A0C8-41E1-AFE6-FC460CAB0F71}"/>
                </a:ext>
              </a:extLst>
            </p:cNvPr>
            <p:cNvGrpSpPr/>
            <p:nvPr/>
          </p:nvGrpSpPr>
          <p:grpSpPr>
            <a:xfrm>
              <a:off x="2673312" y="2261880"/>
              <a:ext cx="379514" cy="307777"/>
              <a:chOff x="2673312" y="2261880"/>
              <a:chExt cx="379514" cy="307777"/>
            </a:xfrm>
          </p:grpSpPr>
          <p:sp>
            <p:nvSpPr>
              <p:cNvPr id="70" name="직사각형 69">
                <a:extLst>
                  <a:ext uri="{FF2B5EF4-FFF2-40B4-BE49-F238E27FC236}">
                    <a16:creationId xmlns:a16="http://schemas.microsoft.com/office/drawing/2014/main" id="{7D904497-3412-424F-9EA6-4213F8F38836}"/>
                  </a:ext>
                </a:extLst>
              </p:cNvPr>
              <p:cNvSpPr/>
              <p:nvPr/>
            </p:nvSpPr>
            <p:spPr>
              <a:xfrm>
                <a:off x="2730085" y="2312030"/>
                <a:ext cx="265968" cy="18779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Abadi" panose="020B0604020104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직사각형 70">
                    <a:extLst>
                      <a:ext uri="{FF2B5EF4-FFF2-40B4-BE49-F238E27FC236}">
                        <a16:creationId xmlns:a16="http://schemas.microsoft.com/office/drawing/2014/main" id="{B59723E8-19AD-4230-AA97-F8CE8A31B22C}"/>
                      </a:ext>
                    </a:extLst>
                  </p:cNvPr>
                  <p:cNvSpPr/>
                  <p:nvPr/>
                </p:nvSpPr>
                <p:spPr>
                  <a:xfrm>
                    <a:off x="2673312" y="2261880"/>
                    <a:ext cx="379514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</m:oMath>
                      </m:oMathPara>
                    </a14:m>
                    <a:endParaRPr lang="ko-KR" altLang="en-US" sz="1400" dirty="0"/>
                  </a:p>
                </p:txBody>
              </p:sp>
            </mc:Choice>
            <mc:Fallback xmlns="">
              <p:sp>
                <p:nvSpPr>
                  <p:cNvPr id="116" name="직사각형 115">
                    <a:extLst>
                      <a:ext uri="{FF2B5EF4-FFF2-40B4-BE49-F238E27FC236}">
                        <a16:creationId xmlns:a16="http://schemas.microsoft.com/office/drawing/2014/main" id="{8C478501-3FA6-46F4-95C8-4A996BF25C5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73312" y="2261880"/>
                    <a:ext cx="379514" cy="30777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9923AD64-81A0-4BC6-A9FA-E376F0188DE9}"/>
                </a:ext>
              </a:extLst>
            </p:cNvPr>
            <p:cNvGrpSpPr/>
            <p:nvPr/>
          </p:nvGrpSpPr>
          <p:grpSpPr>
            <a:xfrm>
              <a:off x="3719260" y="1817497"/>
              <a:ext cx="379514" cy="307777"/>
              <a:chOff x="2656427" y="2270153"/>
              <a:chExt cx="379514" cy="307777"/>
            </a:xfrm>
          </p:grpSpPr>
          <p:sp>
            <p:nvSpPr>
              <p:cNvPr id="68" name="직사각형 67">
                <a:extLst>
                  <a:ext uri="{FF2B5EF4-FFF2-40B4-BE49-F238E27FC236}">
                    <a16:creationId xmlns:a16="http://schemas.microsoft.com/office/drawing/2014/main" id="{F24892AF-18A6-46CC-AAD4-532E7DBC0BB1}"/>
                  </a:ext>
                </a:extLst>
              </p:cNvPr>
              <p:cNvSpPr/>
              <p:nvPr/>
            </p:nvSpPr>
            <p:spPr>
              <a:xfrm>
                <a:off x="2698842" y="2351660"/>
                <a:ext cx="265968" cy="18779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Abadi" panose="020B0604020104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직사각형 68">
                    <a:extLst>
                      <a:ext uri="{FF2B5EF4-FFF2-40B4-BE49-F238E27FC236}">
                        <a16:creationId xmlns:a16="http://schemas.microsoft.com/office/drawing/2014/main" id="{E5BC8999-2EE4-4C2A-A232-8C674BCD7F40}"/>
                      </a:ext>
                    </a:extLst>
                  </p:cNvPr>
                  <p:cNvSpPr/>
                  <p:nvPr/>
                </p:nvSpPr>
                <p:spPr>
                  <a:xfrm>
                    <a:off x="2656427" y="2270153"/>
                    <a:ext cx="379514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</m:oMath>
                      </m:oMathPara>
                    </a14:m>
                    <a:endParaRPr lang="ko-KR" altLang="en-US" sz="1400" dirty="0"/>
                  </a:p>
                </p:txBody>
              </p:sp>
            </mc:Choice>
            <mc:Fallback xmlns="">
              <p:sp>
                <p:nvSpPr>
                  <p:cNvPr id="122" name="직사각형 121">
                    <a:extLst>
                      <a:ext uri="{FF2B5EF4-FFF2-40B4-BE49-F238E27FC236}">
                        <a16:creationId xmlns:a16="http://schemas.microsoft.com/office/drawing/2014/main" id="{D24AE650-405C-4C62-B116-7901EA7491B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56427" y="2270153"/>
                    <a:ext cx="379514" cy="30777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63F431FF-7A7C-485E-BA50-CB1AD9025B42}"/>
                </a:ext>
              </a:extLst>
            </p:cNvPr>
            <p:cNvGrpSpPr/>
            <p:nvPr/>
          </p:nvGrpSpPr>
          <p:grpSpPr>
            <a:xfrm>
              <a:off x="1204835" y="2488311"/>
              <a:ext cx="379514" cy="307777"/>
              <a:chOff x="2671444" y="2270770"/>
              <a:chExt cx="379514" cy="307777"/>
            </a:xfrm>
          </p:grpSpPr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D6C909D5-A9A1-4863-ABDA-E2696E190A34}"/>
                  </a:ext>
                </a:extLst>
              </p:cNvPr>
              <p:cNvSpPr/>
              <p:nvPr/>
            </p:nvSpPr>
            <p:spPr>
              <a:xfrm>
                <a:off x="2697980" y="2323268"/>
                <a:ext cx="265968" cy="18779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Abadi" panose="020B0604020104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직사각형 66">
                    <a:extLst>
                      <a:ext uri="{FF2B5EF4-FFF2-40B4-BE49-F238E27FC236}">
                        <a16:creationId xmlns:a16="http://schemas.microsoft.com/office/drawing/2014/main" id="{154784EA-3181-440E-85C5-550EE3155036}"/>
                      </a:ext>
                    </a:extLst>
                  </p:cNvPr>
                  <p:cNvSpPr/>
                  <p:nvPr/>
                </p:nvSpPr>
                <p:spPr>
                  <a:xfrm>
                    <a:off x="2671444" y="2270770"/>
                    <a:ext cx="379514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</m:oMath>
                      </m:oMathPara>
                    </a14:m>
                    <a:endParaRPr lang="ko-KR" altLang="en-US" sz="1400" dirty="0"/>
                  </a:p>
                </p:txBody>
              </p:sp>
            </mc:Choice>
            <mc:Fallback xmlns="">
              <p:sp>
                <p:nvSpPr>
                  <p:cNvPr id="125" name="직사각형 124">
                    <a:extLst>
                      <a:ext uri="{FF2B5EF4-FFF2-40B4-BE49-F238E27FC236}">
                        <a16:creationId xmlns:a16="http://schemas.microsoft.com/office/drawing/2014/main" id="{91FE06EA-FCC9-451F-BDF0-1346ABBBDF6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71444" y="2270770"/>
                    <a:ext cx="379514" cy="30777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A3FA8D98-7BE0-463C-9DED-8BD1143C2952}"/>
                </a:ext>
              </a:extLst>
            </p:cNvPr>
            <p:cNvSpPr/>
            <p:nvPr/>
          </p:nvSpPr>
          <p:spPr>
            <a:xfrm>
              <a:off x="3439922" y="2587459"/>
              <a:ext cx="665131" cy="1920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</p:grp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C323EF22-8DFD-45AA-A8D5-FE921FFC3328}"/>
              </a:ext>
            </a:extLst>
          </p:cNvPr>
          <p:cNvCxnSpPr>
            <a:cxnSpLocks/>
          </p:cNvCxnSpPr>
          <p:nvPr/>
        </p:nvCxnSpPr>
        <p:spPr>
          <a:xfrm>
            <a:off x="3413284" y="4365104"/>
            <a:ext cx="218480" cy="137268"/>
          </a:xfrm>
          <a:prstGeom prst="bentConnector3">
            <a:avLst>
              <a:gd name="adj1" fmla="val -30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AD941E1F-A7AC-4FDC-A8A7-26169D2EB92A}"/>
              </a:ext>
            </a:extLst>
          </p:cNvPr>
          <p:cNvCxnSpPr>
            <a:cxnSpLocks/>
          </p:cNvCxnSpPr>
          <p:nvPr/>
        </p:nvCxnSpPr>
        <p:spPr>
          <a:xfrm>
            <a:off x="2537825" y="5410780"/>
            <a:ext cx="218480" cy="137268"/>
          </a:xfrm>
          <a:prstGeom prst="bentConnector3">
            <a:avLst>
              <a:gd name="adj1" fmla="val -30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9F5621D-FA89-4AA6-A94B-3C5221B526AC}"/>
                  </a:ext>
                </a:extLst>
              </p:cNvPr>
              <p:cNvSpPr txBox="1"/>
              <p:nvPr/>
            </p:nvSpPr>
            <p:spPr>
              <a:xfrm>
                <a:off x="2820669" y="5392768"/>
                <a:ext cx="46977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ko-KR" altLang="en-US" sz="1400" i="1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: 0</a:t>
                </a:r>
                <a:r>
                  <a:rPr lang="ko-KR" altLang="en-US" sz="14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번째 </a:t>
                </a:r>
                <a:r>
                  <a:rPr lang="en-US" altLang="ko-KR" sz="14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backoff stage</a:t>
                </a:r>
                <a:r>
                  <a:rPr lang="ko-KR" altLang="en-US" sz="14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의</a:t>
                </a:r>
                <a:r>
                  <a:rPr lang="en-US" altLang="ko-KR" sz="14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 backoff counter</a:t>
                </a:r>
                <a:r>
                  <a:rPr lang="ko-KR" altLang="en-US" sz="14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 횟수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9F5621D-FA89-4AA6-A94B-3C5221B52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0669" y="5392768"/>
                <a:ext cx="4697789" cy="307777"/>
              </a:xfrm>
              <a:prstGeom prst="rect">
                <a:avLst/>
              </a:prstGeom>
              <a:blipFill>
                <a:blip r:embed="rId20"/>
                <a:stretch>
                  <a:fillRect t="-6000" b="-1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48C9DD13-0977-4724-A3E9-998AAC07E2FE}"/>
              </a:ext>
            </a:extLst>
          </p:cNvPr>
          <p:cNvCxnSpPr>
            <a:cxnSpLocks/>
          </p:cNvCxnSpPr>
          <p:nvPr/>
        </p:nvCxnSpPr>
        <p:spPr>
          <a:xfrm>
            <a:off x="5075693" y="4179311"/>
            <a:ext cx="2920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14CC166-B19B-4B96-92EE-A5618B0F58B0}"/>
              </a:ext>
            </a:extLst>
          </p:cNvPr>
          <p:cNvSpPr txBox="1"/>
          <p:nvPr/>
        </p:nvSpPr>
        <p:spPr>
          <a:xfrm>
            <a:off x="5367779" y="4025422"/>
            <a:ext cx="46977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Cambria Math" panose="02040503050406030204" pitchFamily="18" charset="0"/>
                <a:cs typeface="Arial" panose="020B0604020202020204" pitchFamily="34" charset="0"/>
              </a:rPr>
              <a:t>Backoff counter</a:t>
            </a:r>
            <a:r>
              <a:rPr lang="ko-KR" altLang="en-US" sz="1400" b="1" dirty="0">
                <a:latin typeface="Cambria Math" panose="02040503050406030204" pitchFamily="18" charset="0"/>
                <a:cs typeface="Arial" panose="020B0604020202020204" pitchFamily="34" charset="0"/>
              </a:rPr>
              <a:t>가 감소할 확률</a:t>
            </a:r>
          </a:p>
        </p:txBody>
      </p:sp>
    </p:spTree>
    <p:extLst>
      <p:ext uri="{BB962C8B-B14F-4D97-AF65-F5344CB8AC3E}">
        <p14:creationId xmlns:p14="http://schemas.microsoft.com/office/powerpoint/2010/main" val="3200447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BEB8ABC-95AF-4353-A0AD-0FF48AFBDC8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B13819-B594-49DA-A814-E05B1D2217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15719"/>
            <a:ext cx="9618830" cy="498598"/>
          </a:xfrm>
        </p:spPr>
        <p:txBody>
          <a:bodyPr/>
          <a:lstStyle/>
          <a:p>
            <a:r>
              <a:rPr lang="en-US" altLang="ko-KR" sz="36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Markov chain model </a:t>
            </a:r>
            <a:r>
              <a:rPr lang="en-US" altLang="ko-KR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of IEEE 802.15.4 </a:t>
            </a:r>
            <a:endParaRPr lang="ko-KR" altLang="en-US" sz="3600" dirty="0"/>
          </a:p>
        </p:txBody>
      </p:sp>
      <p:sp>
        <p:nvSpPr>
          <p:cNvPr id="15" name="내용 개체 틀 14">
            <a:extLst>
              <a:ext uri="{FF2B5EF4-FFF2-40B4-BE49-F238E27FC236}">
                <a16:creationId xmlns:a16="http://schemas.microsoft.com/office/drawing/2014/main" id="{A730030E-E6CC-435D-8C39-839C1C411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742" y="836712"/>
            <a:ext cx="9601200" cy="2592288"/>
          </a:xfrm>
        </p:spPr>
        <p:txBody>
          <a:bodyPr/>
          <a:lstStyle/>
          <a:p>
            <a:r>
              <a:rPr lang="en-US" altLang="ko-KR" dirty="0"/>
              <a:t>transition probabilities:</a:t>
            </a:r>
            <a:endParaRPr lang="ko-KR" altLang="en-US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87D67EE3-D67F-4D75-A611-8E8100C11481}"/>
              </a:ext>
            </a:extLst>
          </p:cNvPr>
          <p:cNvGrpSpPr/>
          <p:nvPr/>
        </p:nvGrpSpPr>
        <p:grpSpPr>
          <a:xfrm>
            <a:off x="474039" y="1589551"/>
            <a:ext cx="4068306" cy="1618448"/>
            <a:chOff x="476507" y="1531855"/>
            <a:chExt cx="4068306" cy="1618448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3A41BC4E-733E-4B84-AE80-C67BCA69A0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6507" y="1531855"/>
              <a:ext cx="3960440" cy="1303948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직사각형 17">
                  <a:extLst>
                    <a:ext uri="{FF2B5EF4-FFF2-40B4-BE49-F238E27FC236}">
                      <a16:creationId xmlns:a16="http://schemas.microsoft.com/office/drawing/2014/main" id="{57E9C320-B598-43AC-A1A9-A3CC6E63E7F6}"/>
                    </a:ext>
                  </a:extLst>
                </p:cNvPr>
                <p:cNvSpPr/>
                <p:nvPr/>
              </p:nvSpPr>
              <p:spPr>
                <a:xfrm>
                  <a:off x="739989" y="2842526"/>
                  <a:ext cx="3804824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400" dirty="0"/>
                    <a:t>* </a:t>
                  </a:r>
                  <a14:m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ko-KR" altLang="en-US" sz="1400" i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ko-KR" altLang="en-US" sz="1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ko-KR" altLang="en-US" sz="1400" i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ko-KR" altLang="en-US" sz="1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ko-KR" altLang="en-US" sz="1400" i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ko-KR" altLang="en-US" sz="1400" dirty="0"/>
                    <a:t> </a:t>
                  </a:r>
                  <a14:m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40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ko-KR" altLang="en-US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ko-KR" altLang="en-US" sz="140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a14:m>
                  <a:r>
                    <a:rPr lang="ko-KR" altLang="en-US" sz="1400" dirty="0"/>
                    <a:t> </a:t>
                  </a:r>
                  <a:r>
                    <a:rPr lang="ko-KR" altLang="en-US" sz="1200" dirty="0"/>
                    <a:t>이</a:t>
                  </a:r>
                  <a:r>
                    <a:rPr lang="ko-KR" altLang="en-US" sz="1400" dirty="0"/>
                    <a:t> </a:t>
                  </a:r>
                  <a14:m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ko-KR" alt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20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ko-KR" altLang="en-US" sz="12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ko-KR" altLang="en-US" sz="12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1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sz="1200" i="1" smtClean="0">
                          <a:latin typeface="Cambria Math" panose="02040503050406030204" pitchFamily="18" charset="0"/>
                        </a:rPr>
                        <m:t>가</m:t>
                      </m:r>
                    </m:oMath>
                  </a14:m>
                  <a:r>
                    <a:rPr lang="ko-KR" alt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될 확률</a:t>
                  </a:r>
                </a:p>
              </p:txBody>
            </p:sp>
          </mc:Choice>
          <mc:Fallback xmlns="">
            <p:sp>
              <p:nvSpPr>
                <p:cNvPr id="18" name="직사각형 17">
                  <a:extLst>
                    <a:ext uri="{FF2B5EF4-FFF2-40B4-BE49-F238E27FC236}">
                      <a16:creationId xmlns:a16="http://schemas.microsoft.com/office/drawing/2014/main" id="{57E9C320-B598-43AC-A1A9-A3CC6E63E7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989" y="2842526"/>
                  <a:ext cx="3804824" cy="307777"/>
                </a:xfrm>
                <a:prstGeom prst="rect">
                  <a:avLst/>
                </a:prstGeom>
                <a:blipFill>
                  <a:blip r:embed="rId14"/>
                  <a:stretch>
                    <a:fillRect l="-481" t="-108000" b="-172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467B9322-1D8E-4CBD-9875-A9E53FE5F6C6}"/>
                </a:ext>
              </a:extLst>
            </p:cNvPr>
            <p:cNvGrpSpPr/>
            <p:nvPr/>
          </p:nvGrpSpPr>
          <p:grpSpPr>
            <a:xfrm>
              <a:off x="2673312" y="2261880"/>
              <a:ext cx="379514" cy="307777"/>
              <a:chOff x="2673312" y="2261880"/>
              <a:chExt cx="379514" cy="307777"/>
            </a:xfrm>
          </p:grpSpPr>
          <p:sp>
            <p:nvSpPr>
              <p:cNvPr id="117" name="직사각형 116">
                <a:extLst>
                  <a:ext uri="{FF2B5EF4-FFF2-40B4-BE49-F238E27FC236}">
                    <a16:creationId xmlns:a16="http://schemas.microsoft.com/office/drawing/2014/main" id="{2842FAE6-0912-42FF-84EB-6DBFF3118218}"/>
                  </a:ext>
                </a:extLst>
              </p:cNvPr>
              <p:cNvSpPr/>
              <p:nvPr/>
            </p:nvSpPr>
            <p:spPr>
              <a:xfrm>
                <a:off x="2730085" y="2312030"/>
                <a:ext cx="265968" cy="18779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Abadi" panose="020B0604020104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6" name="직사각형 115">
                    <a:extLst>
                      <a:ext uri="{FF2B5EF4-FFF2-40B4-BE49-F238E27FC236}">
                        <a16:creationId xmlns:a16="http://schemas.microsoft.com/office/drawing/2014/main" id="{8C478501-3FA6-46F4-95C8-4A996BF25C50}"/>
                      </a:ext>
                    </a:extLst>
                  </p:cNvPr>
                  <p:cNvSpPr/>
                  <p:nvPr/>
                </p:nvSpPr>
                <p:spPr>
                  <a:xfrm>
                    <a:off x="2673312" y="2261880"/>
                    <a:ext cx="379514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</m:oMath>
                      </m:oMathPara>
                    </a14:m>
                    <a:endParaRPr lang="ko-KR" altLang="en-US" sz="1400" dirty="0"/>
                  </a:p>
                </p:txBody>
              </p:sp>
            </mc:Choice>
            <mc:Fallback xmlns="">
              <p:sp>
                <p:nvSpPr>
                  <p:cNvPr id="116" name="직사각형 115">
                    <a:extLst>
                      <a:ext uri="{FF2B5EF4-FFF2-40B4-BE49-F238E27FC236}">
                        <a16:creationId xmlns:a16="http://schemas.microsoft.com/office/drawing/2014/main" id="{8C478501-3FA6-46F4-95C8-4A996BF25C5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73312" y="2261880"/>
                    <a:ext cx="379514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44444A03-2B0C-4161-A90E-B50A32F38280}"/>
                </a:ext>
              </a:extLst>
            </p:cNvPr>
            <p:cNvGrpSpPr/>
            <p:nvPr/>
          </p:nvGrpSpPr>
          <p:grpSpPr>
            <a:xfrm>
              <a:off x="3719260" y="1817497"/>
              <a:ext cx="379514" cy="307777"/>
              <a:chOff x="2656427" y="2270153"/>
              <a:chExt cx="379514" cy="307777"/>
            </a:xfrm>
          </p:grpSpPr>
          <p:sp>
            <p:nvSpPr>
              <p:cNvPr id="121" name="직사각형 120">
                <a:extLst>
                  <a:ext uri="{FF2B5EF4-FFF2-40B4-BE49-F238E27FC236}">
                    <a16:creationId xmlns:a16="http://schemas.microsoft.com/office/drawing/2014/main" id="{706A4095-A84A-4F68-AC8B-59E6FF47E089}"/>
                  </a:ext>
                </a:extLst>
              </p:cNvPr>
              <p:cNvSpPr/>
              <p:nvPr/>
            </p:nvSpPr>
            <p:spPr>
              <a:xfrm>
                <a:off x="2698842" y="2351660"/>
                <a:ext cx="265968" cy="18779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Abadi" panose="020B0604020104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2" name="직사각형 121">
                    <a:extLst>
                      <a:ext uri="{FF2B5EF4-FFF2-40B4-BE49-F238E27FC236}">
                        <a16:creationId xmlns:a16="http://schemas.microsoft.com/office/drawing/2014/main" id="{D24AE650-405C-4C62-B116-7901EA7491BA}"/>
                      </a:ext>
                    </a:extLst>
                  </p:cNvPr>
                  <p:cNvSpPr/>
                  <p:nvPr/>
                </p:nvSpPr>
                <p:spPr>
                  <a:xfrm>
                    <a:off x="2656427" y="2270153"/>
                    <a:ext cx="379514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</m:oMath>
                      </m:oMathPara>
                    </a14:m>
                    <a:endParaRPr lang="ko-KR" altLang="en-US" sz="1400" dirty="0"/>
                  </a:p>
                </p:txBody>
              </p:sp>
            </mc:Choice>
            <mc:Fallback xmlns="">
              <p:sp>
                <p:nvSpPr>
                  <p:cNvPr id="122" name="직사각형 121">
                    <a:extLst>
                      <a:ext uri="{FF2B5EF4-FFF2-40B4-BE49-F238E27FC236}">
                        <a16:creationId xmlns:a16="http://schemas.microsoft.com/office/drawing/2014/main" id="{D24AE650-405C-4C62-B116-7901EA7491B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56427" y="2270153"/>
                    <a:ext cx="379514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301AC5B4-862E-4772-A97E-261FAE4C5B34}"/>
                </a:ext>
              </a:extLst>
            </p:cNvPr>
            <p:cNvGrpSpPr/>
            <p:nvPr/>
          </p:nvGrpSpPr>
          <p:grpSpPr>
            <a:xfrm>
              <a:off x="1204835" y="2488311"/>
              <a:ext cx="379514" cy="307777"/>
              <a:chOff x="2671444" y="2270770"/>
              <a:chExt cx="379514" cy="307777"/>
            </a:xfrm>
          </p:grpSpPr>
          <p:sp>
            <p:nvSpPr>
              <p:cNvPr id="124" name="직사각형 123">
                <a:extLst>
                  <a:ext uri="{FF2B5EF4-FFF2-40B4-BE49-F238E27FC236}">
                    <a16:creationId xmlns:a16="http://schemas.microsoft.com/office/drawing/2014/main" id="{BB0FBFA8-19E2-4E24-BA23-F549CD70AA2E}"/>
                  </a:ext>
                </a:extLst>
              </p:cNvPr>
              <p:cNvSpPr/>
              <p:nvPr/>
            </p:nvSpPr>
            <p:spPr>
              <a:xfrm>
                <a:off x="2697980" y="2323268"/>
                <a:ext cx="265968" cy="18779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Abadi" panose="020B0604020104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5" name="직사각형 124">
                    <a:extLst>
                      <a:ext uri="{FF2B5EF4-FFF2-40B4-BE49-F238E27FC236}">
                        <a16:creationId xmlns:a16="http://schemas.microsoft.com/office/drawing/2014/main" id="{91FE06EA-FCC9-451F-BDF0-1346ABBBDF68}"/>
                      </a:ext>
                    </a:extLst>
                  </p:cNvPr>
                  <p:cNvSpPr/>
                  <p:nvPr/>
                </p:nvSpPr>
                <p:spPr>
                  <a:xfrm>
                    <a:off x="2671444" y="2270770"/>
                    <a:ext cx="379514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</m:oMath>
                      </m:oMathPara>
                    </a14:m>
                    <a:endParaRPr lang="ko-KR" altLang="en-US" sz="1400" dirty="0"/>
                  </a:p>
                </p:txBody>
              </p:sp>
            </mc:Choice>
            <mc:Fallback xmlns="">
              <p:sp>
                <p:nvSpPr>
                  <p:cNvPr id="125" name="직사각형 124">
                    <a:extLst>
                      <a:ext uri="{FF2B5EF4-FFF2-40B4-BE49-F238E27FC236}">
                        <a16:creationId xmlns:a16="http://schemas.microsoft.com/office/drawing/2014/main" id="{91FE06EA-FCC9-451F-BDF0-1346ABBBDF6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71444" y="2270770"/>
                    <a:ext cx="379514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E3C8A0DE-9F08-4E34-A01F-F3C6EF1BA030}"/>
                </a:ext>
              </a:extLst>
            </p:cNvPr>
            <p:cNvSpPr/>
            <p:nvPr/>
          </p:nvSpPr>
          <p:spPr>
            <a:xfrm>
              <a:off x="3439922" y="2587459"/>
              <a:ext cx="665131" cy="1920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FE2A753-B66A-4485-BFD1-68A88CDAECC9}"/>
              </a:ext>
            </a:extLst>
          </p:cNvPr>
          <p:cNvGrpSpPr/>
          <p:nvPr/>
        </p:nvGrpSpPr>
        <p:grpSpPr>
          <a:xfrm>
            <a:off x="4580166" y="1423582"/>
            <a:ext cx="5166630" cy="2901259"/>
            <a:chOff x="4580166" y="1423582"/>
            <a:chExt cx="5166630" cy="2901259"/>
          </a:xfrm>
        </p:grpSpPr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A85830AC-9D06-445E-9FD0-12115D09706D}"/>
                </a:ext>
              </a:extLst>
            </p:cNvPr>
            <p:cNvPicPr/>
            <p:nvPr/>
          </p:nvPicPr>
          <p:blipFill rotWithShape="1">
            <a:blip r:embed="rId15"/>
            <a:srcRect b="2416"/>
            <a:stretch/>
          </p:blipFill>
          <p:spPr>
            <a:xfrm>
              <a:off x="4580166" y="1511186"/>
              <a:ext cx="5166630" cy="2813655"/>
            </a:xfrm>
            <a:prstGeom prst="rect">
              <a:avLst/>
            </a:prstGeom>
          </p:spPr>
        </p:pic>
        <p:pic>
          <p:nvPicPr>
            <p:cNvPr id="79" name="그림 78">
              <a:extLst>
                <a:ext uri="{FF2B5EF4-FFF2-40B4-BE49-F238E27FC236}">
                  <a16:creationId xmlns:a16="http://schemas.microsoft.com/office/drawing/2014/main" id="{C0FB09A0-E7E0-4DF8-9092-1D8969CB61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339951">
              <a:off x="8554631" y="1470788"/>
              <a:ext cx="778371" cy="338554"/>
            </a:xfrm>
            <a:prstGeom prst="rect">
              <a:avLst/>
            </a:prstGeom>
          </p:spPr>
        </p:pic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F457A323-20EE-4B2E-81F1-4611D413B1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375695">
              <a:off x="7762548" y="1423582"/>
              <a:ext cx="761079" cy="338554"/>
            </a:xfrm>
            <a:prstGeom prst="rect">
              <a:avLst/>
            </a:prstGeom>
            <a:ln>
              <a:noFill/>
              <a:prstDash val="sysDot"/>
            </a:ln>
          </p:spPr>
        </p:pic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C4285ACB-F25A-4D18-83B9-7B2F511B4A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7792" y="2002714"/>
              <a:ext cx="826392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6E3255DB-940C-432D-A8FD-0D2EB37A71DD}"/>
                </a:ext>
              </a:extLst>
            </p:cNvPr>
            <p:cNvCxnSpPr>
              <a:cxnSpLocks/>
            </p:cNvCxnSpPr>
            <p:nvPr/>
          </p:nvCxnSpPr>
          <p:spPr>
            <a:xfrm>
              <a:off x="5383795" y="2171335"/>
              <a:ext cx="754385" cy="198391"/>
            </a:xfrm>
            <a:prstGeom prst="straightConnector1">
              <a:avLst/>
            </a:prstGeom>
            <a:ln w="28575">
              <a:solidFill>
                <a:schemeClr val="accent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1CD8D61A-F54B-4C2E-988D-DA32C7B45628}"/>
                </a:ext>
              </a:extLst>
            </p:cNvPr>
            <p:cNvCxnSpPr>
              <a:cxnSpLocks/>
            </p:cNvCxnSpPr>
            <p:nvPr/>
          </p:nvCxnSpPr>
          <p:spPr>
            <a:xfrm>
              <a:off x="6283895" y="1988840"/>
              <a:ext cx="0" cy="372616"/>
            </a:xfrm>
            <a:prstGeom prst="straightConnector1">
              <a:avLst/>
            </a:prstGeom>
            <a:ln w="28575">
              <a:solidFill>
                <a:schemeClr val="accent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7653719-3BEC-475D-A522-AED14E57789F}"/>
                </a:ext>
              </a:extLst>
            </p:cNvPr>
            <p:cNvSpPr txBox="1"/>
            <p:nvPr/>
          </p:nvSpPr>
          <p:spPr>
            <a:xfrm>
              <a:off x="6308359" y="2143295"/>
              <a:ext cx="645228" cy="261610"/>
            </a:xfrm>
            <a:prstGeom prst="rect">
              <a:avLst/>
            </a:prstGeom>
            <a:noFill/>
            <a:ln>
              <a:noFill/>
              <a:prstDash val="sysDot"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>
                  <a:solidFill>
                    <a:schemeClr val="accent1"/>
                  </a:solidFill>
                  <a:latin typeface="+mj-ea"/>
                  <a:ea typeface="+mj-ea"/>
                </a:rPr>
                <a:t>CCA➀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22BC999-672A-468E-B534-83CF5F1AE821}"/>
                </a:ext>
              </a:extLst>
            </p:cNvPr>
            <p:cNvSpPr txBox="1"/>
            <p:nvPr/>
          </p:nvSpPr>
          <p:spPr>
            <a:xfrm>
              <a:off x="5396248" y="1653443"/>
              <a:ext cx="645228" cy="261610"/>
            </a:xfrm>
            <a:prstGeom prst="rect">
              <a:avLst/>
            </a:prstGeom>
            <a:noFill/>
            <a:ln>
              <a:noFill/>
              <a:prstDash val="sysDot"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>
                  <a:solidFill>
                    <a:schemeClr val="accent1"/>
                  </a:solidFill>
                  <a:latin typeface="+mj-ea"/>
                  <a:ea typeface="+mj-ea"/>
                </a:rPr>
                <a:t>CCA➁</a:t>
              </a:r>
            </a:p>
          </p:txBody>
        </p: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E2EA59B9-EEF3-42AC-BA59-50629B61E22B}"/>
                </a:ext>
              </a:extLst>
            </p:cNvPr>
            <p:cNvCxnSpPr>
              <a:cxnSpLocks/>
            </p:cNvCxnSpPr>
            <p:nvPr/>
          </p:nvCxnSpPr>
          <p:spPr>
            <a:xfrm>
              <a:off x="6250659" y="2423495"/>
              <a:ext cx="1405855" cy="68001"/>
            </a:xfrm>
            <a:prstGeom prst="straightConnector1">
              <a:avLst/>
            </a:prstGeom>
            <a:ln w="28575">
              <a:solidFill>
                <a:schemeClr val="accent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화살표 연결선 71">
              <a:extLst>
                <a:ext uri="{FF2B5EF4-FFF2-40B4-BE49-F238E27FC236}">
                  <a16:creationId xmlns:a16="http://schemas.microsoft.com/office/drawing/2014/main" id="{D37B1FF1-6CA4-46BF-8481-68FB92DB58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88119" y="3753639"/>
              <a:ext cx="1486065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화살표 연결선 73">
              <a:extLst>
                <a:ext uri="{FF2B5EF4-FFF2-40B4-BE49-F238E27FC236}">
                  <a16:creationId xmlns:a16="http://schemas.microsoft.com/office/drawing/2014/main" id="{A3E84FBA-85BE-4085-BEE2-665856855F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52056" y="1579008"/>
              <a:ext cx="17947" cy="2174631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화살표 연결선 75">
              <a:extLst>
                <a:ext uri="{FF2B5EF4-FFF2-40B4-BE49-F238E27FC236}">
                  <a16:creationId xmlns:a16="http://schemas.microsoft.com/office/drawing/2014/main" id="{05F8D956-89BB-47ED-AFF8-E68256DCF4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25377" y="1565782"/>
              <a:ext cx="1316099" cy="3352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화살표 연결선 79">
              <a:extLst>
                <a:ext uri="{FF2B5EF4-FFF2-40B4-BE49-F238E27FC236}">
                  <a16:creationId xmlns:a16="http://schemas.microsoft.com/office/drawing/2014/main" id="{E6E1C925-53BB-4680-9E4F-606DE1D252D3}"/>
                </a:ext>
              </a:extLst>
            </p:cNvPr>
            <p:cNvCxnSpPr>
              <a:cxnSpLocks/>
            </p:cNvCxnSpPr>
            <p:nvPr/>
          </p:nvCxnSpPr>
          <p:spPr>
            <a:xfrm>
              <a:off x="6151712" y="1579007"/>
              <a:ext cx="412519" cy="55402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내용 개체 틀 14">
            <a:extLst>
              <a:ext uri="{FF2B5EF4-FFF2-40B4-BE49-F238E27FC236}">
                <a16:creationId xmlns:a16="http://schemas.microsoft.com/office/drawing/2014/main" id="{B136094A-A277-4723-9685-85E90CE470B6}"/>
              </a:ext>
            </a:extLst>
          </p:cNvPr>
          <p:cNvSpPr txBox="1">
            <a:spLocks/>
          </p:cNvSpPr>
          <p:nvPr/>
        </p:nvSpPr>
        <p:spPr>
          <a:xfrm>
            <a:off x="300211" y="3164755"/>
            <a:ext cx="8989350" cy="2952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700" indent="-2667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                                         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3526167B-7DD9-4382-8D0D-A6AB78EE7949}"/>
                  </a:ext>
                </a:extLst>
              </p:cNvPr>
              <p:cNvSpPr/>
              <p:nvPr/>
            </p:nvSpPr>
            <p:spPr>
              <a:xfrm>
                <a:off x="172055" y="4554429"/>
                <a:ext cx="2640531" cy="6596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ko-KR" altLang="en-US" i="0">
                          <a:latin typeface="Cambria Math" panose="02040503050406030204" pitchFamily="18" charset="0"/>
                        </a:rPr>
                        <m:t>+(1−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ko-KR" altLang="en-US" i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ko-KR" altLang="en-US" i="0">
                          <a:latin typeface="Cambria Math" panose="02040503050406030204" pitchFamily="18" charset="0"/>
                        </a:rPr>
                        <m:t>)×</m:t>
                      </m:r>
                      <m:f>
                        <m:f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3526167B-7DD9-4382-8D0D-A6AB78EE79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055" y="4554429"/>
                <a:ext cx="2640531" cy="65960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243C5F4E-F77A-4F44-82A8-3C2FE994E6E4}"/>
                  </a:ext>
                </a:extLst>
              </p:cNvPr>
              <p:cNvSpPr txBox="1"/>
              <p:nvPr/>
            </p:nvSpPr>
            <p:spPr>
              <a:xfrm>
                <a:off x="4768212" y="4537857"/>
                <a:ext cx="4217236" cy="9737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ko-KR" altLang="en-US" sz="14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200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: 1</a:t>
                </a:r>
                <a:r>
                  <a:rPr lang="ko-KR" altLang="en-US" sz="12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번째 </a:t>
                </a:r>
                <a:r>
                  <a:rPr lang="en-US" altLang="ko-KR" sz="1200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CCA</a:t>
                </a:r>
                <a:r>
                  <a:rPr lang="ko-KR" altLang="en-US" sz="12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에서 실패할 확률</a:t>
                </a:r>
                <a:endParaRPr lang="en-US" altLang="ko-KR" sz="1200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ko-KR" alt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400" b="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ko-KR" altLang="en-US" sz="1400" b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sz="1400" b="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ko-KR" altLang="en-US" sz="1400" b="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ko-KR" altLang="en-US" sz="14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:  </a:t>
                </a:r>
                <a:r>
                  <a:rPr lang="en-US" altLang="ko-KR" sz="1200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2</a:t>
                </a:r>
                <a:r>
                  <a:rPr lang="ko-KR" altLang="en-US" sz="12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번째 </a:t>
                </a:r>
                <a:r>
                  <a:rPr lang="en-US" altLang="ko-KR" sz="1200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CCA</a:t>
                </a:r>
                <a:r>
                  <a:rPr lang="ko-KR" altLang="en-US" sz="12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에서 실패할 확률</a:t>
                </a:r>
                <a:endParaRPr lang="en-US" altLang="ko-KR" sz="1200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ko-KR" altLang="en-US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⇒ 전송에 실패했을 때 다음 </a:t>
                </a:r>
                <a:r>
                  <a:rPr lang="en-US" altLang="ko-KR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stage</a:t>
                </a:r>
                <a:r>
                  <a:rPr lang="ko-KR" altLang="en-US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에서 </a:t>
                </a:r>
                <a:r>
                  <a:rPr lang="en-US" altLang="ko-KR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backoff </a:t>
                </a:r>
                <a:r>
                  <a:rPr lang="ko-KR" altLang="en-US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될 확률</a:t>
                </a:r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243C5F4E-F77A-4F44-82A8-3C2FE994E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8212" y="4537857"/>
                <a:ext cx="4217236" cy="973793"/>
              </a:xfrm>
              <a:prstGeom prst="rect">
                <a:avLst/>
              </a:prstGeom>
              <a:blipFill>
                <a:blip r:embed="rId18"/>
                <a:stretch>
                  <a:fillRect b="-43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F1E25DB0-22F5-44D3-A82D-5B2448825AC8}"/>
                  </a:ext>
                </a:extLst>
              </p:cNvPr>
              <p:cNvSpPr/>
              <p:nvPr/>
            </p:nvSpPr>
            <p:spPr>
              <a:xfrm>
                <a:off x="218699" y="5883646"/>
                <a:ext cx="371922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(4)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ko-KR" altLang="en-US" i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ko-KR" altLang="en-US" i="0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ko-KR" altLang="en-US" i="0">
                        <a:latin typeface="Cambria Math" panose="02040503050406030204" pitchFamily="18" charset="0"/>
                      </a:rPr>
                      <m:t>|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ko-KR" altLang="en-US" i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ko-KR" altLang="en-US" i="0">
                        <a:latin typeface="Cambria Math" panose="02040503050406030204" pitchFamily="18" charset="0"/>
                      </a:rPr>
                      <m:t>}=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ko-KR" alt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ko-KR" altLang="en-US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ko-KR" alt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ko-KR" altLang="en-US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ko-KR" altLang="en-US" i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endParaRPr lang="ko-KR" altLang="en-US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F1E25DB0-22F5-44D3-A82D-5B2448825A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99" y="5883646"/>
                <a:ext cx="3719223" cy="369332"/>
              </a:xfrm>
              <a:prstGeom prst="rect">
                <a:avLst/>
              </a:prstGeom>
              <a:blipFill>
                <a:blip r:embed="rId19"/>
                <a:stretch>
                  <a:fillRect l="-1475" t="-9836" b="-229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7F32AF77-F718-4E82-A8BF-37A75716249C}"/>
                  </a:ext>
                </a:extLst>
              </p:cNvPr>
              <p:cNvSpPr txBox="1"/>
              <p:nvPr/>
            </p:nvSpPr>
            <p:spPr>
              <a:xfrm>
                <a:off x="4684736" y="5877272"/>
                <a:ext cx="5002565" cy="3752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ko-KR" altLang="en-US" sz="1400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ko-KR" altLang="en-US" sz="1400" b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ko-KR" altLang="en-US" sz="1400" b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ko-KR" altLang="en-US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에서 전송 성공 후 다시 </a:t>
                </a:r>
                <a:r>
                  <a:rPr lang="en-US" altLang="ko-KR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0</a:t>
                </a:r>
                <a:r>
                  <a:rPr lang="ko-KR" altLang="en-US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번째 </a:t>
                </a:r>
                <a:r>
                  <a:rPr lang="en-US" altLang="ko-KR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stage</a:t>
                </a:r>
                <a:r>
                  <a:rPr lang="ko-KR" altLang="en-US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에서 </a:t>
                </a:r>
                <a:r>
                  <a:rPr lang="en-US" altLang="ko-KR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backoff </a:t>
                </a:r>
                <a:r>
                  <a:rPr lang="ko-KR" altLang="en-US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될 확률</a:t>
                </a:r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7F32AF77-F718-4E82-A8BF-37A757162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736" y="5877272"/>
                <a:ext cx="5002565" cy="375231"/>
              </a:xfrm>
              <a:prstGeom prst="rect">
                <a:avLst/>
              </a:prstGeom>
              <a:blipFill>
                <a:blip r:embed="rId20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2" name="그림 51">
            <a:extLst>
              <a:ext uri="{FF2B5EF4-FFF2-40B4-BE49-F238E27FC236}">
                <a16:creationId xmlns:a16="http://schemas.microsoft.com/office/drawing/2014/main" id="{B99C3CD8-C6C5-4847-9091-AF5A2E503E2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907462" y="5866887"/>
            <a:ext cx="268896" cy="498578"/>
          </a:xfrm>
          <a:prstGeom prst="rect">
            <a:avLst/>
          </a:prstGeom>
        </p:spPr>
      </p:pic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5B9A1F05-2EF7-442F-B861-E852599D7DFF}"/>
              </a:ext>
            </a:extLst>
          </p:cNvPr>
          <p:cNvCxnSpPr>
            <a:cxnSpLocks/>
          </p:cNvCxnSpPr>
          <p:nvPr/>
        </p:nvCxnSpPr>
        <p:spPr>
          <a:xfrm>
            <a:off x="4298874" y="4949825"/>
            <a:ext cx="3875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EC5ECC7C-1C53-41C3-8E5F-8CA47E6CEF9A}"/>
              </a:ext>
            </a:extLst>
          </p:cNvPr>
          <p:cNvCxnSpPr>
            <a:cxnSpLocks/>
          </p:cNvCxnSpPr>
          <p:nvPr/>
        </p:nvCxnSpPr>
        <p:spPr>
          <a:xfrm>
            <a:off x="4308628" y="6109511"/>
            <a:ext cx="3761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8F80FC96-F3C6-40E9-B7D2-48A30F7E8582}"/>
              </a:ext>
            </a:extLst>
          </p:cNvPr>
          <p:cNvGrpSpPr/>
          <p:nvPr/>
        </p:nvGrpSpPr>
        <p:grpSpPr>
          <a:xfrm>
            <a:off x="8370932" y="4168447"/>
            <a:ext cx="1767779" cy="485111"/>
            <a:chOff x="8092811" y="6019759"/>
            <a:chExt cx="1767779" cy="485111"/>
          </a:xfrm>
        </p:grpSpPr>
        <p:cxnSp>
          <p:nvCxnSpPr>
            <p:cNvPr id="68" name="직선 화살표 연결선 67">
              <a:extLst>
                <a:ext uri="{FF2B5EF4-FFF2-40B4-BE49-F238E27FC236}">
                  <a16:creationId xmlns:a16="http://schemas.microsoft.com/office/drawing/2014/main" id="{E831DA35-C706-4E56-92C9-46C2638EDA5C}"/>
                </a:ext>
              </a:extLst>
            </p:cNvPr>
            <p:cNvCxnSpPr>
              <a:cxnSpLocks/>
            </p:cNvCxnSpPr>
            <p:nvPr/>
          </p:nvCxnSpPr>
          <p:spPr>
            <a:xfrm>
              <a:off x="8113072" y="6373789"/>
              <a:ext cx="40522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57B71DE-8A7C-48C9-BB9A-2D97F1C6F223}"/>
                </a:ext>
              </a:extLst>
            </p:cNvPr>
            <p:cNvSpPr txBox="1"/>
            <p:nvPr/>
          </p:nvSpPr>
          <p:spPr>
            <a:xfrm>
              <a:off x="8535605" y="6243260"/>
              <a:ext cx="132498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1100" dirty="0">
                  <a:latin typeface="Arial" panose="020B0604020202020204" pitchFamily="34" charset="0"/>
                  <a:cs typeface="Arial" panose="020B0604020202020204" pitchFamily="34" charset="0"/>
                </a:rPr>
                <a:t>(4)</a:t>
              </a:r>
              <a:r>
                <a:rPr lang="ko-KR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번 과정</a:t>
              </a:r>
            </a:p>
          </p:txBody>
        </p: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A6ED7D30-A1CA-497E-9F87-9FB60BBD9DD9}"/>
                </a:ext>
              </a:extLst>
            </p:cNvPr>
            <p:cNvCxnSpPr>
              <a:cxnSpLocks/>
            </p:cNvCxnSpPr>
            <p:nvPr/>
          </p:nvCxnSpPr>
          <p:spPr>
            <a:xfrm>
              <a:off x="8092811" y="6163485"/>
              <a:ext cx="418377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4B9AD85-0622-4F68-B122-A7700BCF086D}"/>
                </a:ext>
              </a:extLst>
            </p:cNvPr>
            <p:cNvSpPr txBox="1"/>
            <p:nvPr/>
          </p:nvSpPr>
          <p:spPr>
            <a:xfrm>
              <a:off x="8530578" y="6019759"/>
              <a:ext cx="132498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1100" dirty="0">
                  <a:latin typeface="Arial" panose="020B0604020202020204" pitchFamily="34" charset="0"/>
                  <a:cs typeface="Arial" panose="020B0604020202020204" pitchFamily="34" charset="0"/>
                </a:rPr>
                <a:t>(3)</a:t>
              </a:r>
              <a:r>
                <a:rPr lang="ko-KR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번 과정</a:t>
              </a:r>
            </a:p>
          </p:txBody>
        </p:sp>
      </p:grp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1AEB9D25-D8CF-45FF-ACDB-49ABC571AA54}"/>
              </a:ext>
            </a:extLst>
          </p:cNvPr>
          <p:cNvSpPr/>
          <p:nvPr/>
        </p:nvSpPr>
        <p:spPr>
          <a:xfrm>
            <a:off x="4736976" y="4724566"/>
            <a:ext cx="61075" cy="450518"/>
          </a:xfrm>
          <a:prstGeom prst="leftBrace">
            <a:avLst>
              <a:gd name="adj1" fmla="val 8255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70828FA5-7366-4A69-9BB2-54DEFE0779CC}"/>
              </a:ext>
            </a:extLst>
          </p:cNvPr>
          <p:cNvSpPr/>
          <p:nvPr/>
        </p:nvSpPr>
        <p:spPr>
          <a:xfrm>
            <a:off x="2377963" y="4581128"/>
            <a:ext cx="345013" cy="644086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73FF1B1A-48BA-46BA-851A-F45A61929C57}"/>
              </a:ext>
            </a:extLst>
          </p:cNvPr>
          <p:cNvCxnSpPr>
            <a:cxnSpLocks/>
          </p:cNvCxnSpPr>
          <p:nvPr/>
        </p:nvCxnSpPr>
        <p:spPr>
          <a:xfrm>
            <a:off x="2454259" y="5233199"/>
            <a:ext cx="218480" cy="356041"/>
          </a:xfrm>
          <a:prstGeom prst="bentConnector3">
            <a:avLst>
              <a:gd name="adj1" fmla="val -30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06AC219-FD31-45D0-82BE-7E55100A8A57}"/>
                  </a:ext>
                </a:extLst>
              </p:cNvPr>
              <p:cNvSpPr txBox="1"/>
              <p:nvPr/>
            </p:nvSpPr>
            <p:spPr>
              <a:xfrm>
                <a:off x="2703975" y="5445224"/>
                <a:ext cx="46977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ko-KR" altLang="en-US" sz="14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번째 </a:t>
                </a:r>
                <a:r>
                  <a:rPr lang="en-US" altLang="ko-KR" sz="14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backoff stage</a:t>
                </a:r>
                <a:r>
                  <a:rPr lang="ko-KR" altLang="en-US" sz="14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의</a:t>
                </a:r>
                <a:r>
                  <a:rPr lang="en-US" altLang="ko-KR" sz="14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 backoff counter</a:t>
                </a:r>
                <a:r>
                  <a:rPr lang="ko-KR" altLang="en-US" sz="14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 횟수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06AC219-FD31-45D0-82BE-7E55100A8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3975" y="5445224"/>
                <a:ext cx="4697789" cy="307777"/>
              </a:xfrm>
              <a:prstGeom prst="rect">
                <a:avLst/>
              </a:prstGeom>
              <a:blipFill>
                <a:blip r:embed="rId22"/>
                <a:stretch>
                  <a:fillRect t="-5882" b="-176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6765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BEB8ABC-95AF-4353-A0AD-0FF48AFBDC8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B13819-B594-49DA-A814-E05B1D2217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618830" cy="498598"/>
          </a:xfrm>
        </p:spPr>
        <p:txBody>
          <a:bodyPr/>
          <a:lstStyle/>
          <a:p>
            <a:r>
              <a:rPr lang="en-US" altLang="ko-KR" sz="36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Markov chain model </a:t>
            </a:r>
            <a:r>
              <a:rPr lang="en-US" altLang="ko-KR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of IEEE 802.15.4 </a:t>
            </a:r>
            <a:endParaRPr lang="ko-KR" altLang="en-US" sz="3600" dirty="0"/>
          </a:p>
        </p:txBody>
      </p:sp>
      <p:sp>
        <p:nvSpPr>
          <p:cNvPr id="15" name="내용 개체 틀 14">
            <a:extLst>
              <a:ext uri="{FF2B5EF4-FFF2-40B4-BE49-F238E27FC236}">
                <a16:creationId xmlns:a16="http://schemas.microsoft.com/office/drawing/2014/main" id="{A730030E-E6CC-435D-8C39-839C1C411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742" y="836712"/>
            <a:ext cx="9601200" cy="5328592"/>
          </a:xfrm>
        </p:spPr>
        <p:txBody>
          <a:bodyPr/>
          <a:lstStyle/>
          <a:p>
            <a:r>
              <a:rPr lang="en-US" altLang="ko-KR" dirty="0"/>
              <a:t>transition probabilities:      </a:t>
            </a:r>
            <a:endParaRPr lang="ko-KR" altLang="en-US" dirty="0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3D02FD5-A591-4B3B-BC69-4C865A240A7A}"/>
              </a:ext>
            </a:extLst>
          </p:cNvPr>
          <p:cNvGrpSpPr/>
          <p:nvPr/>
        </p:nvGrpSpPr>
        <p:grpSpPr>
          <a:xfrm>
            <a:off x="2207938" y="1442391"/>
            <a:ext cx="5489293" cy="2976779"/>
            <a:chOff x="2207938" y="1271393"/>
            <a:chExt cx="5489293" cy="2976779"/>
          </a:xfrm>
        </p:grpSpPr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10A29FAF-3BDB-467B-9F0E-574EF6125503}"/>
                </a:ext>
              </a:extLst>
            </p:cNvPr>
            <p:cNvGrpSpPr/>
            <p:nvPr/>
          </p:nvGrpSpPr>
          <p:grpSpPr>
            <a:xfrm>
              <a:off x="2207938" y="1271393"/>
              <a:ext cx="5489293" cy="2976779"/>
              <a:chOff x="328757" y="1464346"/>
              <a:chExt cx="5166630" cy="2813655"/>
            </a:xfrm>
          </p:grpSpPr>
          <p:pic>
            <p:nvPicPr>
              <p:cNvPr id="34" name="그림 33">
                <a:extLst>
                  <a:ext uri="{FF2B5EF4-FFF2-40B4-BE49-F238E27FC236}">
                    <a16:creationId xmlns:a16="http://schemas.microsoft.com/office/drawing/2014/main" id="{BC3A8C76-08D8-4122-99A7-E132348F9F7A}"/>
                  </a:ext>
                </a:extLst>
              </p:cNvPr>
              <p:cNvPicPr/>
              <p:nvPr/>
            </p:nvPicPr>
            <p:blipFill rotWithShape="1">
              <a:blip r:embed="rId2"/>
              <a:srcRect b="2416"/>
              <a:stretch/>
            </p:blipFill>
            <p:spPr>
              <a:xfrm>
                <a:off x="328757" y="1464346"/>
                <a:ext cx="5166630" cy="2813655"/>
              </a:xfrm>
              <a:prstGeom prst="rect">
                <a:avLst/>
              </a:prstGeom>
            </p:spPr>
          </p:pic>
          <p:cxnSp>
            <p:nvCxnSpPr>
              <p:cNvPr id="37" name="직선 화살표 연결선 36">
                <a:extLst>
                  <a:ext uri="{FF2B5EF4-FFF2-40B4-BE49-F238E27FC236}">
                    <a16:creationId xmlns:a16="http://schemas.microsoft.com/office/drawing/2014/main" id="{DDD58493-A87A-40E4-AE55-995AC26FDE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54500" y="1958141"/>
                <a:ext cx="782053" cy="0"/>
              </a:xfrm>
              <a:prstGeom prst="straightConnector1">
                <a:avLst/>
              </a:prstGeom>
              <a:ln w="28575">
                <a:solidFill>
                  <a:schemeClr val="accent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538F35D-D27D-4894-A96A-66C00A4871E1}"/>
                  </a:ext>
                </a:extLst>
              </p:cNvPr>
              <p:cNvSpPr txBox="1"/>
              <p:nvPr/>
            </p:nvSpPr>
            <p:spPr>
              <a:xfrm>
                <a:off x="2031384" y="2199505"/>
                <a:ext cx="64522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b="1" dirty="0">
                    <a:solidFill>
                      <a:schemeClr val="accent1"/>
                    </a:solidFill>
                    <a:latin typeface="+mj-ea"/>
                    <a:ea typeface="+mj-ea"/>
                  </a:rPr>
                  <a:t>CCA➀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6E95629-3002-4FB7-AE05-77BC443E3554}"/>
                  </a:ext>
                </a:extLst>
              </p:cNvPr>
              <p:cNvSpPr txBox="1"/>
              <p:nvPr/>
            </p:nvSpPr>
            <p:spPr>
              <a:xfrm>
                <a:off x="1293244" y="1639596"/>
                <a:ext cx="64522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b="1" dirty="0">
                    <a:solidFill>
                      <a:schemeClr val="accent1"/>
                    </a:solidFill>
                    <a:latin typeface="+mj-ea"/>
                    <a:ea typeface="+mj-ea"/>
                  </a:rPr>
                  <a:t>CCA➁</a:t>
                </a:r>
              </a:p>
            </p:txBody>
          </p:sp>
          <p:cxnSp>
            <p:nvCxnSpPr>
              <p:cNvPr id="53" name="직선 화살표 연결선 52">
                <a:extLst>
                  <a:ext uri="{FF2B5EF4-FFF2-40B4-BE49-F238E27FC236}">
                    <a16:creationId xmlns:a16="http://schemas.microsoft.com/office/drawing/2014/main" id="{6458D9D1-DAF4-491D-AC93-8AFC1B9610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95032" y="3015806"/>
                <a:ext cx="0" cy="35675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6FD2A807-CDFE-4616-8BDF-3C31F905BEB7}"/>
                </a:ext>
              </a:extLst>
            </p:cNvPr>
            <p:cNvCxnSpPr>
              <a:cxnSpLocks/>
            </p:cNvCxnSpPr>
            <p:nvPr/>
          </p:nvCxnSpPr>
          <p:spPr>
            <a:xfrm>
              <a:off x="2865090" y="2071066"/>
              <a:ext cx="913120" cy="227873"/>
            </a:xfrm>
            <a:prstGeom prst="straightConnector1">
              <a:avLst/>
            </a:prstGeom>
            <a:ln w="28575">
              <a:solidFill>
                <a:schemeClr val="accent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6DE57E91-BAF1-4491-9400-4EE3D737D0DF}"/>
                </a:ext>
              </a:extLst>
            </p:cNvPr>
            <p:cNvCxnSpPr>
              <a:cxnSpLocks/>
            </p:cNvCxnSpPr>
            <p:nvPr/>
          </p:nvCxnSpPr>
          <p:spPr>
            <a:xfrm>
              <a:off x="3978274" y="1974708"/>
              <a:ext cx="0" cy="276777"/>
            </a:xfrm>
            <a:prstGeom prst="straightConnector1">
              <a:avLst/>
            </a:prstGeom>
            <a:ln w="28575">
              <a:solidFill>
                <a:schemeClr val="accent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A44931ED-BC0B-428F-A047-66F7735E7956}"/>
                </a:ext>
              </a:extLst>
            </p:cNvPr>
            <p:cNvCxnSpPr>
              <a:cxnSpLocks/>
            </p:cNvCxnSpPr>
            <p:nvPr/>
          </p:nvCxnSpPr>
          <p:spPr>
            <a:xfrm>
              <a:off x="3835631" y="2302228"/>
              <a:ext cx="2944" cy="332884"/>
            </a:xfrm>
            <a:prstGeom prst="straightConnector1">
              <a:avLst/>
            </a:prstGeom>
            <a:ln w="28575">
              <a:solidFill>
                <a:schemeClr val="accent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4218E81F-5332-41B2-A018-789BFF247F16}"/>
                </a:ext>
              </a:extLst>
            </p:cNvPr>
            <p:cNvCxnSpPr>
              <a:cxnSpLocks/>
            </p:cNvCxnSpPr>
            <p:nvPr/>
          </p:nvCxnSpPr>
          <p:spPr>
            <a:xfrm>
              <a:off x="3976802" y="2302228"/>
              <a:ext cx="2944" cy="332884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49FD5A3F-B0BF-44CE-896B-4D5D0120952B}"/>
              </a:ext>
            </a:extLst>
          </p:cNvPr>
          <p:cNvGrpSpPr/>
          <p:nvPr/>
        </p:nvGrpSpPr>
        <p:grpSpPr>
          <a:xfrm>
            <a:off x="210907" y="4616944"/>
            <a:ext cx="9695093" cy="1409843"/>
            <a:chOff x="210907" y="4616944"/>
            <a:chExt cx="9695093" cy="1409843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BB6082B6-0101-48B3-9CDA-A9A314E146E3}"/>
                </a:ext>
              </a:extLst>
            </p:cNvPr>
            <p:cNvGrpSpPr/>
            <p:nvPr/>
          </p:nvGrpSpPr>
          <p:grpSpPr>
            <a:xfrm>
              <a:off x="210907" y="4616944"/>
              <a:ext cx="9695093" cy="1071260"/>
              <a:chOff x="210907" y="4616944"/>
              <a:chExt cx="9695093" cy="1071260"/>
            </a:xfrm>
          </p:grpSpPr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3422B98A-1D51-41C8-997C-8490C7EF0EC2}"/>
                  </a:ext>
                </a:extLst>
              </p:cNvPr>
              <p:cNvGrpSpPr/>
              <p:nvPr/>
            </p:nvGrpSpPr>
            <p:grpSpPr>
              <a:xfrm>
                <a:off x="210907" y="5307703"/>
                <a:ext cx="4561179" cy="380501"/>
                <a:chOff x="344488" y="2521705"/>
                <a:chExt cx="4561179" cy="39954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직사각형 21">
                      <a:extLst>
                        <a:ext uri="{FF2B5EF4-FFF2-40B4-BE49-F238E27FC236}">
                          <a16:creationId xmlns:a16="http://schemas.microsoft.com/office/drawing/2014/main" id="{8E8364D3-9B5B-4ABD-A5FC-388A6167E1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4488" y="2521705"/>
                      <a:ext cx="3367204" cy="39677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ko-KR" altLang="en-US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ko-KR" altLang="en-US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ko-KR" altLang="en-US">
                                        <a:latin typeface="Cambria Math" panose="02040503050406030204" pitchFamily="18" charset="0"/>
                                      </a:rPr>
                                      <m:t>0,0</m:t>
                                    </m:r>
                                    <m:r>
                                      <a:rPr lang="en-US" altLang="ko-KR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en-US" i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ko-KR" altLang="en-US" i="0">
                                        <a:latin typeface="Cambria Math" panose="02040503050406030204" pitchFamily="18" charset="0"/>
                                      </a:rPr>
                                      <m:t>+(1−</m:t>
                                    </m:r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ko-KR" altLang="en-US" i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  <m:r>
                                      <a:rPr lang="ko-KR" altLang="en-US" i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oMath>
                        </m:oMathPara>
                      </a14:m>
                      <a:endParaRPr lang="ko-KR" altLang="en-US" dirty="0"/>
                    </a:p>
                  </p:txBody>
                </p:sp>
              </mc:Choice>
              <mc:Fallback xmlns="">
                <p:sp>
                  <p:nvSpPr>
                    <p:cNvPr id="22" name="직사각형 21">
                      <a:extLst>
                        <a:ext uri="{FF2B5EF4-FFF2-40B4-BE49-F238E27FC236}">
                          <a16:creationId xmlns:a16="http://schemas.microsoft.com/office/drawing/2014/main" id="{8E8364D3-9B5B-4ABD-A5FC-388A6167E11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4488" y="2521705"/>
                      <a:ext cx="3367204" cy="396775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b="-923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직사각형 24">
                      <a:extLst>
                        <a:ext uri="{FF2B5EF4-FFF2-40B4-BE49-F238E27FC236}">
                          <a16:creationId xmlns:a16="http://schemas.microsoft.com/office/drawing/2014/main" id="{5595C3EE-4C8C-4FB9-9840-6B5199FB53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8146" y="2551913"/>
                      <a:ext cx="1247521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ko-KR" alt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ko-KR" altLang="en-US" i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ko-KR" altLang="en-US" i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oMath>
                        </m:oMathPara>
                      </a14:m>
                      <a:endParaRPr lang="ko-KR" altLang="en-US" dirty="0"/>
                    </a:p>
                  </p:txBody>
                </p:sp>
              </mc:Choice>
              <mc:Fallback xmlns="">
                <p:sp>
                  <p:nvSpPr>
                    <p:cNvPr id="25" name="직사각형 24">
                      <a:extLst>
                        <a:ext uri="{FF2B5EF4-FFF2-40B4-BE49-F238E27FC236}">
                          <a16:creationId xmlns:a16="http://schemas.microsoft.com/office/drawing/2014/main" id="{5595C3EE-4C8C-4FB9-9840-6B5199FB535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58146" y="2551913"/>
                      <a:ext cx="1247521" cy="369332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7" name="그룹 26">
                <a:extLst>
                  <a:ext uri="{FF2B5EF4-FFF2-40B4-BE49-F238E27FC236}">
                    <a16:creationId xmlns:a16="http://schemas.microsoft.com/office/drawing/2014/main" id="{688D03A7-C748-4348-9A25-0ADD206459D7}"/>
                  </a:ext>
                </a:extLst>
              </p:cNvPr>
              <p:cNvGrpSpPr/>
              <p:nvPr/>
            </p:nvGrpSpPr>
            <p:grpSpPr>
              <a:xfrm>
                <a:off x="224478" y="4616944"/>
                <a:ext cx="4561180" cy="392103"/>
                <a:chOff x="344488" y="1628800"/>
                <a:chExt cx="4561180" cy="41172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직사각형 13">
                      <a:extLst>
                        <a:ext uri="{FF2B5EF4-FFF2-40B4-BE49-F238E27FC236}">
                          <a16:creationId xmlns:a16="http://schemas.microsoft.com/office/drawing/2014/main" id="{8DD2D848-A048-414C-815C-5B81C327B9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4488" y="1628800"/>
                      <a:ext cx="3281026" cy="38151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ko-KR" altLang="en-US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ko-KR" altLang="en-US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ko-KR" altLang="en-US">
                                    <a:latin typeface="Cambria Math" panose="02040503050406030204" pitchFamily="18" charset="0"/>
                                  </a:rPr>
                                  <m:t>−1,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ko-KR" altLang="en-US" i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ko-KR" altLang="en-US" i="0">
                                <a:latin typeface="Cambria Math" panose="02040503050406030204" pitchFamily="18" charset="0"/>
                              </a:rPr>
                              <m:t>+(1−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ko-KR" altLang="en-US" i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ko-KR" altLang="en-US" i="0"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ko-KR" altLang="en-US" dirty="0"/>
                    </a:p>
                  </p:txBody>
                </p:sp>
              </mc:Choice>
              <mc:Fallback xmlns="">
                <p:sp>
                  <p:nvSpPr>
                    <p:cNvPr id="14" name="직사각형 13">
                      <a:extLst>
                        <a:ext uri="{FF2B5EF4-FFF2-40B4-BE49-F238E27FC236}">
                          <a16:creationId xmlns:a16="http://schemas.microsoft.com/office/drawing/2014/main" id="{8DD2D848-A048-414C-815C-5B81C327B9A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4488" y="1628800"/>
                      <a:ext cx="3281026" cy="38151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b="-112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직사각형 23">
                      <a:extLst>
                        <a:ext uri="{FF2B5EF4-FFF2-40B4-BE49-F238E27FC236}">
                          <a16:creationId xmlns:a16="http://schemas.microsoft.com/office/drawing/2014/main" id="{0B54755E-13C2-4184-A903-7969AFA6A4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8147" y="1671191"/>
                      <a:ext cx="1247521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ko-KR" alt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ko-KR" altLang="en-US" i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ko-KR" altLang="en-US" i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oMath>
                        </m:oMathPara>
                      </a14:m>
                      <a:endParaRPr lang="ko-KR" altLang="en-US" dirty="0"/>
                    </a:p>
                  </p:txBody>
                </p:sp>
              </mc:Choice>
              <mc:Fallback xmlns="">
                <p:sp>
                  <p:nvSpPr>
                    <p:cNvPr id="24" name="직사각형 23">
                      <a:extLst>
                        <a:ext uri="{FF2B5EF4-FFF2-40B4-BE49-F238E27FC236}">
                          <a16:creationId xmlns:a16="http://schemas.microsoft.com/office/drawing/2014/main" id="{0B54755E-13C2-4184-A903-7969AFA6A45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58147" y="1671191"/>
                      <a:ext cx="1247521" cy="3693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7EA9873-09B8-4DC0-88D2-ADB8869EE24D}"/>
                  </a:ext>
                </a:extLst>
              </p:cNvPr>
              <p:cNvSpPr txBox="1"/>
              <p:nvPr/>
            </p:nvSpPr>
            <p:spPr>
              <a:xfrm>
                <a:off x="2035094" y="4993598"/>
                <a:ext cx="1324985" cy="263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CCA</a:t>
                </a:r>
                <a:r>
                  <a:rPr lang="ko-KR" alt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실패 </a:t>
                </a:r>
                <a:r>
                  <a:rPr lang="en-US" altLang="ko-K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ko-KR" alt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번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23E7CE59-FDA2-454D-B567-962290AB114E}"/>
                      </a:ext>
                    </a:extLst>
                  </p:cNvPr>
                  <p:cNvSpPr txBox="1"/>
                  <p:nvPr/>
                </p:nvSpPr>
                <p:spPr>
                  <a:xfrm>
                    <a:off x="5042954" y="4673911"/>
                    <a:ext cx="4863046" cy="3493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ko-KR" altLang="en-US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6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ko-KR" altLang="en-US" sz="16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ko-KR" altLang="en-US" sz="1600" b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ko-KR" altLang="en-US" sz="1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ko-KR" altLang="en-US" sz="1600" b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600" b="1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ko-KR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a14:m>
                    <a:r>
                      <a:rPr lang="ko-KR" altLang="en-US" sz="1300" b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a:t>에서 </a:t>
                    </a:r>
                    <a:r>
                      <a:rPr lang="en-US" altLang="ko-KR" sz="1300" b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a:t>CCA 2</a:t>
                    </a:r>
                    <a:r>
                      <a:rPr lang="ko-KR" altLang="en-US" sz="1300" b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a:t>번 실패 후 다음 </a:t>
                    </a:r>
                    <a:r>
                      <a:rPr lang="en-US" altLang="ko-KR" sz="1300" b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a:t>stage</a:t>
                    </a:r>
                    <a:r>
                      <a:rPr lang="ko-KR" altLang="en-US" sz="1300" b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a:t>의 </a:t>
                    </a:r>
                    <a:r>
                      <a:rPr lang="en-US" altLang="ko-KR" sz="1400" b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a:t>i, 0</a:t>
                    </a:r>
                    <a:r>
                      <a:rPr lang="ko-KR" altLang="en-US" sz="1300" b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a:t>으로 가는 것을 의미</a:t>
                    </a:r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23E7CE59-FDA2-454D-B567-962290AB11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42954" y="4673911"/>
                    <a:ext cx="4863046" cy="349326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0526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964C755B-08BC-4B79-AD1C-7266E37AF14B}"/>
                </a:ext>
              </a:extLst>
            </p:cNvPr>
            <p:cNvSpPr/>
            <p:nvPr/>
          </p:nvSpPr>
          <p:spPr>
            <a:xfrm>
              <a:off x="1882212" y="4639375"/>
              <a:ext cx="1517603" cy="338270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64320CBA-76A1-4AF4-BA3A-6C97305B40E9}"/>
                </a:ext>
              </a:extLst>
            </p:cNvPr>
            <p:cNvCxnSpPr>
              <a:cxnSpLocks/>
            </p:cNvCxnSpPr>
            <p:nvPr/>
          </p:nvCxnSpPr>
          <p:spPr>
            <a:xfrm>
              <a:off x="4750602" y="4869160"/>
              <a:ext cx="29113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연결선: 꺾임 34">
              <a:extLst>
                <a:ext uri="{FF2B5EF4-FFF2-40B4-BE49-F238E27FC236}">
                  <a16:creationId xmlns:a16="http://schemas.microsoft.com/office/drawing/2014/main" id="{27910A45-53D4-4F05-A82C-903444DD60D9}"/>
                </a:ext>
              </a:extLst>
            </p:cNvPr>
            <p:cNvCxnSpPr>
              <a:cxnSpLocks/>
            </p:cNvCxnSpPr>
            <p:nvPr/>
          </p:nvCxnSpPr>
          <p:spPr>
            <a:xfrm>
              <a:off x="1965650" y="4988230"/>
              <a:ext cx="218480" cy="137268"/>
            </a:xfrm>
            <a:prstGeom prst="bentConnector3">
              <a:avLst>
                <a:gd name="adj1" fmla="val -3046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ADEEA8BD-B163-49BF-BF45-F95B9C39140E}"/>
                </a:ext>
              </a:extLst>
            </p:cNvPr>
            <p:cNvGrpSpPr/>
            <p:nvPr/>
          </p:nvGrpSpPr>
          <p:grpSpPr>
            <a:xfrm>
              <a:off x="694706" y="5677461"/>
              <a:ext cx="5118161" cy="349326"/>
              <a:chOff x="694706" y="5677461"/>
              <a:chExt cx="5118161" cy="349326"/>
            </a:xfrm>
          </p:grpSpPr>
          <p:cxnSp>
            <p:nvCxnSpPr>
              <p:cNvPr id="36" name="연결선: 꺾임 35">
                <a:extLst>
                  <a:ext uri="{FF2B5EF4-FFF2-40B4-BE49-F238E27FC236}">
                    <a16:creationId xmlns:a16="http://schemas.microsoft.com/office/drawing/2014/main" id="{2ABA5DD2-C45A-412B-A7E3-FC714340D3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4080" y="5708170"/>
                <a:ext cx="218480" cy="137268"/>
              </a:xfrm>
              <a:prstGeom prst="bentConnector3">
                <a:avLst>
                  <a:gd name="adj1" fmla="val -3046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3F7729FB-6559-4550-814E-9212678E80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4706" y="5692962"/>
                <a:ext cx="2683871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5B0E7233-A9BA-4755-A305-14D153232D8F}"/>
                      </a:ext>
                    </a:extLst>
                  </p:cNvPr>
                  <p:cNvSpPr txBox="1"/>
                  <p:nvPr/>
                </p:nvSpPr>
                <p:spPr>
                  <a:xfrm>
                    <a:off x="949821" y="5677461"/>
                    <a:ext cx="4863046" cy="3493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ko-KR" altLang="en-US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6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ko-KR" sz="16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ko-KR" altLang="en-US" sz="1600" b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600" b="1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ko-KR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a14:m>
                    <a:r>
                      <a:rPr lang="ko-KR" altLang="en-US" sz="1300" b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a:t>에서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ko-KR" alt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4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ko-KR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a14:m>
                    <a:r>
                      <a:rPr lang="ko-KR" altLang="en-US" sz="1300" b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a:t>로 갈 때 </a:t>
                    </a:r>
                    <a:r>
                      <a:rPr lang="en-US" altLang="ko-KR" sz="1300" b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a:t>(5)</a:t>
                    </a:r>
                    <a:r>
                      <a:rPr lang="ko-KR" altLang="en-US" sz="1300" b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a:t>번 과정을 </a:t>
                    </a:r>
                    <a14:m>
                      <m:oMath xmlns:m="http://schemas.openxmlformats.org/officeDocument/2006/math">
                        <m:r>
                          <a:rPr lang="en-US" altLang="ko-KR" sz="13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oMath>
                    </a14:m>
                    <a:r>
                      <a:rPr lang="ko-KR" altLang="en-US" sz="1300" b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a:t>번 반복하는 것을 의미</a:t>
                    </a:r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5B0E7233-A9BA-4755-A305-14D153232D8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9821" y="5677461"/>
                    <a:ext cx="4863046" cy="34932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6897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51D8E989-A89A-4641-8151-68361734C386}"/>
              </a:ext>
            </a:extLst>
          </p:cNvPr>
          <p:cNvGrpSpPr/>
          <p:nvPr/>
        </p:nvGrpSpPr>
        <p:grpSpPr>
          <a:xfrm>
            <a:off x="5638544" y="5327501"/>
            <a:ext cx="4211000" cy="1644980"/>
            <a:chOff x="5638544" y="5327501"/>
            <a:chExt cx="4211000" cy="16449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직사각형 48">
                  <a:extLst>
                    <a:ext uri="{FF2B5EF4-FFF2-40B4-BE49-F238E27FC236}">
                      <a16:creationId xmlns:a16="http://schemas.microsoft.com/office/drawing/2014/main" id="{88E05780-2ED8-4FDD-9930-CADE8D89D41C}"/>
                    </a:ext>
                  </a:extLst>
                </p:cNvPr>
                <p:cNvSpPr/>
                <p:nvPr/>
              </p:nvSpPr>
              <p:spPr>
                <a:xfrm>
                  <a:off x="5929682" y="5358128"/>
                  <a:ext cx="3919862" cy="161435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just"/>
                  <a:r>
                    <a:rPr lang="ko-KR" altLang="en-US" sz="1300" dirty="0">
                      <a:latin typeface="+mn-ea"/>
                    </a:rPr>
                    <a:t>위의</a:t>
                  </a:r>
                  <a:r>
                    <a:rPr lang="ko-KR" altLang="en-US" sz="13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  <a:r>
                    <a:rPr lang="en-US" altLang="ko-KR" sz="13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(5) </a:t>
                  </a:r>
                  <a:r>
                    <a:rPr lang="ko-KR" altLang="en-US" sz="1300" dirty="0">
                      <a:latin typeface="Cambria Math" panose="02040503050406030204" pitchFamily="18" charset="0"/>
                    </a:rPr>
                    <a:t>식의 </a:t>
                  </a:r>
                  <a:r>
                    <a:rPr lang="en-US" altLang="ko-KR" sz="1300" dirty="0">
                      <a:latin typeface="Cambria Math" panose="02040503050406030204" pitchFamily="18" charset="0"/>
                    </a:rPr>
                    <a:t>i</a:t>
                  </a:r>
                  <a:r>
                    <a:rPr lang="ko-KR" altLang="en-US" sz="1300" dirty="0">
                      <a:latin typeface="Cambria Math" panose="02040503050406030204" pitchFamily="18" charset="0"/>
                    </a:rPr>
                    <a:t>에</a:t>
                  </a:r>
                  <a:endParaRPr lang="en-US" altLang="ko-KR" sz="13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just"/>
                  <a:r>
                    <a:rPr lang="en-US" altLang="ko-KR" sz="13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1</a:t>
                  </a:r>
                  <a:r>
                    <a:rPr lang="ko-KR" altLang="en-US" sz="1300" dirty="0">
                      <a:latin typeface="Cambria Math" panose="02040503050406030204" pitchFamily="18" charset="0"/>
                    </a:rPr>
                    <a:t> 대입→ </a:t>
                  </a:r>
                  <a14:m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ko-KR" altLang="en-US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sz="13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3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ko-KR" altLang="en-US" sz="1300">
                                  <a:latin typeface="Cambria Math" panose="02040503050406030204" pitchFamily="18" charset="0"/>
                                </a:rPr>
                                <m:t>1,0</m:t>
                              </m:r>
                            </m:sub>
                          </m:sSub>
                          <m:r>
                            <a:rPr lang="en-US" altLang="ko-KR" sz="13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130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ko-KR" altLang="en-US" sz="13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3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ko-KR" altLang="en-US" sz="1300">
                                  <a:latin typeface="Cambria Math" panose="02040503050406030204" pitchFamily="18" charset="0"/>
                                </a:rPr>
                                <m:t>0,0</m:t>
                              </m:r>
                            </m:sub>
                          </m:sSub>
                          <m:r>
                            <a:rPr lang="ko-KR" altLang="en-US" sz="13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3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ko-KR" altLang="en-US" sz="1300">
                              <a:latin typeface="Cambria Math" panose="02040503050406030204" pitchFamily="18" charset="0"/>
                            </a:rPr>
                            <m:t>+(1−</m:t>
                          </m:r>
                          <m:r>
                            <a:rPr lang="ko-KR" altLang="en-US" sz="13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ko-KR" altLang="en-US" sz="130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ko-KR" altLang="en-US" sz="13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a14:m>
                  <a:endParaRPr lang="en-US" altLang="ko-KR" sz="13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just"/>
                  <a:r>
                    <a:rPr lang="en-US" altLang="ko-KR" sz="13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2</a:t>
                  </a:r>
                  <a:r>
                    <a:rPr lang="ko-KR" altLang="en-US" sz="1300" dirty="0">
                      <a:latin typeface="Cambria Math" panose="02040503050406030204" pitchFamily="18" charset="0"/>
                    </a:rPr>
                    <a:t> 대입</a:t>
                  </a:r>
                  <a:r>
                    <a:rPr lang="en-US" altLang="ko-KR" sz="13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  <a:r>
                    <a:rPr lang="ko-KR" altLang="en-US" sz="1300" dirty="0">
                      <a:latin typeface="Cambria Math" panose="02040503050406030204" pitchFamily="18" charset="0"/>
                    </a:rPr>
                    <a:t>→ </a:t>
                  </a:r>
                  <a14:m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ko-KR" altLang="en-US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sz="13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3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ko-KR" sz="13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ko-KR" altLang="en-US" sz="1300">
                                  <a:latin typeface="Cambria Math" panose="02040503050406030204" pitchFamily="18" charset="0"/>
                                </a:rPr>
                                <m:t>,0</m:t>
                              </m:r>
                            </m:sub>
                          </m:sSub>
                          <m:r>
                            <a:rPr lang="ko-KR" altLang="en-US" sz="130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ko-KR" altLang="en-US" sz="13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3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ko-KR" sz="13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ko-KR" altLang="en-US" sz="1300">
                                  <a:latin typeface="Cambria Math" panose="02040503050406030204" pitchFamily="18" charset="0"/>
                                </a:rPr>
                                <m:t>,0</m:t>
                              </m:r>
                            </m:sub>
                          </m:sSub>
                          <m:r>
                            <a:rPr lang="ko-KR" altLang="en-US" sz="13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3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ko-KR" altLang="en-US" sz="1300">
                              <a:latin typeface="Cambria Math" panose="02040503050406030204" pitchFamily="18" charset="0"/>
                            </a:rPr>
                            <m:t>+(1−</m:t>
                          </m:r>
                          <m:r>
                            <a:rPr lang="ko-KR" altLang="en-US" sz="13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ko-KR" altLang="en-US" sz="130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ko-KR" altLang="en-US" sz="13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a14:m>
                  <a:r>
                    <a:rPr lang="ko-KR" altLang="en-US" sz="1300" dirty="0">
                      <a:latin typeface="Cambria Math" panose="02040503050406030204" pitchFamily="18" charset="0"/>
                    </a:rPr>
                    <a:t> </a:t>
                  </a:r>
                  <a:endParaRPr lang="en-US" altLang="ko-KR" sz="13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just"/>
                  <a:r>
                    <a:rPr lang="en-US" altLang="ko-KR" sz="13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        		</a:t>
                  </a:r>
                  <a14:m>
                    <m:oMath xmlns:m="http://schemas.openxmlformats.org/officeDocument/2006/math">
                      <m:r>
                        <a:rPr lang="en-US" altLang="ko-KR" sz="1300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ko-KR" altLang="en-US" sz="13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"/>
                          <m:ctrlPr>
                            <a:rPr lang="ko-KR" altLang="en-US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sz="13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3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ko-KR" altLang="en-US" sz="1300">
                                  <a:latin typeface="Cambria Math" panose="02040503050406030204" pitchFamily="18" charset="0"/>
                                </a:rPr>
                                <m:t>0,0</m:t>
                              </m:r>
                            </m:sub>
                          </m:sSub>
                          <m:r>
                            <a:rPr lang="ko-KR" altLang="en-US" sz="13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3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ko-KR" altLang="en-US" sz="1300">
                              <a:latin typeface="Cambria Math" panose="02040503050406030204" pitchFamily="18" charset="0"/>
                            </a:rPr>
                            <m:t>+(1−</m:t>
                          </m:r>
                          <m:r>
                            <a:rPr lang="ko-KR" altLang="en-US" sz="13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ko-KR" altLang="en-US" sz="130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ko-KR" altLang="en-US" sz="13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d>
                        <m:dPr>
                          <m:begChr m:val=""/>
                          <m:ctrlPr>
                            <a:rPr lang="ko-KR" altLang="en-US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3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13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3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ko-KR" altLang="en-US" sz="1300">
                              <a:latin typeface="Cambria Math" panose="02040503050406030204" pitchFamily="18" charset="0"/>
                            </a:rPr>
                            <m:t>+(1−</m:t>
                          </m:r>
                          <m:r>
                            <a:rPr lang="ko-KR" altLang="en-US" sz="13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ko-KR" altLang="en-US" sz="130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ko-KR" altLang="en-US" sz="13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a14:m>
                  <a:endParaRPr lang="en-US" altLang="ko-KR" sz="13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just"/>
                  <a14:m>
                    <m:oMath xmlns:m="http://schemas.openxmlformats.org/officeDocument/2006/math">
                      <m:r>
                        <a:rPr lang="en-US" altLang="ko-KR" sz="13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    </m:t>
                      </m:r>
                      <m:r>
                        <a:rPr lang="ko-KR" altLang="en-US" sz="13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"/>
                          <m:ctrlPr>
                            <a:rPr lang="ko-KR" altLang="en-US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sz="13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3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ko-KR" altLang="en-US" sz="1300">
                                  <a:latin typeface="Cambria Math" panose="02040503050406030204" pitchFamily="18" charset="0"/>
                                </a:rPr>
                                <m:t>0,0</m:t>
                              </m:r>
                            </m:sub>
                          </m:sSub>
                          <m:r>
                            <a:rPr lang="ko-KR" altLang="en-US" sz="13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3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ko-KR" altLang="en-US" sz="1300">
                              <a:latin typeface="Cambria Math" panose="02040503050406030204" pitchFamily="18" charset="0"/>
                            </a:rPr>
                            <m:t>+(1−</m:t>
                          </m:r>
                          <m:r>
                            <a:rPr lang="ko-KR" altLang="en-US" sz="13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ko-KR" altLang="en-US" sz="130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ko-KR" altLang="en-US" sz="13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a14:m>
                  <a:r>
                    <a:rPr lang="en-US" altLang="ko-KR" sz="13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²</a:t>
                  </a:r>
                </a:p>
                <a:p>
                  <a:pPr algn="just"/>
                  <a:r>
                    <a:rPr lang="en-US" altLang="ko-KR" sz="1300" b="1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⇒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ko-KR" altLang="en-US" sz="13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3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ko-KR" altLang="en-US" sz="13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ko-KR" altLang="en-US" sz="1300" b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13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ko-KR" altLang="en-US" sz="1300" b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sz="13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3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ko-KR" altLang="en-US" sz="1300" b="1" i="1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ko-KR" altLang="en-US" sz="1300" b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13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p>
                        <m:sSupPr>
                          <m:ctrlPr>
                            <a:rPr lang="ko-KR" altLang="en-US" sz="13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ko-KR" altLang="en-US" sz="13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300" b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ko-KR" altLang="en-US" sz="1300" b="1" i="1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ko-KR" altLang="en-US" sz="1300" b="1">
                                  <a:latin typeface="Cambria Math" panose="02040503050406030204" pitchFamily="18" charset="0"/>
                                </a:rPr>
                                <m:t>+(</m:t>
                              </m:r>
                              <m:r>
                                <a:rPr lang="ko-KR" altLang="en-US" sz="13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ko-KR" altLang="en-US" sz="1300" b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ko-KR" altLang="en-US" sz="1300" b="1" i="1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ko-KR" altLang="en-US" sz="1300" b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ko-KR" altLang="en-US" sz="1300" b="1" i="1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  <m:r>
                                <a:rPr lang="ko-KR" altLang="en-US" sz="1300" b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ko-KR" altLang="en-US" sz="13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a14:m>
                  <a:endParaRPr lang="ko-KR" altLang="en-US" sz="1300" b="1" dirty="0">
                    <a:latin typeface="Cambria Math" panose="02040503050406030204" pitchFamily="18" charset="0"/>
                  </a:endParaRPr>
                </a:p>
                <a:p>
                  <a:endParaRPr lang="ko-KR" altLang="en-US" sz="13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9" name="직사각형 48">
                  <a:extLst>
                    <a:ext uri="{FF2B5EF4-FFF2-40B4-BE49-F238E27FC236}">
                      <a16:creationId xmlns:a16="http://schemas.microsoft.com/office/drawing/2014/main" id="{88E05780-2ED8-4FDD-9930-CADE8D89D4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9682" y="5358128"/>
                  <a:ext cx="3919862" cy="1614353"/>
                </a:xfrm>
                <a:prstGeom prst="rect">
                  <a:avLst/>
                </a:prstGeom>
                <a:blipFill>
                  <a:blip r:embed="rId9"/>
                  <a:stretch>
                    <a:fillRect l="-311" t="-14340" r="-5754" b="-1471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F681F10D-2988-4179-AC59-4C7B988178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38544" y="5517232"/>
              <a:ext cx="29113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67C7F791-6D99-4AFC-A4BB-8CF32B3BBB81}"/>
                </a:ext>
              </a:extLst>
            </p:cNvPr>
            <p:cNvSpPr/>
            <p:nvPr/>
          </p:nvSpPr>
          <p:spPr>
            <a:xfrm>
              <a:off x="5966412" y="5327501"/>
              <a:ext cx="3728681" cy="1443443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2737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BEB8ABC-95AF-4353-A0AD-0FF48AFBDC8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B13819-B594-49DA-A814-E05B1D2217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618830" cy="498598"/>
          </a:xfrm>
        </p:spPr>
        <p:txBody>
          <a:bodyPr/>
          <a:lstStyle/>
          <a:p>
            <a:r>
              <a:rPr lang="en-US" altLang="ko-KR" sz="36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Markov chain model </a:t>
            </a:r>
            <a:r>
              <a:rPr lang="en-US" altLang="ko-KR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of IEEE 802.15.4 </a:t>
            </a:r>
            <a:endParaRPr lang="ko-KR" altLang="en-US" sz="3600" dirty="0"/>
          </a:p>
        </p:txBody>
      </p:sp>
      <p:sp>
        <p:nvSpPr>
          <p:cNvPr id="15" name="내용 개체 틀 14">
            <a:extLst>
              <a:ext uri="{FF2B5EF4-FFF2-40B4-BE49-F238E27FC236}">
                <a16:creationId xmlns:a16="http://schemas.microsoft.com/office/drawing/2014/main" id="{A730030E-E6CC-435D-8C39-839C1C411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742" y="836712"/>
            <a:ext cx="9601200" cy="5328592"/>
          </a:xfrm>
        </p:spPr>
        <p:txBody>
          <a:bodyPr/>
          <a:lstStyle/>
          <a:p>
            <a:r>
              <a:rPr lang="en-US" altLang="ko-KR" dirty="0"/>
              <a:t>transition probabilities: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03B07D-4DC0-41D5-9B53-B326BFAC24CC}"/>
              </a:ext>
            </a:extLst>
          </p:cNvPr>
          <p:cNvSpPr txBox="1"/>
          <p:nvPr/>
        </p:nvSpPr>
        <p:spPr>
          <a:xfrm>
            <a:off x="170595" y="4274992"/>
            <a:ext cx="3058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Cambria Math" panose="02040503050406030204" pitchFamily="18" charset="0"/>
            </a:endParaRPr>
          </a:p>
          <a:p>
            <a:pPr algn="l"/>
            <a:endParaRPr lang="ko-KR" altLang="en-US" dirty="0" err="1">
              <a:latin typeface="Abadi" panose="020B0604020104020204" pitchFamily="34" charset="0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A7298BC-4068-4FAF-9FBA-22A3B65EA018}"/>
              </a:ext>
            </a:extLst>
          </p:cNvPr>
          <p:cNvGrpSpPr/>
          <p:nvPr/>
        </p:nvGrpSpPr>
        <p:grpSpPr>
          <a:xfrm>
            <a:off x="258811" y="4156529"/>
            <a:ext cx="4923232" cy="883255"/>
            <a:chOff x="378219" y="1475866"/>
            <a:chExt cx="4923232" cy="8832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직사각형 1">
                  <a:extLst>
                    <a:ext uri="{FF2B5EF4-FFF2-40B4-BE49-F238E27FC236}">
                      <a16:creationId xmlns:a16="http://schemas.microsoft.com/office/drawing/2014/main" id="{E53543D2-4832-4330-A5BF-AC27BBCB990E}"/>
                    </a:ext>
                  </a:extLst>
                </p:cNvPr>
                <p:cNvSpPr/>
                <p:nvPr/>
              </p:nvSpPr>
              <p:spPr>
                <a:xfrm>
                  <a:off x="378219" y="1475866"/>
                  <a:ext cx="4096058" cy="88325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ko-KR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ko-KR" alt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ko-KR" altLang="en-US">
                                <a:latin typeface="Cambria Math" panose="02040503050406030204" pitchFamily="18" charset="0"/>
                              </a:rPr>
                              <m:t>=</m:t>
                            </m:r>
                          </m:sub>
                        </m:sSub>
                        <m:f>
                          <m:f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ko-KR" alt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b>
                              <m:sSubPr>
                                <m:ctrlP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)(1−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)</m:t>
                        </m:r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ko-KR" alt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/>
                                <m:aln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  <m:r>
                              <a:rPr lang="ko-KR" altLang="en-US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b>
                              <m:sSubPr>
                                <m:ctrlP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2" name="직사각형 1">
                  <a:extLst>
                    <a:ext uri="{FF2B5EF4-FFF2-40B4-BE49-F238E27FC236}">
                      <a16:creationId xmlns:a16="http://schemas.microsoft.com/office/drawing/2014/main" id="{E53543D2-4832-4330-A5BF-AC27BBCB990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219" y="1475866"/>
                  <a:ext cx="4096058" cy="88325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471B1E81-7C02-4368-AA57-F7AE1E96E6A5}"/>
                    </a:ext>
                  </a:extLst>
                </p:cNvPr>
                <p:cNvSpPr/>
                <p:nvPr/>
              </p:nvSpPr>
              <p:spPr>
                <a:xfrm>
                  <a:off x="4553233" y="1745113"/>
                  <a:ext cx="748218" cy="3985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/>
                          </m:mr>
                          <m:m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mr>
                        </m:m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471B1E81-7C02-4368-AA57-F7AE1E96E6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3233" y="1745113"/>
                  <a:ext cx="748218" cy="398571"/>
                </a:xfrm>
                <a:prstGeom prst="rect">
                  <a:avLst/>
                </a:prstGeom>
                <a:blipFill>
                  <a:blip r:embed="rId3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E3C2621-28AA-42FA-9D44-AF5F1787D304}"/>
              </a:ext>
            </a:extLst>
          </p:cNvPr>
          <p:cNvGrpSpPr/>
          <p:nvPr/>
        </p:nvGrpSpPr>
        <p:grpSpPr>
          <a:xfrm>
            <a:off x="5325976" y="4526469"/>
            <a:ext cx="4133149" cy="774739"/>
            <a:chOff x="5269675" y="4208029"/>
            <a:chExt cx="4133149" cy="774739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4ECF508B-8A63-4E9C-8100-4FAD02369D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67569" y="4208029"/>
              <a:ext cx="2326815" cy="251948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041BACEB-A3E9-4CCA-8763-44559E0D92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" t="1" r="33583" b="20844"/>
            <a:stretch/>
          </p:blipFill>
          <p:spPr>
            <a:xfrm>
              <a:off x="5269675" y="4411796"/>
              <a:ext cx="4133149" cy="340704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64199FD5-0F7D-410D-A6CE-DA944C842C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65338" t="25055" r="-1" b="30056"/>
            <a:stretch/>
          </p:blipFill>
          <p:spPr>
            <a:xfrm>
              <a:off x="7121483" y="4778425"/>
              <a:ext cx="2281341" cy="204343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56B50908-0B05-4D6B-96F3-8CBF158F46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72874" y="4208683"/>
              <a:ext cx="1101477" cy="284252"/>
            </a:xfrm>
            <a:prstGeom prst="rect">
              <a:avLst/>
            </a:prstGeom>
          </p:spPr>
        </p:pic>
      </p:grp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15826F9-71D3-41A5-A55A-3D55D0E2F494}"/>
              </a:ext>
            </a:extLst>
          </p:cNvPr>
          <p:cNvSpPr/>
          <p:nvPr/>
        </p:nvSpPr>
        <p:spPr>
          <a:xfrm>
            <a:off x="1975293" y="4159711"/>
            <a:ext cx="2286231" cy="857278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357EAAB3-B486-4B42-9E62-E95E53A5FB6C}"/>
              </a:ext>
            </a:extLst>
          </p:cNvPr>
          <p:cNvCxnSpPr/>
          <p:nvPr/>
        </p:nvCxnSpPr>
        <p:spPr>
          <a:xfrm>
            <a:off x="4261524" y="4869160"/>
            <a:ext cx="11196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CFCC393-D182-4F1C-A423-3EAE063B9593}"/>
              </a:ext>
            </a:extLst>
          </p:cNvPr>
          <p:cNvCxnSpPr>
            <a:cxnSpLocks/>
          </p:cNvCxnSpPr>
          <p:nvPr/>
        </p:nvCxnSpPr>
        <p:spPr>
          <a:xfrm flipV="1">
            <a:off x="1263814" y="4906473"/>
            <a:ext cx="672775" cy="131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55A4B5B-F0F7-4D52-BF48-8740E45BDF8E}"/>
                  </a:ext>
                </a:extLst>
              </p:cNvPr>
              <p:cNvSpPr txBox="1"/>
              <p:nvPr/>
            </p:nvSpPr>
            <p:spPr>
              <a:xfrm>
                <a:off x="1141654" y="5108212"/>
                <a:ext cx="5166630" cy="280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en-US" sz="1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번째</m:t>
                    </m:r>
                  </m:oMath>
                </a14:m>
                <a:r>
                  <a:rPr lang="ko-KR" altLang="en-US" sz="1200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1200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stage</a:t>
                </a:r>
                <a:r>
                  <a:rPr lang="ko-KR" altLang="en-US" sz="12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에서</a:t>
                </a:r>
                <a:r>
                  <a:rPr lang="en-US" altLang="ko-KR" sz="12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 -k</a:t>
                </a:r>
                <a:r>
                  <a:rPr lang="ko-KR" altLang="en-US" sz="12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번째 </a:t>
                </a:r>
                <a:r>
                  <a:rPr lang="en-US" altLang="ko-KR" sz="12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Stationary probability</a:t>
                </a:r>
                <a:r>
                  <a:rPr lang="ko-KR" altLang="en-US" sz="12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가 선택될 확률</a:t>
                </a:r>
                <a:endParaRPr lang="en-US" altLang="ko-KR" sz="1200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55A4B5B-F0F7-4D52-BF48-8740E45BD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654" y="5108212"/>
                <a:ext cx="5166630" cy="280526"/>
              </a:xfrm>
              <a:prstGeom prst="rect">
                <a:avLst/>
              </a:prstGeom>
              <a:blipFill>
                <a:blip r:embed="rId7"/>
                <a:stretch>
                  <a:fillRect t="-2174" b="-173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489ACEE6-9B06-43A5-A5A8-3FE932CBA910}"/>
              </a:ext>
            </a:extLst>
          </p:cNvPr>
          <p:cNvCxnSpPr>
            <a:cxnSpLocks/>
          </p:cNvCxnSpPr>
          <p:nvPr/>
        </p:nvCxnSpPr>
        <p:spPr>
          <a:xfrm>
            <a:off x="1557933" y="4921323"/>
            <a:ext cx="0" cy="1930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9C4418F-BC99-44DD-B3C0-D545C5F3029F}"/>
                  </a:ext>
                </a:extLst>
              </p:cNvPr>
              <p:cNvSpPr txBox="1"/>
              <p:nvPr/>
            </p:nvSpPr>
            <p:spPr>
              <a:xfrm>
                <a:off x="5389853" y="3975447"/>
                <a:ext cx="478002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ko-KR" altLang="en-US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각 </a:t>
                </a:r>
                <a:r>
                  <a:rPr lang="en-US" altLang="ko-KR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stage</a:t>
                </a:r>
                <a:r>
                  <a:rPr lang="ko-KR" altLang="en-US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의 </a:t>
                </a:r>
                <a:r>
                  <a:rPr lang="en-US" altLang="ko-KR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backoff counter</a:t>
                </a:r>
                <a:r>
                  <a:rPr lang="ko-KR" altLang="en-US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가 </a:t>
                </a:r>
                <a:r>
                  <a:rPr lang="en-US" altLang="ko-KR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0</a:t>
                </a:r>
                <a:r>
                  <a:rPr lang="ko-KR" altLang="en-US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일 때</a:t>
                </a:r>
                <a:r>
                  <a:rPr lang="en-US" altLang="ko-KR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, CCA</a:t>
                </a:r>
                <a:r>
                  <a:rPr lang="ko-KR" altLang="en-US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를 두 번 모두 성공 후</a:t>
                </a:r>
                <a:endParaRPr lang="en-US" altLang="ko-KR" sz="1200" b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2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ko-KR" sz="1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ko-KR" altLang="en-US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번째 </a:t>
                </a:r>
                <a:r>
                  <a:rPr lang="en-US" altLang="ko-KR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stage</a:t>
                </a:r>
                <a:r>
                  <a:rPr lang="ko-KR" altLang="en-US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의 </a:t>
                </a:r>
                <a:r>
                  <a:rPr lang="en-US" altLang="ko-KR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-k</a:t>
                </a:r>
                <a:r>
                  <a:rPr lang="ko-KR" altLang="en-US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번째 </a:t>
                </a:r>
                <a:r>
                  <a:rPr lang="en-US" altLang="ko-KR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Stationary probability</a:t>
                </a:r>
                <a:r>
                  <a:rPr lang="ko-KR" altLang="en-US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가 선택될 확률</a:t>
                </a:r>
                <a:endParaRPr lang="en-US" altLang="ko-KR" sz="1200" b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9C4418F-BC99-44DD-B3C0-D545C5F30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9853" y="3975447"/>
                <a:ext cx="4780028" cy="461665"/>
              </a:xfrm>
              <a:prstGeom prst="rect">
                <a:avLst/>
              </a:prstGeom>
              <a:blipFill>
                <a:blip r:embed="rId8"/>
                <a:stretch>
                  <a:fillRect t="-1316" b="-92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그룹 49">
            <a:extLst>
              <a:ext uri="{FF2B5EF4-FFF2-40B4-BE49-F238E27FC236}">
                <a16:creationId xmlns:a16="http://schemas.microsoft.com/office/drawing/2014/main" id="{280534C0-6EF0-41F4-83C6-A614D2B8DA7E}"/>
              </a:ext>
            </a:extLst>
          </p:cNvPr>
          <p:cNvGrpSpPr/>
          <p:nvPr/>
        </p:nvGrpSpPr>
        <p:grpSpPr>
          <a:xfrm>
            <a:off x="258811" y="5409695"/>
            <a:ext cx="4821563" cy="1129987"/>
            <a:chOff x="344488" y="2204864"/>
            <a:chExt cx="4821563" cy="1129987"/>
          </a:xfrm>
        </p:grpSpPr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AAE2486E-1B54-42A4-BE13-174F1DC38E1A}"/>
                </a:ext>
              </a:extLst>
            </p:cNvPr>
            <p:cNvGrpSpPr/>
            <p:nvPr/>
          </p:nvGrpSpPr>
          <p:grpSpPr>
            <a:xfrm>
              <a:off x="344488" y="2204864"/>
              <a:ext cx="3075414" cy="665118"/>
              <a:chOff x="344488" y="5589240"/>
              <a:chExt cx="3075414" cy="66511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직사각형 54">
                    <a:extLst>
                      <a:ext uri="{FF2B5EF4-FFF2-40B4-BE49-F238E27FC236}">
                        <a16:creationId xmlns:a16="http://schemas.microsoft.com/office/drawing/2014/main" id="{35196084-D964-4C73-8CCE-DC473A59A243}"/>
                      </a:ext>
                    </a:extLst>
                  </p:cNvPr>
                  <p:cNvSpPr/>
                  <p:nvPr/>
                </p:nvSpPr>
                <p:spPr>
                  <a:xfrm>
                    <a:off x="344488" y="5589240"/>
                    <a:ext cx="2192010" cy="665118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e>
                              </m:d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sub>
                          </m:sSub>
                          <m:f>
                            <m:f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,0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55" name="직사각형 54">
                    <a:extLst>
                      <a:ext uri="{FF2B5EF4-FFF2-40B4-BE49-F238E27FC236}">
                        <a16:creationId xmlns:a16="http://schemas.microsoft.com/office/drawing/2014/main" id="{35196084-D964-4C73-8CCE-DC473A59A24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4488" y="5589240"/>
                    <a:ext cx="2192010" cy="665118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직사각형 55">
                    <a:extLst>
                      <a:ext uri="{FF2B5EF4-FFF2-40B4-BE49-F238E27FC236}">
                        <a16:creationId xmlns:a16="http://schemas.microsoft.com/office/drawing/2014/main" id="{F6F7CE17-23AC-4120-804C-0424594B6D1D}"/>
                      </a:ext>
                    </a:extLst>
                  </p:cNvPr>
                  <p:cNvSpPr/>
                  <p:nvPr/>
                </p:nvSpPr>
                <p:spPr>
                  <a:xfrm>
                    <a:off x="2671684" y="5737133"/>
                    <a:ext cx="74821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&gt;0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56" name="직사각형 55">
                    <a:extLst>
                      <a:ext uri="{FF2B5EF4-FFF2-40B4-BE49-F238E27FC236}">
                        <a16:creationId xmlns:a16="http://schemas.microsoft.com/office/drawing/2014/main" id="{F6F7CE17-23AC-4120-804C-0424594B6D1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71684" y="5737133"/>
                    <a:ext cx="748218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직사각형 51">
                  <a:extLst>
                    <a:ext uri="{FF2B5EF4-FFF2-40B4-BE49-F238E27FC236}">
                      <a16:creationId xmlns:a16="http://schemas.microsoft.com/office/drawing/2014/main" id="{B0E8D325-8E90-4246-B64D-B6648A3F48C2}"/>
                    </a:ext>
                  </a:extLst>
                </p:cNvPr>
                <p:cNvSpPr/>
                <p:nvPr/>
              </p:nvSpPr>
              <p:spPr>
                <a:xfrm>
                  <a:off x="2003519" y="3017648"/>
                  <a:ext cx="3162532" cy="31720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ko-KR" alt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ko-KR" altLang="en-US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ko-KR" altLang="en-US" sz="1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ko-KR" altLang="en-US" sz="140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ko-KR" altLang="en-US" sz="1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ko-KR" altLang="en-US" sz="1400">
                          <a:latin typeface="Cambria Math" panose="02040503050406030204" pitchFamily="18" charset="0"/>
                        </a:rPr>
                        <m:t>+(1−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ko-KR" altLang="en-US" sz="140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ko-KR" altLang="en-US" sz="140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ko-KR" altLang="en-US" sz="1400" dirty="0"/>
                    <a:t> 로 정의</a:t>
                  </a:r>
                </a:p>
              </p:txBody>
            </p:sp>
          </mc:Choice>
          <mc:Fallback xmlns="">
            <p:sp>
              <p:nvSpPr>
                <p:cNvPr id="52" name="직사각형 51">
                  <a:extLst>
                    <a:ext uri="{FF2B5EF4-FFF2-40B4-BE49-F238E27FC236}">
                      <a16:creationId xmlns:a16="http://schemas.microsoft.com/office/drawing/2014/main" id="{B0E8D325-8E90-4246-B64D-B6648A3F48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3519" y="3017648"/>
                  <a:ext cx="3162532" cy="317203"/>
                </a:xfrm>
                <a:prstGeom prst="rect">
                  <a:avLst/>
                </a:prstGeom>
                <a:blipFill>
                  <a:blip r:embed="rId10"/>
                  <a:stretch>
                    <a:fillRect t="-5769" b="-1346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A79D4E31-64DD-4208-94D0-71C1B4BF3088}"/>
                </a:ext>
              </a:extLst>
            </p:cNvPr>
            <p:cNvSpPr/>
            <p:nvPr/>
          </p:nvSpPr>
          <p:spPr>
            <a:xfrm>
              <a:off x="2020461" y="2378821"/>
              <a:ext cx="429201" cy="378021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DB44438B-7427-4168-B6B4-FF0DFDCCACE0}"/>
                </a:ext>
              </a:extLst>
            </p:cNvPr>
            <p:cNvCxnSpPr>
              <a:cxnSpLocks/>
            </p:cNvCxnSpPr>
            <p:nvPr/>
          </p:nvCxnSpPr>
          <p:spPr>
            <a:xfrm>
              <a:off x="2216696" y="2756842"/>
              <a:ext cx="0" cy="2401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E2FA794-3DEE-4A92-8614-914F6C353852}"/>
                  </a:ext>
                </a:extLst>
              </p:cNvPr>
              <p:cNvSpPr txBox="1"/>
              <p:nvPr/>
            </p:nvSpPr>
            <p:spPr>
              <a:xfrm>
                <a:off x="5497263" y="5540876"/>
                <a:ext cx="4780028" cy="469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2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ko-KR" sz="1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ko-KR" sz="12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ko-KR" altLang="en-US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번째 </a:t>
                </a:r>
                <a:r>
                  <a:rPr lang="en-US" altLang="ko-KR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stage</a:t>
                </a:r>
                <a:r>
                  <a:rPr lang="ko-KR" altLang="en-US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의 </a:t>
                </a:r>
                <a:r>
                  <a:rPr lang="en-US" altLang="ko-KR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backoff counter</a:t>
                </a:r>
                <a:r>
                  <a:rPr lang="ko-KR" altLang="en-US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가 </a:t>
                </a:r>
                <a:r>
                  <a:rPr lang="en-US" altLang="ko-KR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0</a:t>
                </a:r>
                <a:r>
                  <a:rPr lang="ko-KR" altLang="en-US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일 때</a:t>
                </a:r>
                <a:r>
                  <a:rPr lang="en-US" altLang="ko-KR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, CCA</a:t>
                </a:r>
                <a:r>
                  <a:rPr lang="ko-KR" altLang="en-US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를 두 번 실패 후</a:t>
                </a:r>
                <a:endParaRPr lang="en-US" altLang="ko-KR" sz="1200" b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2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ko-KR" sz="12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ko-KR" altLang="en-US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번째 </a:t>
                </a:r>
                <a:r>
                  <a:rPr lang="en-US" altLang="ko-KR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stage</a:t>
                </a:r>
                <a:r>
                  <a:rPr lang="ko-KR" altLang="en-US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의 </a:t>
                </a:r>
                <a:r>
                  <a:rPr lang="en-US" altLang="ko-KR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-k</a:t>
                </a:r>
                <a:r>
                  <a:rPr lang="ko-KR" altLang="en-US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번째 </a:t>
                </a:r>
                <a:r>
                  <a:rPr lang="en-US" altLang="ko-KR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Stationary probability</a:t>
                </a:r>
                <a:r>
                  <a:rPr lang="ko-KR" altLang="en-US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가 선택될 확률</a:t>
                </a:r>
                <a:endParaRPr lang="en-US" altLang="ko-KR" sz="1200" b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E2FA794-3DEE-4A92-8614-914F6C353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263" y="5540876"/>
                <a:ext cx="4780028" cy="469872"/>
              </a:xfrm>
              <a:prstGeom prst="rect">
                <a:avLst/>
              </a:prstGeom>
              <a:blipFill>
                <a:blip r:embed="rId16"/>
                <a:stretch>
                  <a:fillRect t="-2597" b="-77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DAC9D2C6-B949-4EA9-8642-91220B723604}"/>
              </a:ext>
            </a:extLst>
          </p:cNvPr>
          <p:cNvCxnSpPr/>
          <p:nvPr/>
        </p:nvCxnSpPr>
        <p:spPr>
          <a:xfrm>
            <a:off x="4810515" y="5772662"/>
            <a:ext cx="5745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74E62DCE-6CD0-4C3F-A418-C729FDFB67A9}"/>
              </a:ext>
            </a:extLst>
          </p:cNvPr>
          <p:cNvGrpSpPr/>
          <p:nvPr/>
        </p:nvGrpSpPr>
        <p:grpSpPr>
          <a:xfrm>
            <a:off x="298853" y="1268430"/>
            <a:ext cx="9316270" cy="2792433"/>
            <a:chOff x="298853" y="1268430"/>
            <a:chExt cx="9316270" cy="2792433"/>
          </a:xfrm>
        </p:grpSpPr>
        <p:pic>
          <p:nvPicPr>
            <p:cNvPr id="84" name="그림 83">
              <a:extLst>
                <a:ext uri="{FF2B5EF4-FFF2-40B4-BE49-F238E27FC236}">
                  <a16:creationId xmlns:a16="http://schemas.microsoft.com/office/drawing/2014/main" id="{2DFDFB0C-5E63-40C4-8CC4-B71C48662F07}"/>
                </a:ext>
              </a:extLst>
            </p:cNvPr>
            <p:cNvPicPr/>
            <p:nvPr/>
          </p:nvPicPr>
          <p:blipFill rotWithShape="1">
            <a:blip r:embed="rId17"/>
            <a:srcRect l="-357" t="2201" r="357" b="2412"/>
            <a:stretch/>
          </p:blipFill>
          <p:spPr>
            <a:xfrm>
              <a:off x="298853" y="1527806"/>
              <a:ext cx="4647961" cy="2533057"/>
            </a:xfrm>
            <a:prstGeom prst="rect">
              <a:avLst/>
            </a:prstGeom>
          </p:spPr>
        </p:pic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91AD6CBF-6713-4613-94BD-990D07948A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8585" y="1923708"/>
              <a:ext cx="578619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3CC89FD8-1589-4290-8081-CA0D741F079D}"/>
                </a:ext>
              </a:extLst>
            </p:cNvPr>
            <p:cNvGrpSpPr/>
            <p:nvPr/>
          </p:nvGrpSpPr>
          <p:grpSpPr>
            <a:xfrm>
              <a:off x="4956988" y="1536801"/>
              <a:ext cx="4647961" cy="1440550"/>
              <a:chOff x="5139355" y="959733"/>
              <a:chExt cx="4647961" cy="1440550"/>
            </a:xfrm>
          </p:grpSpPr>
          <p:pic>
            <p:nvPicPr>
              <p:cNvPr id="58" name="그림 57">
                <a:extLst>
                  <a:ext uri="{FF2B5EF4-FFF2-40B4-BE49-F238E27FC236}">
                    <a16:creationId xmlns:a16="http://schemas.microsoft.com/office/drawing/2014/main" id="{2628A2D0-F7F5-48B6-BC0A-1536009E5BD8}"/>
                  </a:ext>
                </a:extLst>
              </p:cNvPr>
              <p:cNvPicPr/>
              <p:nvPr/>
            </p:nvPicPr>
            <p:blipFill rotWithShape="1">
              <a:blip r:embed="rId17"/>
              <a:srcRect b="45753"/>
              <a:stretch/>
            </p:blipFill>
            <p:spPr>
              <a:xfrm>
                <a:off x="5139355" y="959733"/>
                <a:ext cx="4647961" cy="1440550"/>
              </a:xfrm>
              <a:prstGeom prst="rect">
                <a:avLst/>
              </a:prstGeom>
            </p:spPr>
          </p:pic>
          <p:cxnSp>
            <p:nvCxnSpPr>
              <p:cNvPr id="46" name="직선 화살표 연결선 45">
                <a:extLst>
                  <a:ext uri="{FF2B5EF4-FFF2-40B4-BE49-F238E27FC236}">
                    <a16:creationId xmlns:a16="http://schemas.microsoft.com/office/drawing/2014/main" id="{DB8EB2D2-F6B5-410A-80BA-51801565B9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45649" y="1580639"/>
                <a:ext cx="0" cy="266813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직선 화살표 연결선 67">
                <a:extLst>
                  <a:ext uri="{FF2B5EF4-FFF2-40B4-BE49-F238E27FC236}">
                    <a16:creationId xmlns:a16="http://schemas.microsoft.com/office/drawing/2014/main" id="{3D316417-0A78-46C5-9517-A8C5436DBF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40447" y="1425152"/>
                <a:ext cx="558262" cy="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직선 화살표 연결선 68">
                <a:extLst>
                  <a:ext uri="{FF2B5EF4-FFF2-40B4-BE49-F238E27FC236}">
                    <a16:creationId xmlns:a16="http://schemas.microsoft.com/office/drawing/2014/main" id="{C6B61D56-381B-406B-AE3F-F866CD1D47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1316" y="1682064"/>
                <a:ext cx="796067" cy="203274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9665565-FB48-4E96-92E8-C8F7861915F1}"/>
                  </a:ext>
                </a:extLst>
              </p:cNvPr>
              <p:cNvSpPr txBox="1"/>
              <p:nvPr/>
            </p:nvSpPr>
            <p:spPr>
              <a:xfrm>
                <a:off x="6683195" y="1584124"/>
                <a:ext cx="68552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b="1" dirty="0">
                    <a:solidFill>
                      <a:srgbClr val="FF0000"/>
                    </a:solidFill>
                    <a:latin typeface="+mj-ea"/>
                    <a:ea typeface="+mj-ea"/>
                  </a:rPr>
                  <a:t>CCA➀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3A9D38F-4462-4AFC-8147-0F41B262A59D}"/>
                  </a:ext>
                </a:extLst>
              </p:cNvPr>
              <p:cNvSpPr txBox="1"/>
              <p:nvPr/>
            </p:nvSpPr>
            <p:spPr>
              <a:xfrm>
                <a:off x="5942978" y="1101808"/>
                <a:ext cx="68552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b="1" dirty="0">
                    <a:solidFill>
                      <a:srgbClr val="FF0000"/>
                    </a:solidFill>
                    <a:latin typeface="+mj-ea"/>
                    <a:ea typeface="+mj-ea"/>
                  </a:rPr>
                  <a:t>CCA➁</a:t>
                </a:r>
              </a:p>
            </p:txBody>
          </p:sp>
        </p:grpSp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80604B86-44E1-4EAA-A3C7-678072E6E2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952" y="1923708"/>
              <a:ext cx="578619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화살표 연결선 85">
              <a:extLst>
                <a:ext uri="{FF2B5EF4-FFF2-40B4-BE49-F238E27FC236}">
                  <a16:creationId xmlns:a16="http://schemas.microsoft.com/office/drawing/2014/main" id="{423D6006-B25A-4F6E-B3BB-DC19EA73E9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9638" y="1527806"/>
              <a:ext cx="0" cy="420497"/>
            </a:xfrm>
            <a:prstGeom prst="straightConnector1">
              <a:avLst/>
            </a:prstGeom>
            <a:ln w="28575">
              <a:solidFill>
                <a:schemeClr val="accent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화살표 연결선 86">
              <a:extLst>
                <a:ext uri="{FF2B5EF4-FFF2-40B4-BE49-F238E27FC236}">
                  <a16:creationId xmlns:a16="http://schemas.microsoft.com/office/drawing/2014/main" id="{E52A6C40-F13B-4ABE-89CE-B2B8F10B1F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8952" y="1527806"/>
              <a:ext cx="1334596" cy="8189"/>
            </a:xfrm>
            <a:prstGeom prst="straightConnector1">
              <a:avLst/>
            </a:prstGeom>
            <a:ln w="28575">
              <a:solidFill>
                <a:schemeClr val="accent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화살표 연결선 87">
              <a:extLst>
                <a:ext uri="{FF2B5EF4-FFF2-40B4-BE49-F238E27FC236}">
                  <a16:creationId xmlns:a16="http://schemas.microsoft.com/office/drawing/2014/main" id="{1C9EABC9-79CE-492F-AA0C-C03FBD03C213}"/>
                </a:ext>
              </a:extLst>
            </p:cNvPr>
            <p:cNvCxnSpPr>
              <a:cxnSpLocks/>
            </p:cNvCxnSpPr>
            <p:nvPr/>
          </p:nvCxnSpPr>
          <p:spPr>
            <a:xfrm>
              <a:off x="1842861" y="1528610"/>
              <a:ext cx="633362" cy="72227"/>
            </a:xfrm>
            <a:prstGeom prst="straightConnector1">
              <a:avLst/>
            </a:prstGeom>
            <a:ln w="28575">
              <a:solidFill>
                <a:schemeClr val="accent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화살표 연결선 90">
              <a:extLst>
                <a:ext uri="{FF2B5EF4-FFF2-40B4-BE49-F238E27FC236}">
                  <a16:creationId xmlns:a16="http://schemas.microsoft.com/office/drawing/2014/main" id="{C685F1AD-0179-43FA-B073-112E99CEF86F}"/>
                </a:ext>
              </a:extLst>
            </p:cNvPr>
            <p:cNvCxnSpPr>
              <a:cxnSpLocks/>
            </p:cNvCxnSpPr>
            <p:nvPr/>
          </p:nvCxnSpPr>
          <p:spPr>
            <a:xfrm>
              <a:off x="1792527" y="1556245"/>
              <a:ext cx="37554" cy="2428255"/>
            </a:xfrm>
            <a:prstGeom prst="straightConnector1">
              <a:avLst/>
            </a:prstGeom>
            <a:ln w="28575">
              <a:solidFill>
                <a:schemeClr val="accent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화살표 연결선 92">
              <a:extLst>
                <a:ext uri="{FF2B5EF4-FFF2-40B4-BE49-F238E27FC236}">
                  <a16:creationId xmlns:a16="http://schemas.microsoft.com/office/drawing/2014/main" id="{00BB34C3-703A-4920-B8DC-901D1207C71C}"/>
                </a:ext>
              </a:extLst>
            </p:cNvPr>
            <p:cNvCxnSpPr>
              <a:cxnSpLocks/>
            </p:cNvCxnSpPr>
            <p:nvPr/>
          </p:nvCxnSpPr>
          <p:spPr>
            <a:xfrm>
              <a:off x="6578179" y="2371636"/>
              <a:ext cx="813271" cy="52884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57DBE854-0CDF-48D9-87C9-907086248691}"/>
                </a:ext>
              </a:extLst>
            </p:cNvPr>
            <p:cNvSpPr txBox="1"/>
            <p:nvPr/>
          </p:nvSpPr>
          <p:spPr>
            <a:xfrm>
              <a:off x="4474671" y="1271943"/>
              <a:ext cx="439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Abadi" panose="020B0604020104020204" pitchFamily="34" charset="0"/>
                </a:rPr>
                <a:t>(7)</a:t>
              </a:r>
              <a:endParaRPr lang="ko-KR" altLang="en-US" dirty="0" err="1">
                <a:latin typeface="Abadi" panose="020B0604020104020204" pitchFamily="34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9EB9C09-B237-4250-9155-9383C074540C}"/>
                </a:ext>
              </a:extLst>
            </p:cNvPr>
            <p:cNvSpPr txBox="1"/>
            <p:nvPr/>
          </p:nvSpPr>
          <p:spPr>
            <a:xfrm>
              <a:off x="9176031" y="1268430"/>
              <a:ext cx="4390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Abadi" panose="020B0604020104020204" pitchFamily="34" charset="0"/>
                </a:rPr>
                <a:t>(8)</a:t>
              </a:r>
              <a:endParaRPr lang="ko-KR" altLang="en-US" dirty="0" err="1">
                <a:latin typeface="Abadi" panose="020B0604020104020204" pitchFamily="34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6BBB035-FBBB-4A6C-8FD3-FFBFD6A723C6}"/>
              </a:ext>
            </a:extLst>
          </p:cNvPr>
          <p:cNvSpPr txBox="1"/>
          <p:nvPr/>
        </p:nvSpPr>
        <p:spPr>
          <a:xfrm>
            <a:off x="7682103" y="4565400"/>
            <a:ext cx="79209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endParaRPr lang="ko-KR" altLang="en-US" dirty="0" err="1">
              <a:latin typeface="Cambria Math" panose="02040503050406030204" pitchFamily="18" charset="0"/>
            </a:endParaRP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674BFFE3-C060-44F2-B691-7206EC858D68}"/>
              </a:ext>
            </a:extLst>
          </p:cNvPr>
          <p:cNvCxnSpPr/>
          <p:nvPr/>
        </p:nvCxnSpPr>
        <p:spPr>
          <a:xfrm>
            <a:off x="4810515" y="4221088"/>
            <a:ext cx="5745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068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BEB8ABC-95AF-4353-A0AD-0FF48AFBDC8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B13819-B594-49DA-A814-E05B1D2217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618830" cy="498598"/>
          </a:xfrm>
        </p:spPr>
        <p:txBody>
          <a:bodyPr/>
          <a:lstStyle/>
          <a:p>
            <a:r>
              <a:rPr lang="en-US" altLang="ko-KR" sz="36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Markov chain model </a:t>
            </a:r>
            <a:r>
              <a:rPr lang="en-US" altLang="ko-KR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of IEEE 802.15.4 </a:t>
            </a:r>
            <a:endParaRPr lang="ko-KR" altLang="en-US" sz="3600" dirty="0"/>
          </a:p>
        </p:txBody>
      </p:sp>
      <p:sp>
        <p:nvSpPr>
          <p:cNvPr id="15" name="내용 개체 틀 14">
            <a:extLst>
              <a:ext uri="{FF2B5EF4-FFF2-40B4-BE49-F238E27FC236}">
                <a16:creationId xmlns:a16="http://schemas.microsoft.com/office/drawing/2014/main" id="{A730030E-E6CC-435D-8C39-839C1C411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742" y="836712"/>
            <a:ext cx="9601200" cy="5328592"/>
          </a:xfrm>
        </p:spPr>
        <p:txBody>
          <a:bodyPr/>
          <a:lstStyle/>
          <a:p>
            <a:r>
              <a:rPr lang="en-US" altLang="ko-KR" dirty="0"/>
              <a:t>transition probabilities:</a:t>
            </a:r>
            <a:endParaRPr lang="ko-KR" altLang="en-US" dirty="0"/>
          </a:p>
        </p:txBody>
      </p: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78F8E404-FFB9-4261-BF9E-F328A397AEAD}"/>
              </a:ext>
            </a:extLst>
          </p:cNvPr>
          <p:cNvGrpSpPr/>
          <p:nvPr/>
        </p:nvGrpSpPr>
        <p:grpSpPr>
          <a:xfrm>
            <a:off x="4568757" y="980728"/>
            <a:ext cx="5136771" cy="2789185"/>
            <a:chOff x="4427815" y="1357463"/>
            <a:chExt cx="5136771" cy="2789185"/>
          </a:xfrm>
        </p:grpSpPr>
        <p:pic>
          <p:nvPicPr>
            <p:cNvPr id="109" name="그림 108">
              <a:extLst>
                <a:ext uri="{FF2B5EF4-FFF2-40B4-BE49-F238E27FC236}">
                  <a16:creationId xmlns:a16="http://schemas.microsoft.com/office/drawing/2014/main" id="{D6F2B1EA-246E-4640-BA36-EBC418072624}"/>
                </a:ext>
              </a:extLst>
            </p:cNvPr>
            <p:cNvPicPr/>
            <p:nvPr/>
          </p:nvPicPr>
          <p:blipFill rotWithShape="1">
            <a:blip r:embed="rId2"/>
            <a:srcRect l="-357" t="2201" r="357" b="2412"/>
            <a:stretch/>
          </p:blipFill>
          <p:spPr>
            <a:xfrm>
              <a:off x="4427815" y="1357463"/>
              <a:ext cx="5136771" cy="2730292"/>
            </a:xfrm>
            <a:prstGeom prst="rect">
              <a:avLst/>
            </a:prstGeom>
          </p:spPr>
        </p:pic>
        <p:sp>
          <p:nvSpPr>
            <p:cNvPr id="110" name="사각형: 둥근 모서리 109">
              <a:extLst>
                <a:ext uri="{FF2B5EF4-FFF2-40B4-BE49-F238E27FC236}">
                  <a16:creationId xmlns:a16="http://schemas.microsoft.com/office/drawing/2014/main" id="{1CF31DDA-BC09-4359-BAE1-8627A772D8E9}"/>
                </a:ext>
              </a:extLst>
            </p:cNvPr>
            <p:cNvSpPr/>
            <p:nvPr/>
          </p:nvSpPr>
          <p:spPr>
            <a:xfrm>
              <a:off x="4952585" y="1357463"/>
              <a:ext cx="693853" cy="2789185"/>
            </a:xfrm>
            <a:prstGeom prst="roundRect">
              <a:avLst/>
            </a:prstGeom>
            <a:solidFill>
              <a:schemeClr val="accent1">
                <a:alpha val="26000"/>
              </a:schemeClr>
            </a:solidFill>
            <a:ln w="1905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111" name="사각형: 둥근 모서리 110">
              <a:extLst>
                <a:ext uri="{FF2B5EF4-FFF2-40B4-BE49-F238E27FC236}">
                  <a16:creationId xmlns:a16="http://schemas.microsoft.com/office/drawing/2014/main" id="{325DAE50-C545-4A25-B350-9CD2F485C743}"/>
                </a:ext>
              </a:extLst>
            </p:cNvPr>
            <p:cNvSpPr/>
            <p:nvPr/>
          </p:nvSpPr>
          <p:spPr>
            <a:xfrm>
              <a:off x="5772830" y="1357463"/>
              <a:ext cx="3791756" cy="2789185"/>
            </a:xfrm>
            <a:prstGeom prst="roundRect">
              <a:avLst/>
            </a:prstGeom>
            <a:solidFill>
              <a:schemeClr val="accent1">
                <a:alpha val="26000"/>
              </a:schemeClr>
            </a:solidFill>
            <a:ln w="1905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9EAA0418-31E2-4143-8C22-9B056CAA7698}"/>
              </a:ext>
            </a:extLst>
          </p:cNvPr>
          <p:cNvGrpSpPr/>
          <p:nvPr/>
        </p:nvGrpSpPr>
        <p:grpSpPr>
          <a:xfrm>
            <a:off x="416496" y="1988840"/>
            <a:ext cx="5356318" cy="4100030"/>
            <a:chOff x="416496" y="1988840"/>
            <a:chExt cx="5356318" cy="4100030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C9E67E9D-6E82-4317-BB5E-9B8BBC4C625F}"/>
                </a:ext>
              </a:extLst>
            </p:cNvPr>
            <p:cNvGrpSpPr/>
            <p:nvPr/>
          </p:nvGrpSpPr>
          <p:grpSpPr>
            <a:xfrm>
              <a:off x="416496" y="1988840"/>
              <a:ext cx="5356318" cy="4100030"/>
              <a:chOff x="352808" y="1484784"/>
              <a:chExt cx="5356318" cy="4100030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527FB58D-BD5A-4C21-A8CA-1F7DAFCFE44D}"/>
                  </a:ext>
                </a:extLst>
              </p:cNvPr>
              <p:cNvSpPr/>
              <p:nvPr/>
            </p:nvSpPr>
            <p:spPr>
              <a:xfrm>
                <a:off x="1573074" y="1874639"/>
                <a:ext cx="288032" cy="31091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Abadi" panose="020B0604020104020204" pitchFamily="34" charset="0"/>
                </a:endParaRPr>
              </a:p>
            </p:txBody>
          </p:sp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EF55EF44-46C7-4E71-8CA5-732571991F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994" y="1704551"/>
                <a:ext cx="2232248" cy="744083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69AEC65-E39F-47AC-99F2-F4C5E16D1475}"/>
                  </a:ext>
                </a:extLst>
              </p:cNvPr>
              <p:cNvSpPr txBox="1"/>
              <p:nvPr/>
            </p:nvSpPr>
            <p:spPr>
              <a:xfrm>
                <a:off x="352808" y="1874639"/>
                <a:ext cx="4329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(9)</a:t>
                </a:r>
                <a:endParaRPr lang="ko-KR" altLang="en-US" dirty="0" err="1">
                  <a:latin typeface="Cambria Math" panose="02040503050406030204" pitchFamily="18" charset="0"/>
                </a:endParaRPr>
              </a:p>
            </p:txBody>
          </p:sp>
          <p:pic>
            <p:nvPicPr>
              <p:cNvPr id="73" name="그림 72">
                <a:extLst>
                  <a:ext uri="{FF2B5EF4-FFF2-40B4-BE49-F238E27FC236}">
                    <a16:creationId xmlns:a16="http://schemas.microsoft.com/office/drawing/2014/main" id="{3B0E4E7E-F399-4484-94FC-3D6B504749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1002" y="4876278"/>
                <a:ext cx="2563232" cy="708536"/>
              </a:xfrm>
              <a:prstGeom prst="rect">
                <a:avLst/>
              </a:prstGeom>
            </p:spPr>
          </p:pic>
          <p:sp>
            <p:nvSpPr>
              <p:cNvPr id="76" name="사각형: 둥근 모서리 75">
                <a:extLst>
                  <a:ext uri="{FF2B5EF4-FFF2-40B4-BE49-F238E27FC236}">
                    <a16:creationId xmlns:a16="http://schemas.microsoft.com/office/drawing/2014/main" id="{096985EC-F3D9-493B-82BD-EA9F8C4E119F}"/>
                  </a:ext>
                </a:extLst>
              </p:cNvPr>
              <p:cNvSpPr/>
              <p:nvPr/>
            </p:nvSpPr>
            <p:spPr>
              <a:xfrm>
                <a:off x="804971" y="1922709"/>
                <a:ext cx="220248" cy="284013"/>
              </a:xfrm>
              <a:prstGeom prst="roundRect">
                <a:avLst/>
              </a:prstGeom>
              <a:noFill/>
              <a:ln w="19050"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6D8F5AA-977A-4633-9653-33B8935266D8}"/>
                  </a:ext>
                </a:extLst>
              </p:cNvPr>
              <p:cNvSpPr txBox="1"/>
              <p:nvPr/>
            </p:nvSpPr>
            <p:spPr>
              <a:xfrm>
                <a:off x="1139955" y="1484784"/>
                <a:ext cx="86623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ko-KR" altLang="en-US" sz="12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모든 경우</a:t>
                </a:r>
                <a:endParaRPr lang="en-US" altLang="ko-KR" sz="1200" b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85" name="그림 84">
                <a:extLst>
                  <a:ext uri="{FF2B5EF4-FFF2-40B4-BE49-F238E27FC236}">
                    <a16:creationId xmlns:a16="http://schemas.microsoft.com/office/drawing/2014/main" id="{25BB9ADD-9F48-4B71-83D8-84E851BCA8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1002" y="2491161"/>
                <a:ext cx="2758127" cy="752216"/>
              </a:xfrm>
              <a:prstGeom prst="rect">
                <a:avLst/>
              </a:prstGeom>
            </p:spPr>
          </p:pic>
          <p:pic>
            <p:nvPicPr>
              <p:cNvPr id="87" name="그림 86">
                <a:extLst>
                  <a:ext uri="{FF2B5EF4-FFF2-40B4-BE49-F238E27FC236}">
                    <a16:creationId xmlns:a16="http://schemas.microsoft.com/office/drawing/2014/main" id="{0A1353C5-E8E1-4783-B0B1-E13781E57E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1002" y="3284984"/>
                <a:ext cx="4748124" cy="742505"/>
              </a:xfrm>
              <a:prstGeom prst="rect">
                <a:avLst/>
              </a:prstGeom>
            </p:spPr>
          </p:pic>
          <p:pic>
            <p:nvPicPr>
              <p:cNvPr id="90" name="그림 89">
                <a:extLst>
                  <a:ext uri="{FF2B5EF4-FFF2-40B4-BE49-F238E27FC236}">
                    <a16:creationId xmlns:a16="http://schemas.microsoft.com/office/drawing/2014/main" id="{6C2F3FDB-C08F-41CC-9146-238F4FA70F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1002" y="4091851"/>
                <a:ext cx="2354802" cy="742505"/>
              </a:xfrm>
              <a:prstGeom prst="rect">
                <a:avLst/>
              </a:prstGeom>
            </p:spPr>
          </p:pic>
          <p:pic>
            <p:nvPicPr>
              <p:cNvPr id="93" name="그림 92">
                <a:extLst>
                  <a:ext uri="{FF2B5EF4-FFF2-40B4-BE49-F238E27FC236}">
                    <a16:creationId xmlns:a16="http://schemas.microsoft.com/office/drawing/2014/main" id="{871629CB-DF48-4027-B7E7-62BA67B524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19129" y="4292838"/>
                <a:ext cx="1430507" cy="348458"/>
              </a:xfrm>
              <a:prstGeom prst="rect">
                <a:avLst/>
              </a:prstGeom>
            </p:spPr>
          </p:pic>
          <p:sp>
            <p:nvSpPr>
              <p:cNvPr id="94" name="사각형: 둥근 모서리 93">
                <a:extLst>
                  <a:ext uri="{FF2B5EF4-FFF2-40B4-BE49-F238E27FC236}">
                    <a16:creationId xmlns:a16="http://schemas.microsoft.com/office/drawing/2014/main" id="{6BCBD37B-89CD-48B9-9834-E673FCEBBD5E}"/>
                  </a:ext>
                </a:extLst>
              </p:cNvPr>
              <p:cNvSpPr/>
              <p:nvPr/>
            </p:nvSpPr>
            <p:spPr>
              <a:xfrm>
                <a:off x="2571731" y="4119710"/>
                <a:ext cx="726984" cy="694715"/>
              </a:xfrm>
              <a:prstGeom prst="roundRect">
                <a:avLst/>
              </a:prstGeom>
              <a:noFill/>
              <a:ln w="19050"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Abadi" panose="020B0604020104020204" pitchFamily="34" charset="0"/>
                </a:endParaRPr>
              </a:p>
            </p:txBody>
          </p:sp>
          <p:cxnSp>
            <p:nvCxnSpPr>
              <p:cNvPr id="96" name="직선 화살표 연결선 95">
                <a:extLst>
                  <a:ext uri="{FF2B5EF4-FFF2-40B4-BE49-F238E27FC236}">
                    <a16:creationId xmlns:a16="http://schemas.microsoft.com/office/drawing/2014/main" id="{DE25BC2E-57E8-48BC-A9CB-C6BBF64EC36A}"/>
                  </a:ext>
                </a:extLst>
              </p:cNvPr>
              <p:cNvCxnSpPr/>
              <p:nvPr/>
            </p:nvCxnSpPr>
            <p:spPr>
              <a:xfrm>
                <a:off x="3294322" y="4458874"/>
                <a:ext cx="36698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연결선: 꺾임 102">
                <a:extLst>
                  <a:ext uri="{FF2B5EF4-FFF2-40B4-BE49-F238E27FC236}">
                    <a16:creationId xmlns:a16="http://schemas.microsoft.com/office/drawing/2014/main" id="{C388F81C-EE72-4409-B2C8-8FB7B968C6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9388" y="1630658"/>
                <a:ext cx="251661" cy="262251"/>
              </a:xfrm>
              <a:prstGeom prst="bentConnector3">
                <a:avLst>
                  <a:gd name="adj1" fmla="val -1169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48C89EB-1442-403A-99BD-F7B4707FF296}"/>
                </a:ext>
              </a:extLst>
            </p:cNvPr>
            <p:cNvSpPr/>
            <p:nvPr/>
          </p:nvSpPr>
          <p:spPr>
            <a:xfrm>
              <a:off x="1719848" y="4971123"/>
              <a:ext cx="280824" cy="332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A2D478B-665C-470D-B98B-C35A7F596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780258" y="5013176"/>
              <a:ext cx="220414" cy="2125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98154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BEB8ABC-95AF-4353-A0AD-0FF48AFBDC8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B13819-B594-49DA-A814-E05B1D2217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618830" cy="498598"/>
          </a:xfrm>
        </p:spPr>
        <p:txBody>
          <a:bodyPr/>
          <a:lstStyle/>
          <a:p>
            <a:r>
              <a:rPr lang="en-US" altLang="ko-KR" sz="36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Markov chain model </a:t>
            </a:r>
            <a:r>
              <a:rPr lang="en-US" altLang="ko-KR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of IEEE 802.15.4 </a:t>
            </a:r>
            <a:endParaRPr lang="ko-KR" altLang="en-US" sz="3600" dirty="0"/>
          </a:p>
        </p:txBody>
      </p:sp>
      <p:sp>
        <p:nvSpPr>
          <p:cNvPr id="15" name="내용 개체 틀 14">
            <a:extLst>
              <a:ext uri="{FF2B5EF4-FFF2-40B4-BE49-F238E27FC236}">
                <a16:creationId xmlns:a16="http://schemas.microsoft.com/office/drawing/2014/main" id="{A730030E-E6CC-435D-8C39-839C1C411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99" y="836712"/>
            <a:ext cx="9301505" cy="532859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transition probabilities:</a:t>
            </a:r>
          </a:p>
          <a:p>
            <a:pPr lvl="1">
              <a:lnSpc>
                <a:spcPct val="150000"/>
              </a:lnSpc>
            </a:pPr>
            <a:r>
              <a:rPr lang="ko-KR" altLang="en-US" sz="1800" dirty="0">
                <a:latin typeface="Cambria Math" panose="02040503050406030204" pitchFamily="18" charset="0"/>
              </a:rPr>
              <a:t>     </a:t>
            </a:r>
            <a:r>
              <a:rPr lang="en-US" altLang="ko-K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r>
              <a:rPr lang="ko-KR" altLang="en-US" sz="1600" dirty="0">
                <a:latin typeface="Cambria Math" panose="02040503050406030204" pitchFamily="18" charset="0"/>
              </a:rPr>
              <a:t>임의의 노드가 임의의 시간에서 전송할 확률</a:t>
            </a:r>
            <a:endParaRPr lang="en-US" altLang="ko-KR" sz="1600" dirty="0">
              <a:latin typeface="Cambria Math" panose="020405030504060302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ko-KR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Cambria Math" panose="02040503050406030204" pitchFamily="18" charset="0"/>
              </a:rPr>
              <a:t>                          </a:t>
            </a:r>
            <a:r>
              <a:rPr lang="en-US" altLang="ko-KR" sz="1600" dirty="0">
                <a:latin typeface="Cambria Math" panose="02040503050406030204" pitchFamily="18" charset="0"/>
              </a:rPr>
              <a:t>: </a:t>
            </a:r>
            <a:r>
              <a:rPr lang="ko-KR" altLang="en-US" sz="1600" dirty="0">
                <a:latin typeface="Cambria Math" panose="02040503050406030204" pitchFamily="18" charset="0"/>
              </a:rPr>
              <a:t> 모든 </a:t>
            </a:r>
            <a:r>
              <a:rPr lang="en-US" altLang="ko-KR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ko-KR" altLang="en-US" sz="1600" dirty="0">
                <a:latin typeface="Cambria Math" panose="02040503050406030204" pitchFamily="18" charset="0"/>
              </a:rPr>
              <a:t>개의 </a:t>
            </a:r>
            <a:r>
              <a:rPr lang="en-US" altLang="ko-KR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device</a:t>
            </a:r>
            <a:r>
              <a:rPr lang="ko-KR" altLang="en-US" sz="1600" dirty="0">
                <a:latin typeface="Cambria Math" panose="02040503050406030204" pitchFamily="18" charset="0"/>
              </a:rPr>
              <a:t>가 </a:t>
            </a:r>
            <a:r>
              <a:rPr lang="en-US" altLang="ko-KR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backoff states</a:t>
            </a:r>
            <a:r>
              <a:rPr lang="ko-KR" altLang="en-US" sz="1600" dirty="0">
                <a:latin typeface="Cambria Math" panose="02040503050406030204" pitchFamily="18" charset="0"/>
              </a:rPr>
              <a:t>에 있을 때</a:t>
            </a:r>
            <a:r>
              <a:rPr lang="en-US" altLang="ko-KR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ko-KR" altLang="en-US" sz="1600" dirty="0">
                <a:latin typeface="Cambria Math" panose="02040503050406030204" pitchFamily="18" charset="0"/>
              </a:rPr>
              <a:t>주어진 </a:t>
            </a:r>
            <a:r>
              <a:rPr lang="en-US" altLang="ko-KR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device</a:t>
            </a:r>
            <a:r>
              <a:rPr lang="ko-KR" altLang="en-US" sz="1600" dirty="0">
                <a:latin typeface="Cambria Math" panose="02040503050406030204" pitchFamily="18" charset="0"/>
              </a:rPr>
              <a:t>가 </a:t>
            </a:r>
            <a:r>
              <a:rPr lang="en-US" altLang="ko-KR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ko-KR" altLang="en-US" sz="1600" dirty="0">
                <a:latin typeface="Cambria Math" panose="02040503050406030204" pitchFamily="18" charset="0"/>
              </a:rPr>
              <a:t>번의 </a:t>
            </a:r>
            <a:r>
              <a:rPr lang="en-US" altLang="ko-KR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CCA</a:t>
            </a:r>
            <a:r>
              <a:rPr lang="ko-KR" altLang="en-US" sz="1600" dirty="0">
                <a:latin typeface="Cambria Math" panose="02040503050406030204" pitchFamily="18" charset="0"/>
              </a:rPr>
              <a:t> 수행 후 패킷을 성공적으로 전송하는 확률 </a:t>
            </a:r>
            <a:endParaRPr lang="en-US" altLang="ko-KR" sz="1600" dirty="0">
              <a:latin typeface="Cambria Math" panose="020405030504060302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ko-KR" sz="1600" dirty="0">
              <a:latin typeface="Cambria Math" panose="020405030504060302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Cambria Math" panose="020405030504060302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A7681372-17DA-4138-A5A1-ECB62FADF07D}"/>
                  </a:ext>
                </a:extLst>
              </p:cNvPr>
              <p:cNvSpPr/>
              <p:nvPr/>
            </p:nvSpPr>
            <p:spPr>
              <a:xfrm>
                <a:off x="740137" y="1551808"/>
                <a:ext cx="44916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800" b="0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A7681372-17DA-4138-A5A1-ECB62FADF0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37" y="1551808"/>
                <a:ext cx="44916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B847D6B6-83EF-44C0-8C2A-0DB5998CEA2D}"/>
                  </a:ext>
                </a:extLst>
              </p:cNvPr>
              <p:cNvSpPr/>
              <p:nvPr/>
            </p:nvSpPr>
            <p:spPr>
              <a:xfrm>
                <a:off x="740137" y="2492896"/>
                <a:ext cx="1301125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ko-KR" alt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ko-KR" alt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ko-KR" altLang="en-US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ko-KR" altLang="en-US" b="1" i="1">
                                  <a:latin typeface="Cambria Math" panose="02040503050406030204" pitchFamily="18" charset="0"/>
                                </a:rPr>
                                <m:t>𝝉</m:t>
                              </m:r>
                            </m:e>
                          </m:d>
                        </m:e>
                        <m:sup>
                          <m:r>
                            <a:rPr lang="ko-KR" altLang="en-US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ko-KR" altLang="en-US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ko-KR" altLang="en-US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B847D6B6-83EF-44C0-8C2A-0DB5998CEA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37" y="2492896"/>
                <a:ext cx="1301125" cy="3755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>
            <a:extLst>
              <a:ext uri="{FF2B5EF4-FFF2-40B4-BE49-F238E27FC236}">
                <a16:creationId xmlns:a16="http://schemas.microsoft.com/office/drawing/2014/main" id="{90079D2D-18AE-4304-AB5F-5056298AF1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107" y="3573016"/>
            <a:ext cx="2448272" cy="6378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5CCF63BC-069E-4532-BFA0-F73DEF1F4268}"/>
                  </a:ext>
                </a:extLst>
              </p:cNvPr>
              <p:cNvSpPr/>
              <p:nvPr/>
            </p:nvSpPr>
            <p:spPr>
              <a:xfrm>
                <a:off x="964718" y="4243309"/>
                <a:ext cx="8588068" cy="3876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ko-KR" altLang="en-US" sz="17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700" b="0" i="1" smtClean="0"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r>
                                <a:rPr lang="ko-KR" altLang="en-US" sz="17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ko-KR" altLang="en-US" sz="1700" i="0">
                                  <a:latin typeface="Cambria Math" panose="02040503050406030204" pitchFamily="18" charset="0"/>
                                </a:rPr>
                                <m:t>0,0</m:t>
                              </m:r>
                            </m:sub>
                          </m:sSub>
                          <m:r>
                            <a:rPr lang="ko-KR" altLang="en-US" sz="1700" i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ko-KR" altLang="en-US" sz="17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ko-KR" altLang="en-US" sz="1700" i="0">
                              <a:latin typeface="Cambria Math" panose="02040503050406030204" pitchFamily="18" charset="0"/>
                            </a:rPr>
                            <m:t>)(1−</m:t>
                          </m:r>
                          <m:r>
                            <a:rPr lang="ko-KR" altLang="en-US" sz="1700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ko-KR" altLang="en-US" sz="1700" i="0">
                              <a:latin typeface="Cambria Math" panose="02040503050406030204" pitchFamily="18" charset="0"/>
                            </a:rPr>
                            <m:t>)+</m:t>
                          </m:r>
                          <m:sSub>
                            <m:sSubPr>
                              <m:ctrlPr>
                                <a:rPr lang="ko-KR" altLang="en-US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7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ko-KR" altLang="en-US" sz="1700" i="0">
                                  <a:latin typeface="Cambria Math" panose="02040503050406030204" pitchFamily="18" charset="0"/>
                                </a:rPr>
                                <m:t>1,0</m:t>
                              </m:r>
                            </m:sub>
                          </m:sSub>
                          <m:r>
                            <a:rPr lang="ko-KR" altLang="en-US" sz="1700" i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ko-KR" altLang="en-US" sz="17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ko-KR" altLang="en-US" sz="1700" i="0">
                              <a:latin typeface="Cambria Math" panose="02040503050406030204" pitchFamily="18" charset="0"/>
                            </a:rPr>
                            <m:t>)(1−</m:t>
                          </m:r>
                          <m:r>
                            <a:rPr lang="ko-KR" altLang="en-US" sz="1700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ko-KR" altLang="en-US" sz="1700" i="0">
                              <a:latin typeface="Cambria Math" panose="02040503050406030204" pitchFamily="18" charset="0"/>
                            </a:rPr>
                            <m:t>)+</m:t>
                          </m:r>
                          <m:sSub>
                            <m:sSubPr>
                              <m:ctrlPr>
                                <a:rPr lang="ko-KR" altLang="en-US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7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ko-KR" altLang="en-US" sz="1700" i="0">
                                  <a:latin typeface="Cambria Math" panose="02040503050406030204" pitchFamily="18" charset="0"/>
                                </a:rPr>
                                <m:t>2,0</m:t>
                              </m:r>
                            </m:sub>
                          </m:sSub>
                          <m:r>
                            <a:rPr lang="ko-KR" altLang="en-US" sz="1700" i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ko-KR" altLang="en-US" sz="17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ko-KR" altLang="en-US" sz="1700" i="0">
                              <a:latin typeface="Cambria Math" panose="02040503050406030204" pitchFamily="18" charset="0"/>
                            </a:rPr>
                            <m:t>)(1−</m:t>
                          </m:r>
                          <m:r>
                            <a:rPr lang="ko-KR" altLang="en-US" sz="1700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ko-KR" altLang="en-US" sz="1700" i="0">
                              <a:latin typeface="Cambria Math" panose="02040503050406030204" pitchFamily="18" charset="0"/>
                            </a:rPr>
                            <m:t>)+...+</m:t>
                          </m:r>
                          <m:sSub>
                            <m:sSubPr>
                              <m:ctrlPr>
                                <a:rPr lang="ko-KR" altLang="en-US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7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ko-KR" altLang="en-US" sz="17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ko-KR" altLang="en-US" sz="1700" i="0">
                                  <a:latin typeface="Cambria Math" panose="02040503050406030204" pitchFamily="18" charset="0"/>
                                </a:rPr>
                                <m:t>,0</m:t>
                              </m:r>
                            </m:sub>
                          </m:sSub>
                          <m:r>
                            <a:rPr lang="ko-KR" altLang="en-US" sz="1700" i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ko-KR" altLang="en-US" sz="17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ko-KR" altLang="en-US" sz="1700" i="0">
                              <a:latin typeface="Cambria Math" panose="02040503050406030204" pitchFamily="18" charset="0"/>
                            </a:rPr>
                            <m:t>)(1−</m:t>
                          </m:r>
                          <m:r>
                            <a:rPr lang="ko-KR" altLang="en-US" sz="17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m:oMathPara>
                </a14:m>
                <a:endParaRPr lang="ko-KR" altLang="en-US" sz="1700" dirty="0"/>
              </a:p>
            </p:txBody>
          </p:sp>
        </mc:Choice>
        <mc:Fallback xmlns="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5CCF63BC-069E-4532-BFA0-F73DEF1F42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718" y="4243309"/>
                <a:ext cx="8588068" cy="387607"/>
              </a:xfrm>
              <a:prstGeom prst="rect">
                <a:avLst/>
              </a:prstGeom>
              <a:blipFill>
                <a:blip r:embed="rId5"/>
                <a:stretch>
                  <a:fillRect t="-143750" r="-6317" b="-2171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41B9007-47A1-416D-9EF8-E34CF43EA6CD}"/>
              </a:ext>
            </a:extLst>
          </p:cNvPr>
          <p:cNvSpPr/>
          <p:nvPr/>
        </p:nvSpPr>
        <p:spPr>
          <a:xfrm>
            <a:off x="1560235" y="2528431"/>
            <a:ext cx="372216" cy="171232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060BFCF9-509A-4E82-9C98-BA30B9E09741}"/>
              </a:ext>
            </a:extLst>
          </p:cNvPr>
          <p:cNvCxnSpPr>
            <a:cxnSpLocks/>
          </p:cNvCxnSpPr>
          <p:nvPr/>
        </p:nvCxnSpPr>
        <p:spPr>
          <a:xfrm flipV="1">
            <a:off x="1740643" y="2294400"/>
            <a:ext cx="396999" cy="203234"/>
          </a:xfrm>
          <a:prstGeom prst="bentConnector3">
            <a:avLst>
              <a:gd name="adj1" fmla="val -35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AF6CB77-0BD8-4FFD-9D78-C9A9EAC7E9A2}"/>
              </a:ext>
            </a:extLst>
          </p:cNvPr>
          <p:cNvSpPr txBox="1"/>
          <p:nvPr/>
        </p:nvSpPr>
        <p:spPr>
          <a:xfrm>
            <a:off x="2072680" y="2143889"/>
            <a:ext cx="2664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n-1</a:t>
            </a:r>
            <a:r>
              <a:rPr lang="ko-KR" altLang="en-US" sz="1200" dirty="0">
                <a:latin typeface="Cambria Math" panose="02040503050406030204" pitchFamily="18" charset="0"/>
              </a:rPr>
              <a:t>개의 </a:t>
            </a:r>
            <a:r>
              <a:rPr lang="en-US" altLang="ko-KR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device</a:t>
            </a:r>
            <a:r>
              <a:rPr lang="ko-KR" altLang="en-US" sz="1200" dirty="0">
                <a:latin typeface="Cambria Math" panose="02040503050406030204" pitchFamily="18" charset="0"/>
              </a:rPr>
              <a:t>가 전송하지 않을 확률</a:t>
            </a:r>
          </a:p>
        </p:txBody>
      </p:sp>
    </p:spTree>
    <p:extLst>
      <p:ext uri="{BB962C8B-B14F-4D97-AF65-F5344CB8AC3E}">
        <p14:creationId xmlns:p14="http://schemas.microsoft.com/office/powerpoint/2010/main" val="2105567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4AB6FB1-07BD-4C91-BADC-BD1A3A6899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solidFill>
                    <a:prstClr val="white">
                      <a:lumMod val="65000"/>
                      <a:alpha val="50000"/>
                    </a:prstClr>
                  </a:solidFill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맑은 고딕" pitchFamily="50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solidFill>
                  <a:prstClr val="white">
                    <a:lumMod val="65000"/>
                    <a:alpha val="50000"/>
                  </a:prstClr>
                </a:solidFill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맑은 고딕" pitchFamily="50" charset="-127"/>
              <a:cs typeface="+mn-cs"/>
            </a:endParaRPr>
          </a:p>
        </p:txBody>
      </p:sp>
      <p:sp>
        <p:nvSpPr>
          <p:cNvPr id="21" name="내용 개체 틀 6">
            <a:extLst>
              <a:ext uri="{FF2B5EF4-FFF2-40B4-BE49-F238E27FC236}">
                <a16:creationId xmlns:a16="http://schemas.microsoft.com/office/drawing/2014/main" id="{B42B2885-7CF8-4B4B-B3B1-246F7CE320B9}"/>
              </a:ext>
            </a:extLst>
          </p:cNvPr>
          <p:cNvSpPr txBox="1">
            <a:spLocks/>
          </p:cNvSpPr>
          <p:nvPr/>
        </p:nvSpPr>
        <p:spPr>
          <a:xfrm>
            <a:off x="152400" y="784945"/>
            <a:ext cx="9601200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700" indent="-2667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IEEE 802.11</a:t>
            </a:r>
          </a:p>
          <a:p>
            <a:pPr marL="70485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2000" b="1" dirty="0"/>
              <a:t>시뮬레이션 코드 분석</a:t>
            </a:r>
            <a:endParaRPr lang="en-US" altLang="ko-KR" sz="2000" b="1" dirty="0"/>
          </a:p>
          <a:p>
            <a:pPr lvl="1">
              <a:lnSpc>
                <a:spcPct val="150000"/>
              </a:lnSpc>
            </a:pPr>
            <a:endParaRPr lang="en-US" altLang="ko-KR" sz="1100" dirty="0"/>
          </a:p>
        </p:txBody>
      </p:sp>
      <p:sp>
        <p:nvSpPr>
          <p:cNvPr id="13" name="텍스트 개체 틀 3">
            <a:extLst>
              <a:ext uri="{FF2B5EF4-FFF2-40B4-BE49-F238E27FC236}">
                <a16:creationId xmlns:a16="http://schemas.microsoft.com/office/drawing/2014/main" id="{3FB29778-1D36-4CCD-86A8-920A76E041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" y="-96537"/>
            <a:ext cx="6538913" cy="72750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3600" dirty="0"/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2789463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0" y="6519863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324D6D"/>
          </a:solidFill>
        </a:ln>
      </a:spPr>
      <a:bodyPr rtlCol="0" anchor="ctr"/>
      <a:lstStyle>
        <a:defPPr algn="ctr">
          <a:defRPr dirty="0" smtClean="0">
            <a:solidFill>
              <a:schemeClr val="tx1"/>
            </a:solidFill>
            <a:latin typeface="Abadi" panose="020B0604020104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>
            <a:latin typeface="Abadi" panose="020B06040201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56738</TotalTime>
  <Words>1002</Words>
  <Application>Microsoft Office PowerPoint</Application>
  <PresentationFormat>A4 용지(210x297mm)</PresentationFormat>
  <Paragraphs>193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6" baseType="lpstr">
      <vt:lpstr>나눔바른펜</vt:lpstr>
      <vt:lpstr>나눔스퀘어_ac</vt:lpstr>
      <vt:lpstr>맑은 고딕</vt:lpstr>
      <vt:lpstr>함초롬돋움</vt:lpstr>
      <vt:lpstr>Abadi</vt:lpstr>
      <vt:lpstr>Arial</vt:lpstr>
      <vt:lpstr>Calibri</vt:lpstr>
      <vt:lpstr>Cambria Math</vt:lpstr>
      <vt:lpstr>Garamond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www.pello.co.kr</dc:creator>
  <cp:lastModifiedBy>GoGo</cp:lastModifiedBy>
  <cp:revision>2761</cp:revision>
  <cp:lastPrinted>2019-03-13T09:36:46Z</cp:lastPrinted>
  <dcterms:created xsi:type="dcterms:W3CDTF">2014-05-15T02:02:05Z</dcterms:created>
  <dcterms:modified xsi:type="dcterms:W3CDTF">2020-02-06T01:42:44Z</dcterms:modified>
</cp:coreProperties>
</file>